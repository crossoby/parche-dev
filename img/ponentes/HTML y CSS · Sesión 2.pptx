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Space Grotesk" pitchFamily="34" charset="0"/>
      <p:regular r:id="rId42"/>
      <p:bold r:id="rId43"/>
    </p:embeddedFont>
    <p:embeddedFont>
      <p:font typeface="JetBrains Mono" panose="02000009000000000000" pitchFamily="49" charset="0"/>
      <p:regular r:id="rId44"/>
      <p:bold r:id="rId4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openxmlformats.org/officeDocument/2006/relationships/font" Target="fonts/font1.fntdata"/><Relationship Id="rId43" Type="http://schemas.openxmlformats.org/officeDocument/2006/relationships/font" Target="fonts/font2.fntdata"/><Relationship Id="rId44" Type="http://schemas.openxmlformats.org/officeDocument/2006/relationships/font" Target="fonts/font3.fntdata"/><Relationship Id="rId45"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Hoy pasamos de “saber etiquetas” a construir páginas que entienden las personas y las máquinas: navegadores, buscadores y lectores de pantalla. Al final de la jornada cada coder arranca su proyecto modular con una estructura semántica publicada en GitHub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el objetivo en voz alta. Recuerda que ya manejan las etiquetas principales: hoy el foco es decidir bien la estructura, probar con las herramientas que usa un equipo real y arrancar el proyecto modular. La ruta avanza al ritmo del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(código en la guía del TL): abre las dos versiones de la Panadería La Espiga. Primero pregunta cuál es mejor solo mirándolas; son idénticas píxel por píxel. Luego: 1) recorre ambas con Tab: en la versión A el botón “Hacer pedido” no recibe el foco; 2) abre un lector de pantalla y navega por encabezados (tecla H en NVDA): la versión A no tiene ninguno; 3) muestra el árbol de accesibilidad en DevTools. La A está hecha con div; la B, con etiquetas semánticas.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Revela el truco de la demo: las dos versiones comparten los mismos estilos, por eso se ven iguales. La diferencia está en las etiquetas. Aclara que class es solo un nombre que usa CSS (lo verán en la sesión 3): llamar a un div “boton” no lo convierte en botón. En verde, lo que cambió.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Resultados reales de la demo (medidos en la preparación). La versión A saca 95 en Lighthouse: solo le marca que no tiene main. Aun así, un lector de pantalla no encuentra ni un encabezado y con Tab no se llega al botón, porque un div no recibe el foco. Mensaje: las herramientas automáticas encuentran una parte de los problemas; el resto lo detecta una persona que prueba con teclado y lector de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etiqueta de landmark tiene un rol implícito que el navegador le comunica al lector de pantalla: header es banner, nav es navigation, main es main, aside es complementary y footer es contentinfo. Ojo: header y footer solo son banner y contentinfo cuando son de la página; dentro de un article o una section son el encabezado o el pie de ese bloque. Una section solo se vuelve landmark (region) si tiene nombre accesible, por ejemplo con aria-labelledby apuntando a su h2.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 cada razón con el mundo laboral: accesibilidad es requisito legal en sitios públicos (lo verán más adelante), los buscadores definen cuánta gente llega a un negocio, y el código lo mantiene un equipo. Pregunta: ¿quién ha tenido que leer código de otra persona lleno de div?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 las preguntas en orden: la primera que responda “sí” decide la etiqueta. La prueba del article: si lo copias en otro sitio, ¿se entiende solo? Una noticia sí; “Nuestros servicios” no, por eso es section. div no es malo: es la caja neutra para cuando ninguna etiqueta describe el contenido, normalmente para estilos.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rápido: no hace falta memorizarlas, sí saber que existen para buscarlas en MDN cuando las necesiten. Ejemplos en voz alta: figure con figcaption para la foto de una noticia; q para la frase de una entrevista; time para la fecha de publicación; abbr para siglas como CSS. Matiz frecuente: cite no es para el autor de una cita.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Respuestas: A article (se entiende sola, incluso fuera del portal) · B nav · C aside (relacionado, pero secundario) · D figure con figcaption · E section (agrupa un tema con su encabezado) · F div (no describe contenido, solo sirve para estilos). Pide que justifiquen con las preguntas de la diapositiva anterior. Después de este checkpoint va el ejercicio 1: refactorizar La Esquina.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cifra es de la OMS: 1.300 millones de personas, una de cada seis, viven con una discapacidad importante. Amplía la idea: la accesibilidad también ayuda en situaciones temporales (una lesión) o del entorno (sol, ruido, conexión lenta, celular viejo). Pregunta: ¿quién ha intentado leer el celular a pleno sol? Eso es un problema de contraste.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del informe WebAIM Million 2026, que analiza cada año el millón de páginas de inicio más visitadas: 95,9 % tienen errores detectables, con un promedio de 56,1 errores por página. Lo importante: los seis errores más comunes se arreglan con HTML de esta sesión (contraste, alt, label, nombre de enlaces y botones, lang). Ese es el foco de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Resolución 1519 de 2020 del MinTIC obliga a los sujetos de la Ley 1712 de 2014 (transparencia) a cumplir las pautas WCAG 2.1 en nivel AA en sus portales desde el 1 de enero de 2022. WCAG son las pautas internacionales de accesibilidad del W3C. Tienen tres niveles: A (mínimo), AA (la meta habitual) y AAA (el más exigente). La versión vigente es WCAG 2.2, de 2023, que agrega criterios a la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WCAG (Web Content Accessibility Guidelines) son las pautas del W3C. Se organizan en cuatro principios, conocidos en inglés como POUR. Cada principio tiene criterios con nivel A, AA o AAA; los proyectos y la ley colombiana apuntan a AA. Pide un ejemplo de cada principio en un sitio que usen a diario.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que decide el alt: si la imagen no cargara, ¿qué necesitaría saber la persona? Si nada, es decorativa y va con alt vacío (nunca sin el atributo). Si la imagen es el único contenido de un enlace o botón, el alt es el nombre de ese enlace o botón. Para gráficos, el alt resume y los datos van en el texto o en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contraste se calcula con la luminancia de los dos colores y va de 1:1 (igual) a 21:1 (negro sobre blanco). No se redondea: 4,49:1 no pasa. Demo: en DevTools, inspecciona un texto, haz clic en el cuadrito de color de la propiedad color y verás la relación de contraste con marcas de AA y AAA. El contraste bajo es el error número uno de la web: está en el 83,9 % de las páginas.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Pide a todos que pongan el mouse a un lado y recorran la página de la Panadería (versión A y versión B) solo con el teclado. Que noten tres cosas: dónde está el foco, en qué orden avanza y qué elementos se saltan. Los enlaces, botones y campos de formulario reciben foco por defecto; un div no, aunque se vea como botón.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corta con el Narrador o NVDA sobre las dos versiones de la Panadería. La mayoría de quienes usan lector de pantalla no escuchan la página de arriba abajo: saltan de encabezado en encabezado o de landmark en landmark. En la versión A, H no encuentra nada. La tecla del Narrador es Bloq Mayús o Insert. Pide que traigan audífonos para el ejercicio en parejas.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Resultados reales del árbol de accesibilidad de Chrome. El lector de pantalla anuncia el rol y el nombre: “botón, Enviar”. El div no es nada para el lector. El enlace con imagen sin alt se anuncia como “enlace” a secas. El placeholder sí da un nombre, por eso Lighthouse no se queja, pero desaparece cuando la persona escribe y no reemplaza a un label visible. En DevTools también puedes activar el árbol completo de la página (Enable full-page accessibility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ARIA son atributos que cambian lo que el navegador le cuenta al lector de pantalla. No agregan comportamiento: un div con role="button" sigue sin funcionar con teclado. Por eso la primera regla es preferir el HTML nativo. El dato de WebAIM no prueba que ARIA cause errores, pero muestra que se usa mal con frecuencia. Estos cuatro atributos son los únicos que necesitarán en el módulo.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Respuestas posibles: A alt="Inicio de [nombre de la tienda]": es funcional, describe el destino del enlace. B describe lo que se ve: alt="Tenis negros de lona con suela blanca". C alt="": es decorativa. D alt="Buscar" en la imagen, o aria-label="Buscar" en el botón: el nombre es la acción. E alt corto, como alt="Ventas de 2026 por mes", y los datos completos en el texto o en una tabla. Si alguien propone alt="logo" para la A, pregunta: ¿qué necesita saber quien no ve la imagen?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dinámica es el ejercicio 4. Antes de empezar, verifica que cada pareja tenga lector de pantalla funcionando y audífonos. La regla clave: quien observa no ayuda, solo anota. Al cierre, pide a dos o tres parejas que cuenten la barrera que más les costó. Si no hay audífonos, una pareja por turno usa el lector en voz baja.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 conocen la anatomía del formulario (form, label con for e id, name, button). Aquí el foco es la experiencia en el celular: el type cambia el teclado y agrega validación. Si tienen el sitio publicado, que lo abran en su propio celular para verlo. Pro: inputmode cambia el teclado sin cambiar la validación, útil por ejemplo para un código numérico que no es un número.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radios de un mismo grupo comparten name y cambian de value: así el navegador sabe que solo se elige uno. Con más de cinco opciones, un select ahorra espacio. datalist da sugerencias en un input sin obligar a elegir una (por ejemplo, ciudades). Todo grupo de radios o checkboxes va dentro de un fieldset con su legend.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en un campo de hora va en segundos: step="1800" son 30 minutos. pattern siempre va con un title que explique el formato, porque el navegador lo muestra en el mensaje de error. minlength solo se revisa cuando la persona escribe en el campo. Los mensajes de error los pone el navegador en el idioma de la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Campos sin label están en el 51 % de las páginas del informe WebAIM. Con aria-describedby, el lector de pantalla lee la ayuda justo después del nombre del campo: “Celular, obligatorio, 10 dígitos, sin espacios”. autocomplete usa valores estándar como name, email y tel; acelera el llenado en el celular y ayuda a personas con dificultades motrices o de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 con la sesión 1: con GET ven los datos en la URL. En el proyecto modular no hay servidor, así que el formulario enviará por GET a una página de confirmación. Cuando lleguen al backend recibirán POST en el servidor y validarán de nuevo. Mensaje de seguridad: nunca confíes en lo que llega del navegador. La Ley 1581 de 2012 regula la protección de datos personales en Colombia.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Respuestas: A input type="date" con min="2026-12-01" y max="2026-12-31" · B type="number" con min="1", max="6" y step="1" · C radios con el mismo name (tres opciones) · D select o, mejor para escribir y filtrar, un input con datalist · E checkboxes dentro de un fieldset · F textarea con maxlength="500". Pregunta extra: ¿cuál es obligatorio y cómo lo indicarías?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dinámica es el ejercicio 5. La idea es pensar como QA: un buen caso de prueba dice el dato exacto, para que cualquiera lo pueda repetir. Si encuentran un caso que el formulario deja pasar y no debería, es un hallazgo: se lo devuelven a su pareja para que lo corrija. Al cierre, pide el caso más ingenioso del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el proyecto con el documento del proyecto modular abierto (encargo, reglas, hitos y rúbrica). Reglas clave: negocio ficticio o real con autorización del dueño; nombres de negocio que no se repitan en el grupo; textos propios e imágenes con licencia libre; pie de página con la nota “Proyecto académico”. Da unos minutos para que cada coder elija su negocio antes del 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hito coincide con la evidencia de una sesión del microplanning, así que el proyecto avanza un poco en cada clase. En las sesiones 5 a 8 prueban los dos frameworks sobre su propio sitio; la recomendación es hacerlo en ramas (por ejemplo bootstrap y tailwind) y en la sesión 8 llevar a main el que elijan, con su justificación por escrito.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la rúbrica completa en el documento del proyecto modular. Los pesos son una propuesta: ajústalos si RIWI usa otro esquema de evaluación. Resalta que el 40 % de la nota (semántica, accesibilidad y formulario) se construye desde hoy, antes del primer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trabaja un equipo real: primero se entiende el negocio y el contenido, después se programa. El boceto en papel evita reescribir HTML: obliga a decidir qué es cada bloque antes de escribir la primera etiqueta. Si alguien no sabe qué negocio elegir, el documento del proyecto modular trae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entregable de la sesión y el primer hito del proyecto modular. El detalle está en la guía de ejercicios (reto de la sesión) y en el documento del proyecto. Recorre los puestos con la lista de revisión de la guía del TL. Recuerda la regla de datos: el repositorio es público, así que nada de teléfonos o direcciones reales si el negocio es ficticio.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Respuestas esperadas del ticket: 1) article si el bloque se entiende solo fuera de la página (noticia, producto); section si agrupa un tema con su encabezado. 2) Por ejemplo: un div usado como botón, un placeholder sin label, un alt descriptivo en una imagen decorativa o un enlace “haz clic aquí”. 3) Porque cualquiera puede saltarse el navegador y enviar datos directo al servidor. Si una respuesta sale floja, úsala como repaso al inicio de la sesión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182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14182B"/>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182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14182B"/>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2.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2.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2B"/>
        </a:solidFill>
      </p:bgPr>
    </p:bg>
    <p:spTree>
      <p:nvGrpSpPr>
        <p:cNvPr id="1" name=""/>
        <p:cNvGrpSpPr/>
        <p:nvPr/>
      </p:nvGrpSpPr>
      <p:grpSpPr>
        <a:xfrm>
          <a:off x="0" y="0"/>
          <a:ext cx="0" cy="0"/>
          <a:chOff x="0" y="0"/>
          <a:chExt cx="0" cy="0"/>
        </a:xfrm>
      </p:grpSpPr>
      <p:sp>
        <p:nvSpPr>
          <p:cNvPr id="2" name="Text 0"/>
          <p:cNvSpPr/>
          <p:nvPr/>
        </p:nvSpPr>
        <p:spPr>
          <a:xfrm>
            <a:off x="5283454" y="2286000"/>
            <a:ext cx="6095746" cy="1549400"/>
          </a:xfrm>
          <a:prstGeom prst="rect">
            <a:avLst/>
          </a:prstGeom>
          <a:noFill/>
          <a:ln/>
        </p:spPr>
        <p:txBody>
          <a:bodyPr wrap="square" lIns="0" tIns="0" rIns="0" bIns="0" rtlCol="0" anchor="t">
            <a:normAutofit/>
          </a:bodyPr>
          <a:lstStyle/>
          <a:p>
            <a:pPr algn="r" indent="0" marL="0">
              <a:lnSpc>
                <a:spcPts val="12000"/>
              </a:lnSpc>
              <a:buNone/>
            </a:pPr>
            <a:r>
              <a:rPr lang="en-US" sz="12000" dirty="0">
                <a:solidFill>
                  <a:srgbClr val="1E2340"/>
                </a:solidFill>
                <a:latin typeface="JetBrains Mono" pitchFamily="49" charset="0"/>
                <a:ea typeface="JetBrains Mono" pitchFamily="49" charset="-122"/>
                <a:cs typeface="JetBrains Mono" pitchFamily="49" charset="-120"/>
              </a:rPr>
              <a:t>&lt;main&gt;</a:t>
            </a:r>
            <a:endParaRPr lang="en-US" sz="12000" dirty="0"/>
          </a:p>
        </p:txBody>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FF8A5C"/>
                </a:solidFill>
                <a:latin typeface="JetBrains Mono" pitchFamily="49" charset="0"/>
                <a:ea typeface="JetBrains Mono" pitchFamily="49" charset="-122"/>
                <a:cs typeface="JetBrains Mono" pitchFamily="49" charset="-120"/>
              </a:rPr>
              <a:t>MÓDULO 1 · HTML Y CSS</a:t>
            </a:r>
            <a:endParaRPr lang="en-US" sz="1400" dirty="0"/>
          </a:p>
        </p:txBody>
      </p:sp>
      <p:sp>
        <p:nvSpPr>
          <p:cNvPr id="4" name="Text 2"/>
          <p:cNvSpPr/>
          <p:nvPr>
            <p:ph type="title"/>
          </p:nvPr>
        </p:nvSpPr>
        <p:spPr>
          <a:xfrm>
            <a:off x="812800" y="1996440"/>
            <a:ext cx="9156700" cy="2425700"/>
          </a:xfrm>
          <a:prstGeom prst="rect">
            <a:avLst/>
          </a:prstGeom>
          <a:noFill/>
          <a:ln/>
        </p:spPr>
        <p:txBody>
          <a:bodyPr wrap="square" lIns="0" tIns="0" rIns="0" bIns="0" rtlCol="0" anchor="t">
            <a:normAutofit/>
          </a:bodyPr>
          <a:lstStyle/>
          <a:p>
            <a:pPr algn="l" indent="0" marL="0">
              <a:lnSpc>
                <a:spcPts val="6300"/>
              </a:lnSpc>
              <a:buNone/>
            </a:pPr>
            <a:r>
              <a:rPr lang="en-US" sz="6000" b="1" i="0" spc="-150" kern="0" dirty="0">
                <a:solidFill>
                  <a:srgbClr val="F7F5EF"/>
                </a:solidFill>
                <a:latin typeface="Space Grotesk" pitchFamily="34" charset="0"/>
                <a:ea typeface="Space Grotesk" pitchFamily="34" charset="-122"/>
                <a:cs typeface="Space Grotesk" pitchFamily="34" charset="-120"/>
              </a:rPr>
              <a:t>HTML semántico, accesibilidad y formularios</a:t>
            </a:r>
            <a:endParaRPr lang="en-US" sz="6000" dirty="0"/>
          </a:p>
        </p:txBody>
      </p:sp>
      <p:sp>
        <p:nvSpPr>
          <p:cNvPr id="5" name="Text 3"/>
          <p:cNvSpPr/>
          <p:nvPr/>
        </p:nvSpPr>
        <p:spPr>
          <a:xfrm>
            <a:off x="812800" y="4599940"/>
            <a:ext cx="10883392"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C9CCD8"/>
                </a:solidFill>
                <a:latin typeface="Space Grotesk" pitchFamily="34" charset="0"/>
                <a:ea typeface="Space Grotesk" pitchFamily="34" charset="-122"/>
                <a:cs typeface="Space Grotesk" pitchFamily="34" charset="-120"/>
              </a:rPr>
              <a:t>Sesión 2 · Cohorte C8 · Ruta Desarrollo de Software</a:t>
            </a:r>
            <a:endParaRPr lang="en-US" sz="1800" dirty="0"/>
          </a:p>
        </p:txBody>
      </p:sp>
      <p:sp>
        <p:nvSpPr>
          <p:cNvPr id="6" name="Text 4"/>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B5"/>
                </a:solidFill>
                <a:latin typeface="JetBrains Mono" pitchFamily="49" charset="0"/>
                <a:ea typeface="JetBrains Mono" pitchFamily="49" charset="-122"/>
                <a:cs typeface="JetBrains Mono" pitchFamily="49" charset="-120"/>
              </a:rPr>
              <a:t>RIWI · Medellín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SESIÓN 2</a:t>
            </a:r>
            <a:endParaRPr lang="en-US" sz="1200" dirty="0"/>
          </a:p>
        </p:txBody>
      </p:sp>
      <p:sp>
        <p:nvSpPr>
          <p:cNvPr id="3" name="Text 1"/>
          <p:cNvSpPr/>
          <p:nvPr>
            <p:ph type="title"/>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Lo que harás hoy</a:t>
            </a:r>
            <a:endParaRPr lang="en-US" sz="3600" dirty="0"/>
          </a:p>
        </p:txBody>
      </p:sp>
      <p:sp>
        <p:nvSpPr>
          <p:cNvPr id="4" name="Shape 2"/>
          <p:cNvSpPr/>
          <p:nvPr/>
        </p:nvSpPr>
        <p:spPr>
          <a:xfrm>
            <a:off x="815975" y="1938655"/>
            <a:ext cx="5175250" cy="2053590"/>
          </a:xfrm>
          <a:prstGeom prst="roundRect">
            <a:avLst>
              <a:gd name="adj" fmla="val 4793"/>
            </a:avLst>
          </a:prstGeom>
          <a:solidFill>
            <a:srgbClr val="FFFDF8"/>
          </a:solidFill>
          <a:ln w="6350">
            <a:solidFill>
              <a:srgbClr val="E4DFD3"/>
            </a:solidFill>
            <a:prstDash val="solid"/>
          </a:ln>
        </p:spPr>
      </p:sp>
      <p:pic>
        <p:nvPicPr>
          <p:cNvPr id="5" name="Image 0" descr="Lightbulb">    </p:cNvPr>
          <p:cNvPicPr>
            <a:picLocks noChangeAspect="1"/>
          </p:cNvPicPr>
          <p:nvPr/>
        </p:nvPicPr>
        <p:blipFill>
          <a:blip r:embed="rId1"/>
          <a:srcRect l="0" r="0" t="0" b="0"/>
          <a:stretch/>
        </p:blipFill>
        <p:spPr>
          <a:xfrm>
            <a:off x="1071880" y="2194560"/>
            <a:ext cx="304800" cy="304800"/>
          </a:xfrm>
          <a:prstGeom prst="rect">
            <a:avLst/>
          </a:prstGeom>
        </p:spPr>
      </p:pic>
      <p:sp>
        <p:nvSpPr>
          <p:cNvPr id="6" name="Text 3"/>
          <p:cNvSpPr/>
          <p:nvPr/>
        </p:nvSpPr>
        <p:spPr>
          <a:xfrm>
            <a:off x="1071880" y="2600960"/>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Objetivo</a:t>
            </a:r>
            <a:endParaRPr lang="en-US" sz="1600" dirty="0"/>
          </a:p>
        </p:txBody>
      </p:sp>
      <p:sp>
        <p:nvSpPr>
          <p:cNvPr id="7" name="Text 4"/>
          <p:cNvSpPr/>
          <p:nvPr/>
        </p:nvSpPr>
        <p:spPr>
          <a:xfrm>
            <a:off x="1071880" y="2946400"/>
            <a:ext cx="480334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3045"/>
                </a:solidFill>
                <a:latin typeface="Space Grotesk" pitchFamily="34" charset="0"/>
                <a:ea typeface="Space Grotesk" pitchFamily="34" charset="-122"/>
                <a:cs typeface="Space Grotesk" pitchFamily="34" charset="-120"/>
              </a:rPr>
              <a:t>Estructurar páginas semánticas y accesibles, y construir formularios con validación nativa.</a:t>
            </a:r>
            <a:endParaRPr lang="en-US" sz="1500" dirty="0"/>
          </a:p>
        </p:txBody>
      </p:sp>
      <p:sp>
        <p:nvSpPr>
          <p:cNvPr id="8" name="Shape 5"/>
          <p:cNvSpPr/>
          <p:nvPr/>
        </p:nvSpPr>
        <p:spPr>
          <a:xfrm>
            <a:off x="6197600" y="1935480"/>
            <a:ext cx="5181600" cy="2059940"/>
          </a:xfrm>
          <a:prstGeom prst="roundRect">
            <a:avLst>
              <a:gd name="adj" fmla="val 4932"/>
            </a:avLst>
          </a:prstGeom>
          <a:solidFill>
            <a:srgbClr val="14182B"/>
          </a:solidFill>
          <a:ln/>
        </p:spPr>
      </p:sp>
      <p:pic>
        <p:nvPicPr>
          <p:cNvPr id="9" name="Image 1" descr="CheckCircle">    </p:cNvPr>
          <p:cNvPicPr>
            <a:picLocks noChangeAspect="1"/>
          </p:cNvPicPr>
          <p:nvPr/>
        </p:nvPicPr>
        <p:blipFill>
          <a:blip r:embed="rId2"/>
          <a:srcRect l="0" r="0" t="0" b="0"/>
          <a:stretch/>
        </p:blipFill>
        <p:spPr>
          <a:xfrm>
            <a:off x="6451600" y="2189480"/>
            <a:ext cx="304800" cy="304800"/>
          </a:xfrm>
          <a:prstGeom prst="rect">
            <a:avLst/>
          </a:prstGeom>
        </p:spPr>
      </p:pic>
      <p:sp>
        <p:nvSpPr>
          <p:cNvPr id="10" name="Text 6"/>
          <p:cNvSpPr/>
          <p:nvPr/>
        </p:nvSpPr>
        <p:spPr>
          <a:xfrm>
            <a:off x="6451600" y="2595880"/>
            <a:ext cx="481380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EF"/>
                </a:solidFill>
                <a:latin typeface="Space Grotesk" pitchFamily="34" charset="0"/>
                <a:ea typeface="Space Grotesk" pitchFamily="34" charset="-122"/>
                <a:cs typeface="Space Grotesk" pitchFamily="34" charset="-120"/>
              </a:rPr>
              <a:t>Tu entregable</a:t>
            </a:r>
            <a:endParaRPr lang="en-US" sz="1600" dirty="0"/>
          </a:p>
        </p:txBody>
      </p:sp>
      <p:sp>
        <p:nvSpPr>
          <p:cNvPr id="11" name="Text 7"/>
          <p:cNvSpPr/>
          <p:nvPr/>
        </p:nvSpPr>
        <p:spPr>
          <a:xfrm>
            <a:off x="6451600" y="2941320"/>
            <a:ext cx="481380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1E3EC"/>
                </a:solidFill>
                <a:latin typeface="Space Grotesk" pitchFamily="34" charset="0"/>
                <a:ea typeface="Space Grotesk" pitchFamily="34" charset="-122"/>
                <a:cs typeface="Space Grotesk" pitchFamily="34" charset="-120"/>
              </a:rPr>
              <a:t>La estructura semántica de tu proyecto modular: 3 páginas enlazadas y un formulario de contacto, publicada en GitHub Pages.</a:t>
            </a:r>
            <a:endParaRPr lang="en-US" sz="1500" dirty="0"/>
          </a:p>
        </p:txBody>
      </p:sp>
      <p:sp>
        <p:nvSpPr>
          <p:cNvPr id="12" name="Text 8"/>
          <p:cNvSpPr/>
          <p:nvPr/>
        </p:nvSpPr>
        <p:spPr>
          <a:xfrm>
            <a:off x="812800" y="430022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F6475"/>
                </a:solidFill>
                <a:latin typeface="JetBrains Mono" pitchFamily="49" charset="0"/>
                <a:ea typeface="JetBrains Mono" pitchFamily="49" charset="-122"/>
                <a:cs typeface="JetBrains Mono" pitchFamily="49" charset="-120"/>
              </a:rPr>
              <a:t>LA RUTA DE HOY</a:t>
            </a:r>
            <a:endParaRPr lang="en-US" sz="1200" dirty="0"/>
          </a:p>
        </p:txBody>
      </p:sp>
      <p:sp>
        <p:nvSpPr>
          <p:cNvPr id="13" name="Text 9"/>
          <p:cNvSpPr/>
          <p:nvPr/>
        </p:nvSpPr>
        <p:spPr>
          <a:xfrm>
            <a:off x="812800" y="4640580"/>
            <a:ext cx="1283494" cy="358140"/>
          </a:xfrm>
          <a:prstGeom prst="roundRect">
            <a:avLst>
              <a:gd name="adj" fmla="val 50000"/>
            </a:avLst>
          </a:prstGeom>
          <a:solidFill>
            <a:srgbClr val="EDE9DF"/>
          </a:solidFill>
          <a:ln/>
        </p:spPr>
        <p:txBody>
          <a:bodyPr wrap="none" lIns="0" tIns="0" rIns="0" bIns="0" rtlCol="0" anchor="ctr">
            <a:normAutofit/>
          </a:bodyPr>
          <a:lstStyle/>
          <a:p>
            <a:pPr algn="ct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1 · Semántica</a:t>
            </a:r>
            <a:endParaRPr lang="en-US" sz="1300" dirty="0"/>
          </a:p>
        </p:txBody>
      </p:sp>
      <p:sp>
        <p:nvSpPr>
          <p:cNvPr id="14" name="Text 10"/>
          <p:cNvSpPr/>
          <p:nvPr/>
        </p:nvSpPr>
        <p:spPr>
          <a:xfrm>
            <a:off x="2172494" y="4640580"/>
            <a:ext cx="1526778" cy="358140"/>
          </a:xfrm>
          <a:prstGeom prst="roundRect">
            <a:avLst>
              <a:gd name="adj" fmla="val 50000"/>
            </a:avLst>
          </a:prstGeom>
          <a:solidFill>
            <a:srgbClr val="EDE9DF"/>
          </a:solidFill>
          <a:ln/>
        </p:spPr>
        <p:txBody>
          <a:bodyPr wrap="none" lIns="0" tIns="0" rIns="0" bIns="0" rtlCol="0" anchor="ctr">
            <a:normAutofit/>
          </a:bodyPr>
          <a:lstStyle/>
          <a:p>
            <a:pPr algn="ct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2 · Accesibilidad</a:t>
            </a:r>
            <a:endParaRPr lang="en-US" sz="1300" dirty="0"/>
          </a:p>
        </p:txBody>
      </p:sp>
      <p:sp>
        <p:nvSpPr>
          <p:cNvPr id="15" name="Text 11"/>
          <p:cNvSpPr/>
          <p:nvPr/>
        </p:nvSpPr>
        <p:spPr>
          <a:xfrm>
            <a:off x="3775472" y="4640580"/>
            <a:ext cx="1390729" cy="358140"/>
          </a:xfrm>
          <a:prstGeom prst="roundRect">
            <a:avLst>
              <a:gd name="adj" fmla="val 50000"/>
            </a:avLst>
          </a:prstGeom>
          <a:solidFill>
            <a:srgbClr val="EDE9DF"/>
          </a:solidFill>
          <a:ln/>
        </p:spPr>
        <p:txBody>
          <a:bodyPr wrap="none" lIns="0" tIns="0" rIns="0" bIns="0" rtlCol="0" anchor="ctr">
            <a:normAutofit/>
          </a:bodyPr>
          <a:lstStyle/>
          <a:p>
            <a:pPr algn="ct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3 · Formularios</a:t>
            </a:r>
            <a:endParaRPr lang="en-US" sz="1300" dirty="0"/>
          </a:p>
        </p:txBody>
      </p:sp>
      <p:sp>
        <p:nvSpPr>
          <p:cNvPr id="16" name="Text 12"/>
          <p:cNvSpPr/>
          <p:nvPr/>
        </p:nvSpPr>
        <p:spPr>
          <a:xfrm>
            <a:off x="5242401" y="4640580"/>
            <a:ext cx="1894205" cy="358140"/>
          </a:xfrm>
          <a:prstGeom prst="roundRect">
            <a:avLst>
              <a:gd name="adj" fmla="val 50000"/>
            </a:avLst>
          </a:prstGeom>
          <a:solidFill>
            <a:srgbClr val="EDE9DF"/>
          </a:solidFill>
          <a:ln/>
        </p:spPr>
        <p:txBody>
          <a:bodyPr wrap="none" lIns="0" tIns="0" rIns="0" bIns="0" rtlCol="0" anchor="ctr">
            <a:normAutofit/>
          </a:bodyPr>
          <a:lstStyle/>
          <a:p>
            <a:pPr algn="ct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4 · Proyecto modular</a:t>
            </a:r>
            <a:endParaRPr lang="en-US" sz="1300" dirty="0"/>
          </a:p>
        </p:txBody>
      </p:sp>
      <p:sp>
        <p:nvSpPr>
          <p:cNvPr id="17" name="Text 13"/>
          <p:cNvSpPr/>
          <p:nvPr/>
        </p:nvSpPr>
        <p:spPr>
          <a:xfrm>
            <a:off x="7212806" y="4640580"/>
            <a:ext cx="842328" cy="358140"/>
          </a:xfrm>
          <a:prstGeom prst="roundRect">
            <a:avLst>
              <a:gd name="adj" fmla="val 50000"/>
            </a:avLst>
          </a:prstGeom>
          <a:solidFill>
            <a:srgbClr val="EDE9DF"/>
          </a:solidFill>
          <a:ln/>
        </p:spPr>
        <p:txBody>
          <a:bodyPr wrap="none" lIns="0" tIns="0" rIns="0" bIns="0" rtlCol="0" anchor="ctr">
            <a:normAutofit/>
          </a:bodyPr>
          <a:lstStyle/>
          <a:p>
            <a:pPr algn="ct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5 · Reto</a:t>
            </a:r>
            <a:endParaRPr lang="en-US" sz="1300" dirty="0"/>
          </a:p>
        </p:txBody>
      </p:sp>
      <p:sp>
        <p:nvSpPr>
          <p:cNvPr id="18" name="Text 14"/>
          <p:cNvSpPr/>
          <p:nvPr/>
        </p:nvSpPr>
        <p:spPr>
          <a:xfrm>
            <a:off x="8131334" y="4640580"/>
            <a:ext cx="934244" cy="358140"/>
          </a:xfrm>
          <a:prstGeom prst="roundRect">
            <a:avLst>
              <a:gd name="adj" fmla="val 50000"/>
            </a:avLst>
          </a:prstGeom>
          <a:solidFill>
            <a:srgbClr val="EDE9DF"/>
          </a:solidFill>
          <a:ln/>
        </p:spPr>
        <p:txBody>
          <a:bodyPr wrap="none" lIns="0" tIns="0" rIns="0" bIns="0" rtlCol="0" anchor="ctr">
            <a:normAutofit/>
          </a:bodyPr>
          <a:lstStyle/>
          <a:p>
            <a:pPr algn="ct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6 · Cierre</a:t>
            </a:r>
            <a:endParaRPr lang="en-US" sz="1300" dirty="0"/>
          </a:p>
        </p:txBody>
      </p:sp>
      <p:sp>
        <p:nvSpPr>
          <p:cNvPr id="19" name="Text 15"/>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82B"/>
        </a:solidFill>
      </p:bgPr>
    </p:bg>
    <p:spTree>
      <p:nvGrpSpPr>
        <p:cNvPr id="1" name=""/>
        <p:cNvGrpSpPr/>
        <p:nvPr/>
      </p:nvGrpSpPr>
      <p:grpSpPr>
        <a:xfrm>
          <a:off x="0" y="0"/>
          <a:ext cx="0" cy="0"/>
          <a:chOff x="0" y="0"/>
          <a:chExt cx="0" cy="0"/>
        </a:xfrm>
      </p:grpSpPr>
      <p:sp>
        <p:nvSpPr>
          <p:cNvPr id="2" name="Text 0"/>
          <p:cNvSpPr/>
          <p:nvPr/>
        </p:nvSpPr>
        <p:spPr>
          <a:xfrm>
            <a:off x="812800" y="812800"/>
            <a:ext cx="10883392" cy="227013"/>
          </a:xfrm>
          <a:prstGeom prst="rect">
            <a:avLst/>
          </a:prstGeom>
          <a:noFill/>
          <a:ln/>
        </p:spPr>
        <p:txBody>
          <a:bodyPr wrap="square" lIns="0" tIns="0" rIns="0" bIns="0" rtlCol="0" anchor="t">
            <a:normAutofit/>
          </a:bodyPr>
          <a:lstStyle/>
          <a:p>
            <a:pPr algn="l" indent="0" marL="0">
              <a:lnSpc>
                <a:spcPts val="1622"/>
              </a:lnSpc>
              <a:buNone/>
            </a:pPr>
            <a:r>
              <a:rPr lang="en-US" sz="1159" spc="100" kern="0" dirty="0">
                <a:solidFill>
                  <a:srgbClr val="FF8A5C"/>
                </a:solidFill>
                <a:latin typeface="JetBrains Mono" pitchFamily="49" charset="0"/>
                <a:ea typeface="JetBrains Mono" pitchFamily="49" charset="-122"/>
                <a:cs typeface="JetBrains Mono" pitchFamily="49" charset="-120"/>
              </a:rPr>
              <a:t>PARA ARRANCAR</a:t>
            </a:r>
            <a:endParaRPr lang="en-US" sz="1159" dirty="0"/>
          </a:p>
        </p:txBody>
      </p:sp>
      <p:sp>
        <p:nvSpPr>
          <p:cNvPr id="3" name="Text 1"/>
          <p:cNvSpPr/>
          <p:nvPr>
            <p:ph type="title"/>
          </p:nvPr>
        </p:nvSpPr>
        <p:spPr>
          <a:xfrm>
            <a:off x="812800" y="1116013"/>
            <a:ext cx="11379200" cy="975678"/>
          </a:xfrm>
          <a:prstGeom prst="rect">
            <a:avLst/>
          </a:prstGeom>
          <a:noFill/>
          <a:ln/>
        </p:spPr>
        <p:txBody>
          <a:bodyPr wrap="square" lIns="0" tIns="0" rIns="0" bIns="0" rtlCol="0" anchor="t">
            <a:normAutofit/>
          </a:bodyPr>
          <a:lstStyle/>
          <a:p>
            <a:pPr algn="l" indent="0" marL="0">
              <a:lnSpc>
                <a:spcPts val="3911"/>
              </a:lnSpc>
              <a:buNone/>
            </a:pPr>
            <a:r>
              <a:rPr lang="en-US" sz="3555" b="1" i="0" spc="-50" kern="0" dirty="0">
                <a:solidFill>
                  <a:srgbClr val="F7F5EF"/>
                </a:solidFill>
                <a:latin typeface="Space Grotesk" pitchFamily="34" charset="0"/>
                <a:ea typeface="Space Grotesk" pitchFamily="34" charset="-122"/>
                <a:cs typeface="Space Grotesk" pitchFamily="34" charset="-120"/>
              </a:rPr>
              <a:t>Estas dos páginas se ven idénticas. ¿Son iguales?</a:t>
            </a:r>
            <a:endParaRPr lang="en-US" sz="3555" dirty="0"/>
          </a:p>
        </p:txBody>
      </p:sp>
      <p:pic>
        <p:nvPicPr>
          <p:cNvPr id="4" name="Image 0" descr="Página de la Panadería La Espiga, versión A">    </p:cNvPr>
          <p:cNvPicPr>
            <a:picLocks noChangeAspect="1"/>
          </p:cNvPicPr>
          <p:nvPr/>
        </p:nvPicPr>
        <p:blipFill>
          <a:blip r:embed="rId1"/>
          <a:stretch>
            <a:fillRect/>
          </a:stretch>
        </p:blipFill>
        <p:spPr>
          <a:xfrm>
            <a:off x="945604" y="2320291"/>
            <a:ext cx="4890592" cy="3201114"/>
          </a:xfrm>
          <a:prstGeom prst="rect">
            <a:avLst/>
          </a:prstGeom>
        </p:spPr>
      </p:pic>
      <p:sp>
        <p:nvSpPr>
          <p:cNvPr id="5" name="Text 2"/>
          <p:cNvSpPr/>
          <p:nvPr/>
        </p:nvSpPr>
        <p:spPr>
          <a:xfrm>
            <a:off x="812800" y="5623004"/>
            <a:ext cx="5310886" cy="244396"/>
          </a:xfrm>
          <a:prstGeom prst="rect">
            <a:avLst/>
          </a:prstGeom>
          <a:noFill/>
          <a:ln/>
        </p:spPr>
        <p:txBody>
          <a:bodyPr wrap="square" lIns="0" tIns="0" rIns="0" bIns="0" rtlCol="0" anchor="t">
            <a:normAutofit/>
          </a:bodyPr>
          <a:lstStyle/>
          <a:p>
            <a:pPr algn="l" indent="0" marL="0">
              <a:lnSpc>
                <a:spcPts val="1723"/>
              </a:lnSpc>
              <a:buNone/>
            </a:pPr>
            <a:r>
              <a:rPr lang="en-US" sz="1231" dirty="0">
                <a:solidFill>
                  <a:srgbClr val="FF8A5C"/>
                </a:solidFill>
                <a:latin typeface="JetBrains Mono" pitchFamily="49" charset="0"/>
                <a:ea typeface="JetBrains Mono" pitchFamily="49" charset="-122"/>
                <a:cs typeface="JetBrains Mono" pitchFamily="49" charset="-120"/>
              </a:rPr>
              <a:t>Versión A</a:t>
            </a:r>
            <a:endParaRPr lang="en-US" sz="1231" dirty="0"/>
          </a:p>
        </p:txBody>
      </p:sp>
      <p:pic>
        <p:nvPicPr>
          <p:cNvPr id="6" name="Image 1" descr="Página de la Panadería La Espiga, versión B, idéntica a la A">    </p:cNvPr>
          <p:cNvPicPr>
            <a:picLocks noChangeAspect="1"/>
          </p:cNvPicPr>
          <p:nvPr/>
        </p:nvPicPr>
        <p:blipFill>
          <a:blip r:embed="rId2"/>
          <a:stretch>
            <a:fillRect/>
          </a:stretch>
        </p:blipFill>
        <p:spPr>
          <a:xfrm>
            <a:off x="6355804" y="2320291"/>
            <a:ext cx="4890592" cy="3201114"/>
          </a:xfrm>
          <a:prstGeom prst="rect">
            <a:avLst/>
          </a:prstGeom>
        </p:spPr>
      </p:pic>
      <p:sp>
        <p:nvSpPr>
          <p:cNvPr id="7" name="Text 3"/>
          <p:cNvSpPr/>
          <p:nvPr/>
        </p:nvSpPr>
        <p:spPr>
          <a:xfrm>
            <a:off x="6223000" y="5623004"/>
            <a:ext cx="5310886" cy="244396"/>
          </a:xfrm>
          <a:prstGeom prst="rect">
            <a:avLst/>
          </a:prstGeom>
          <a:noFill/>
          <a:ln/>
        </p:spPr>
        <p:txBody>
          <a:bodyPr wrap="square" lIns="0" tIns="0" rIns="0" bIns="0" rtlCol="0" anchor="t">
            <a:normAutofit/>
          </a:bodyPr>
          <a:lstStyle/>
          <a:p>
            <a:pPr algn="l" indent="0" marL="0">
              <a:lnSpc>
                <a:spcPts val="1723"/>
              </a:lnSpc>
              <a:buNone/>
            </a:pPr>
            <a:r>
              <a:rPr lang="en-US" sz="1231" dirty="0">
                <a:solidFill>
                  <a:srgbClr val="FF8A5C"/>
                </a:solidFill>
                <a:latin typeface="JetBrains Mono" pitchFamily="49" charset="0"/>
                <a:ea typeface="JetBrains Mono" pitchFamily="49" charset="-122"/>
                <a:cs typeface="JetBrains Mono" pitchFamily="49" charset="-120"/>
              </a:rPr>
              <a:t>Versión B</a:t>
            </a:r>
            <a:endParaRPr lang="en-US" sz="1231" dirty="0"/>
          </a:p>
        </p:txBody>
      </p:sp>
      <p:sp>
        <p:nvSpPr>
          <p:cNvPr id="8" name="Text 4"/>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B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01 · SEMÁNTICA</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El mismo contenido, dos estructuras</a:t>
            </a:r>
            <a:endParaRPr lang="en-US" sz="3600" dirty="0"/>
          </a:p>
        </p:txBody>
      </p:sp>
      <p:sp>
        <p:nvSpPr>
          <p:cNvPr id="4" name="Text 2"/>
          <p:cNvSpPr/>
          <p:nvPr/>
        </p:nvSpPr>
        <p:spPr>
          <a:xfrm>
            <a:off x="812800" y="1884680"/>
            <a:ext cx="53108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Versión A · solo div</a:t>
            </a:r>
            <a:endParaRPr lang="en-US" sz="1200" dirty="0"/>
          </a:p>
        </p:txBody>
      </p:sp>
      <p:sp>
        <p:nvSpPr>
          <p:cNvPr id="5" name="Text 3"/>
          <p:cNvSpPr/>
          <p:nvPr/>
        </p:nvSpPr>
        <p:spPr>
          <a:xfrm>
            <a:off x="812800" y="2199641"/>
            <a:ext cx="5156200" cy="2692400"/>
          </a:xfrm>
          <a:prstGeom prst="roundRect">
            <a:avLst>
              <a:gd name="adj" fmla="val 3774"/>
            </a:avLst>
          </a:prstGeom>
          <a:solidFill>
            <a:srgbClr val="1C2137"/>
          </a:solidFill>
          <a:ln/>
        </p:spPr>
        <p:txBody>
          <a:bodyPr wrap="square" lIns="198842" tIns="173442" rIns="57872" bIns="148042" rtlCol="0" anchor="t">
            <a:normAutofit/>
          </a:bodyPr>
          <a:lstStyle/>
          <a:p>
            <a:pPr algn="l" indent="0" marL="0">
              <a:lnSpc>
                <a:spcPts val="1800"/>
              </a:lnSpc>
              <a:buNone/>
            </a:pPr>
            <a:r>
              <a:rPr lang="en-US" sz="1200" dirty="0">
                <a:solidFill>
                  <a:srgbClr val="FF9466"/>
                </a:solidFill>
                <a:latin typeface="JetBrains Mono" pitchFamily="49" charset="0"/>
                <a:ea typeface="JetBrains Mono" pitchFamily="49" charset="-122"/>
                <a:cs typeface="JetBrains Mono" pitchFamily="49" charset="-120"/>
              </a:rPr>
              <a:t>&lt;div</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class</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"sitio"</a:t>
            </a:r>
            <a:r>
              <a:rPr lang="en-US" sz="1200" dirty="0">
                <a:solidFill>
                  <a:srgbClr val="FF9466"/>
                </a:solidFill>
                <a:latin typeface="JetBrains Mono" pitchFamily="49" charset="0"/>
                <a:ea typeface="JetBrains Mono" pitchFamily="49" charset="-122"/>
                <a:cs typeface="JetBrains Mono" pitchFamily="49" charset="-120"/>
              </a:rPr>
              <a:t>&gt;</a:t>
            </a:r>
            <a:endParaRPr lang="en-US" sz="1200" dirty="0"/>
          </a:p>
          <a:p>
            <a:pPr algn="l" indent="0" marL="0">
              <a:lnSpc>
                <a:spcPts val="1800"/>
              </a:lnSpc>
              <a:buNone/>
            </a:pP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FF9466"/>
                </a:solidFill>
                <a:latin typeface="JetBrains Mono" pitchFamily="49" charset="0"/>
                <a:ea typeface="JetBrains Mono" pitchFamily="49" charset="-122"/>
                <a:cs typeface="JetBrains Mono" pitchFamily="49" charset="-120"/>
              </a:rPr>
              <a:t>&lt;div</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class</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"marca"</a:t>
            </a:r>
            <a:r>
              <a:rPr lang="en-US" sz="1200" dirty="0">
                <a:solidFill>
                  <a:srgbClr val="FF9466"/>
                </a:solidFill>
                <a:latin typeface="JetBrains Mono" pitchFamily="49" charset="0"/>
                <a:ea typeface="JetBrains Mono" pitchFamily="49" charset="-122"/>
                <a:cs typeface="JetBrains Mono" pitchFamily="49" charset="-120"/>
              </a:rPr>
              <a:t>&gt;</a:t>
            </a:r>
            <a:r>
              <a:rPr lang="en-US" sz="1200" dirty="0">
                <a:solidFill>
                  <a:srgbClr val="E8E6E1"/>
                </a:solidFill>
                <a:latin typeface="JetBrains Mono" pitchFamily="49" charset="0"/>
                <a:ea typeface="JetBrains Mono" pitchFamily="49" charset="-122"/>
                <a:cs typeface="JetBrains Mono" pitchFamily="49" charset="-120"/>
              </a:rPr>
              <a:t>La Espiga</a:t>
            </a:r>
            <a:r>
              <a:rPr lang="en-US" sz="1200" dirty="0">
                <a:solidFill>
                  <a:srgbClr val="FF9466"/>
                </a:solidFill>
                <a:latin typeface="JetBrains Mono" pitchFamily="49" charset="0"/>
                <a:ea typeface="JetBrains Mono" pitchFamily="49" charset="-122"/>
                <a:cs typeface="JetBrains Mono" pitchFamily="49" charset="-120"/>
              </a:rPr>
              <a:t>&lt;/div&gt;</a:t>
            </a:r>
            <a:endParaRPr lang="en-US" sz="1200" dirty="0"/>
          </a:p>
          <a:p>
            <a:pPr algn="l" indent="0" marL="0">
              <a:lnSpc>
                <a:spcPts val="1800"/>
              </a:lnSpc>
              <a:buNone/>
            </a:pP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FF9466"/>
                </a:solidFill>
                <a:latin typeface="JetBrains Mono" pitchFamily="49" charset="0"/>
                <a:ea typeface="JetBrains Mono" pitchFamily="49" charset="-122"/>
                <a:cs typeface="JetBrains Mono" pitchFamily="49" charset="-120"/>
              </a:rPr>
              <a:t>&lt;div</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class</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"menu"</a:t>
            </a:r>
            <a:r>
              <a:rPr lang="en-US" sz="1200" dirty="0">
                <a:solidFill>
                  <a:srgbClr val="FF9466"/>
                </a:solidFill>
                <a:latin typeface="JetBrains Mono" pitchFamily="49" charset="0"/>
                <a:ea typeface="JetBrains Mono" pitchFamily="49" charset="-122"/>
                <a:cs typeface="JetBrains Mono" pitchFamily="49" charset="-120"/>
              </a:rPr>
              <a:t>&gt;</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F9466"/>
                </a:solidFill>
                <a:latin typeface="JetBrains Mono" pitchFamily="49" charset="0"/>
                <a:ea typeface="JetBrains Mono" pitchFamily="49" charset="-122"/>
                <a:cs typeface="JetBrains Mono" pitchFamily="49" charset="-120"/>
              </a:rPr>
              <a:t>&lt;/div&gt;</a:t>
            </a:r>
            <a:endParaRPr lang="en-US" sz="1200" dirty="0"/>
          </a:p>
          <a:p>
            <a:pPr algn="l" indent="0" marL="0">
              <a:lnSpc>
                <a:spcPts val="1800"/>
              </a:lnSpc>
              <a:buNone/>
            </a:pPr>
            <a:r>
              <a:rPr lang="en-US" sz="1200" dirty="0">
                <a:solidFill>
                  <a:srgbClr val="FF9466"/>
                </a:solidFill>
                <a:latin typeface="JetBrains Mono" pitchFamily="49" charset="0"/>
                <a:ea typeface="JetBrains Mono" pitchFamily="49" charset="-122"/>
                <a:cs typeface="JetBrains Mono" pitchFamily="49" charset="-120"/>
              </a:rPr>
              <a:t>&lt;/div&gt;</a:t>
            </a:r>
            <a:endParaRPr lang="en-US" sz="1200" dirty="0"/>
          </a:p>
          <a:p>
            <a:pPr algn="l" indent="0" marL="0">
              <a:lnSpc>
                <a:spcPts val="1800"/>
              </a:lnSpc>
              <a:buNone/>
            </a:pPr>
            <a:r>
              <a:rPr lang="en-US" sz="1200" dirty="0">
                <a:solidFill>
                  <a:srgbClr val="FF9466"/>
                </a:solidFill>
                <a:latin typeface="JetBrains Mono" pitchFamily="49" charset="0"/>
                <a:ea typeface="JetBrains Mono" pitchFamily="49" charset="-122"/>
                <a:cs typeface="JetBrains Mono" pitchFamily="49" charset="-120"/>
              </a:rPr>
              <a:t>&lt;div</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class</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"contenido"</a:t>
            </a:r>
            <a:r>
              <a:rPr lang="en-US" sz="1200" dirty="0">
                <a:solidFill>
                  <a:srgbClr val="FF9466"/>
                </a:solidFill>
                <a:latin typeface="JetBrains Mono" pitchFamily="49" charset="0"/>
                <a:ea typeface="JetBrains Mono" pitchFamily="49" charset="-122"/>
                <a:cs typeface="JetBrains Mono" pitchFamily="49" charset="-120"/>
              </a:rPr>
              <a:t>&gt;</a:t>
            </a:r>
            <a:endParaRPr lang="en-US" sz="1200" dirty="0"/>
          </a:p>
          <a:p>
            <a:pPr algn="l" indent="0" marL="0">
              <a:lnSpc>
                <a:spcPts val="1800"/>
              </a:lnSpc>
              <a:buNone/>
            </a:pP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FF9466"/>
                </a:solidFill>
                <a:latin typeface="JetBrains Mono" pitchFamily="49" charset="0"/>
                <a:ea typeface="JetBrains Mono" pitchFamily="49" charset="-122"/>
                <a:cs typeface="JetBrains Mono" pitchFamily="49" charset="-120"/>
              </a:rPr>
              <a:t>&lt;div</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class</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"titulo"</a:t>
            </a:r>
            <a:r>
              <a:rPr lang="en-US" sz="1200" dirty="0">
                <a:solidFill>
                  <a:srgbClr val="FF9466"/>
                </a:solidFill>
                <a:latin typeface="JetBrains Mono" pitchFamily="49" charset="0"/>
                <a:ea typeface="JetBrains Mono" pitchFamily="49" charset="-122"/>
                <a:cs typeface="JetBrains Mono" pitchFamily="49" charset="-120"/>
              </a:rPr>
              <a:t>&gt;</a:t>
            </a:r>
            <a:r>
              <a:rPr lang="en-US" sz="1200" dirty="0">
                <a:solidFill>
                  <a:srgbClr val="E8E6E1"/>
                </a:solidFill>
                <a:latin typeface="JetBrains Mono" pitchFamily="49" charset="0"/>
                <a:ea typeface="JetBrains Mono" pitchFamily="49" charset="-122"/>
                <a:cs typeface="JetBrains Mono" pitchFamily="49" charset="-120"/>
              </a:rPr>
              <a:t>Pan artesanal…</a:t>
            </a:r>
            <a:r>
              <a:rPr lang="en-US" sz="1200" dirty="0">
                <a:solidFill>
                  <a:srgbClr val="FF9466"/>
                </a:solidFill>
                <a:latin typeface="JetBrains Mono" pitchFamily="49" charset="0"/>
                <a:ea typeface="JetBrains Mono" pitchFamily="49" charset="-122"/>
                <a:cs typeface="JetBrains Mono" pitchFamily="49" charset="-120"/>
              </a:rPr>
              <a:t>&lt;/div&gt;</a:t>
            </a:r>
            <a:endParaRPr lang="en-US" sz="1200" dirty="0"/>
          </a:p>
          <a:p>
            <a:pPr algn="l" indent="0" marL="0">
              <a:lnSpc>
                <a:spcPts val="1800"/>
              </a:lnSpc>
              <a:buNone/>
            </a:pP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FF9466"/>
                </a:solidFill>
                <a:latin typeface="JetBrains Mono" pitchFamily="49" charset="0"/>
                <a:ea typeface="JetBrains Mono" pitchFamily="49" charset="-122"/>
                <a:cs typeface="JetBrains Mono" pitchFamily="49" charset="-120"/>
              </a:rPr>
              <a:t>&lt;div</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class</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"producto"</a:t>
            </a:r>
            <a:r>
              <a:rPr lang="en-US" sz="1200" dirty="0">
                <a:solidFill>
                  <a:srgbClr val="FF9466"/>
                </a:solidFill>
                <a:latin typeface="JetBrains Mono" pitchFamily="49" charset="0"/>
                <a:ea typeface="JetBrains Mono" pitchFamily="49" charset="-122"/>
                <a:cs typeface="JetBrains Mono" pitchFamily="49" charset="-120"/>
              </a:rPr>
              <a:t>&gt;</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F9466"/>
                </a:solidFill>
                <a:latin typeface="JetBrains Mono" pitchFamily="49" charset="0"/>
                <a:ea typeface="JetBrains Mono" pitchFamily="49" charset="-122"/>
                <a:cs typeface="JetBrains Mono" pitchFamily="49" charset="-120"/>
              </a:rPr>
              <a:t>&lt;/div&gt;</a:t>
            </a:r>
            <a:endParaRPr lang="en-US" sz="1200" dirty="0"/>
          </a:p>
          <a:p>
            <a:pPr algn="l" indent="0" marL="0">
              <a:lnSpc>
                <a:spcPts val="1800"/>
              </a:lnSpc>
              <a:buNone/>
            </a:pP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FF9466"/>
                </a:solidFill>
                <a:latin typeface="JetBrains Mono" pitchFamily="49" charset="0"/>
                <a:ea typeface="JetBrains Mono" pitchFamily="49" charset="-122"/>
                <a:cs typeface="JetBrains Mono" pitchFamily="49" charset="-120"/>
              </a:rPr>
              <a:t>&lt;div</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class</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"boton"</a:t>
            </a:r>
            <a:r>
              <a:rPr lang="en-US" sz="1200" dirty="0">
                <a:solidFill>
                  <a:srgbClr val="FF9466"/>
                </a:solidFill>
                <a:latin typeface="JetBrains Mono" pitchFamily="49" charset="0"/>
                <a:ea typeface="JetBrains Mono" pitchFamily="49" charset="-122"/>
                <a:cs typeface="JetBrains Mono" pitchFamily="49" charset="-120"/>
              </a:rPr>
              <a:t>&gt;</a:t>
            </a:r>
            <a:r>
              <a:rPr lang="en-US" sz="1200" dirty="0">
                <a:solidFill>
                  <a:srgbClr val="E8E6E1"/>
                </a:solidFill>
                <a:latin typeface="JetBrains Mono" pitchFamily="49" charset="0"/>
                <a:ea typeface="JetBrains Mono" pitchFamily="49" charset="-122"/>
                <a:cs typeface="JetBrains Mono" pitchFamily="49" charset="-120"/>
              </a:rPr>
              <a:t>Hacer pedido</a:t>
            </a:r>
            <a:r>
              <a:rPr lang="en-US" sz="1200" dirty="0">
                <a:solidFill>
                  <a:srgbClr val="FF9466"/>
                </a:solidFill>
                <a:latin typeface="JetBrains Mono" pitchFamily="49" charset="0"/>
                <a:ea typeface="JetBrains Mono" pitchFamily="49" charset="-122"/>
                <a:cs typeface="JetBrains Mono" pitchFamily="49" charset="-120"/>
              </a:rPr>
              <a:t>&lt;/div&gt;</a:t>
            </a:r>
            <a:endParaRPr lang="en-US" sz="1200" dirty="0"/>
          </a:p>
          <a:p>
            <a:pPr algn="l" indent="0" marL="0">
              <a:lnSpc>
                <a:spcPts val="1800"/>
              </a:lnSpc>
              <a:buNone/>
            </a:pPr>
            <a:r>
              <a:rPr lang="en-US" sz="1200" dirty="0">
                <a:solidFill>
                  <a:srgbClr val="FF9466"/>
                </a:solidFill>
                <a:latin typeface="JetBrains Mono" pitchFamily="49" charset="0"/>
                <a:ea typeface="JetBrains Mono" pitchFamily="49" charset="-122"/>
                <a:cs typeface="JetBrains Mono" pitchFamily="49" charset="-120"/>
              </a:rPr>
              <a:t>&lt;/div&gt;</a:t>
            </a:r>
            <a:endParaRPr lang="en-US" sz="1200" dirty="0"/>
          </a:p>
          <a:p>
            <a:pPr algn="l" indent="0" marL="0">
              <a:lnSpc>
                <a:spcPts val="1800"/>
              </a:lnSpc>
              <a:buNone/>
            </a:pPr>
            <a:r>
              <a:rPr lang="en-US" sz="1200" dirty="0">
                <a:solidFill>
                  <a:srgbClr val="FF9466"/>
                </a:solidFill>
                <a:latin typeface="JetBrains Mono" pitchFamily="49" charset="0"/>
                <a:ea typeface="JetBrains Mono" pitchFamily="49" charset="-122"/>
                <a:cs typeface="JetBrains Mono" pitchFamily="49" charset="-120"/>
              </a:rPr>
              <a:t>&lt;div</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class</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"pie"</a:t>
            </a:r>
            <a:r>
              <a:rPr lang="en-US" sz="1200" dirty="0">
                <a:solidFill>
                  <a:srgbClr val="FF9466"/>
                </a:solidFill>
                <a:latin typeface="JetBrains Mono" pitchFamily="49" charset="0"/>
                <a:ea typeface="JetBrains Mono" pitchFamily="49" charset="-122"/>
                <a:cs typeface="JetBrains Mono" pitchFamily="49" charset="-120"/>
              </a:rPr>
              <a:t>&gt;</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F9466"/>
                </a:solidFill>
                <a:latin typeface="JetBrains Mono" pitchFamily="49" charset="0"/>
                <a:ea typeface="JetBrains Mono" pitchFamily="49" charset="-122"/>
                <a:cs typeface="JetBrains Mono" pitchFamily="49" charset="-120"/>
              </a:rPr>
              <a:t>&lt;/div&gt;</a:t>
            </a:r>
            <a:endParaRPr lang="en-US" sz="1200" dirty="0"/>
          </a:p>
        </p:txBody>
      </p:sp>
      <p:sp>
        <p:nvSpPr>
          <p:cNvPr id="6" name="Text 4"/>
          <p:cNvSpPr/>
          <p:nvPr/>
        </p:nvSpPr>
        <p:spPr>
          <a:xfrm>
            <a:off x="6223000" y="1884680"/>
            <a:ext cx="53108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Versión B · semántica</a:t>
            </a:r>
            <a:endParaRPr lang="en-US" sz="1200" dirty="0"/>
          </a:p>
        </p:txBody>
      </p:sp>
      <p:sp>
        <p:nvSpPr>
          <p:cNvPr id="7" name="Text 5"/>
          <p:cNvSpPr/>
          <p:nvPr/>
        </p:nvSpPr>
        <p:spPr>
          <a:xfrm>
            <a:off x="6223000" y="2199641"/>
            <a:ext cx="5156200" cy="2692400"/>
          </a:xfrm>
          <a:prstGeom prst="roundRect">
            <a:avLst>
              <a:gd name="adj" fmla="val 3774"/>
            </a:avLst>
          </a:prstGeom>
          <a:solidFill>
            <a:srgbClr val="1C2137"/>
          </a:solidFill>
          <a:ln/>
        </p:spPr>
        <p:txBody>
          <a:bodyPr wrap="square" lIns="198842" tIns="173442" rIns="57872" bIns="148042" rtlCol="0" anchor="t">
            <a:normAutofit/>
          </a:bodyPr>
          <a:lstStyle/>
          <a:p>
            <a:pPr algn="l" indent="0" marL="0">
              <a:lnSpc>
                <a:spcPts val="1800"/>
              </a:lnSpc>
              <a:buNone/>
            </a:pPr>
            <a:r>
              <a:rPr lang="en-US" sz="1200" dirty="0">
                <a:solidFill>
                  <a:srgbClr val="A6E3A1"/>
                </a:solidFill>
                <a:latin typeface="JetBrains Mono" pitchFamily="49" charset="0"/>
                <a:ea typeface="JetBrains Mono" pitchFamily="49" charset="-122"/>
                <a:cs typeface="JetBrains Mono" pitchFamily="49" charset="-120"/>
              </a:rPr>
              <a:t>&lt;header</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class</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"sitio"</a:t>
            </a:r>
            <a:r>
              <a:rPr lang="en-US" sz="1200" dirty="0">
                <a:solidFill>
                  <a:srgbClr val="A6E3A1"/>
                </a:solidFill>
                <a:latin typeface="JetBrains Mono" pitchFamily="49" charset="0"/>
                <a:ea typeface="JetBrains Mono" pitchFamily="49" charset="-122"/>
                <a:cs typeface="JetBrains Mono" pitchFamily="49" charset="-120"/>
              </a:rPr>
              <a:t>&gt;</a:t>
            </a:r>
            <a:endParaRPr lang="en-US" sz="1200" dirty="0"/>
          </a:p>
          <a:p>
            <a:pPr algn="l" indent="0" marL="0">
              <a:lnSpc>
                <a:spcPts val="1800"/>
              </a:lnSpc>
              <a:buNone/>
            </a:pP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FF9466"/>
                </a:solidFill>
                <a:latin typeface="JetBrains Mono" pitchFamily="49" charset="0"/>
                <a:ea typeface="JetBrains Mono" pitchFamily="49" charset="-122"/>
                <a:cs typeface="JetBrains Mono" pitchFamily="49" charset="-120"/>
              </a:rPr>
              <a:t>&lt;p</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class</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"marca"</a:t>
            </a:r>
            <a:r>
              <a:rPr lang="en-US" sz="1200" dirty="0">
                <a:solidFill>
                  <a:srgbClr val="FF9466"/>
                </a:solidFill>
                <a:latin typeface="JetBrains Mono" pitchFamily="49" charset="0"/>
                <a:ea typeface="JetBrains Mono" pitchFamily="49" charset="-122"/>
                <a:cs typeface="JetBrains Mono" pitchFamily="49" charset="-120"/>
              </a:rPr>
              <a:t>&gt;</a:t>
            </a:r>
            <a:r>
              <a:rPr lang="en-US" sz="1200" dirty="0">
                <a:solidFill>
                  <a:srgbClr val="E8E6E1"/>
                </a:solidFill>
                <a:latin typeface="JetBrains Mono" pitchFamily="49" charset="0"/>
                <a:ea typeface="JetBrains Mono" pitchFamily="49" charset="-122"/>
                <a:cs typeface="JetBrains Mono" pitchFamily="49" charset="-120"/>
              </a:rPr>
              <a:t>La Espiga</a:t>
            </a:r>
            <a:r>
              <a:rPr lang="en-US" sz="1200" dirty="0">
                <a:solidFill>
                  <a:srgbClr val="FF9466"/>
                </a:solidFill>
                <a:latin typeface="JetBrains Mono" pitchFamily="49" charset="0"/>
                <a:ea typeface="JetBrains Mono" pitchFamily="49" charset="-122"/>
                <a:cs typeface="JetBrains Mono" pitchFamily="49" charset="-120"/>
              </a:rPr>
              <a:t>&lt;/p&gt;</a:t>
            </a:r>
            <a:endParaRPr lang="en-US" sz="1200" dirty="0"/>
          </a:p>
          <a:p>
            <a:pPr algn="l" indent="0" marL="0">
              <a:lnSpc>
                <a:spcPts val="1800"/>
              </a:lnSpc>
              <a:buNone/>
            </a:pP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A6E3A1"/>
                </a:solidFill>
                <a:latin typeface="JetBrains Mono" pitchFamily="49" charset="0"/>
                <a:ea typeface="JetBrains Mono" pitchFamily="49" charset="-122"/>
                <a:cs typeface="JetBrains Mono" pitchFamily="49" charset="-120"/>
              </a:rPr>
              <a:t>&lt;nav&gt;</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A6E3A1"/>
                </a:solidFill>
                <a:latin typeface="JetBrains Mono" pitchFamily="49" charset="0"/>
                <a:ea typeface="JetBrains Mono" pitchFamily="49" charset="-122"/>
                <a:cs typeface="JetBrains Mono" pitchFamily="49" charset="-120"/>
              </a:rPr>
              <a:t>&lt;/nav&gt;</a:t>
            </a:r>
            <a:endParaRPr lang="en-US" sz="1200" dirty="0"/>
          </a:p>
          <a:p>
            <a:pPr algn="l" indent="0" marL="0">
              <a:lnSpc>
                <a:spcPts val="1800"/>
              </a:lnSpc>
              <a:buNone/>
            </a:pPr>
            <a:r>
              <a:rPr lang="en-US" sz="1200" dirty="0">
                <a:solidFill>
                  <a:srgbClr val="A6E3A1"/>
                </a:solidFill>
                <a:latin typeface="JetBrains Mono" pitchFamily="49" charset="0"/>
                <a:ea typeface="JetBrains Mono" pitchFamily="49" charset="-122"/>
                <a:cs typeface="JetBrains Mono" pitchFamily="49" charset="-120"/>
              </a:rPr>
              <a:t>&lt;/header&gt;</a:t>
            </a:r>
            <a:endParaRPr lang="en-US" sz="1200" dirty="0"/>
          </a:p>
          <a:p>
            <a:pPr algn="l" indent="0" marL="0">
              <a:lnSpc>
                <a:spcPts val="1800"/>
              </a:lnSpc>
              <a:buNone/>
            </a:pPr>
            <a:r>
              <a:rPr lang="en-US" sz="1200" dirty="0">
                <a:solidFill>
                  <a:srgbClr val="A6E3A1"/>
                </a:solidFill>
                <a:latin typeface="JetBrains Mono" pitchFamily="49" charset="0"/>
                <a:ea typeface="JetBrains Mono" pitchFamily="49" charset="-122"/>
                <a:cs typeface="JetBrains Mono" pitchFamily="49" charset="-120"/>
              </a:rPr>
              <a:t>&lt;main</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class</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"contenido"</a:t>
            </a:r>
            <a:r>
              <a:rPr lang="en-US" sz="1200" dirty="0">
                <a:solidFill>
                  <a:srgbClr val="A6E3A1"/>
                </a:solidFill>
                <a:latin typeface="JetBrains Mono" pitchFamily="49" charset="0"/>
                <a:ea typeface="JetBrains Mono" pitchFamily="49" charset="-122"/>
                <a:cs typeface="JetBrains Mono" pitchFamily="49" charset="-120"/>
              </a:rPr>
              <a:t>&gt;</a:t>
            </a:r>
            <a:endParaRPr lang="en-US" sz="1200" dirty="0"/>
          </a:p>
          <a:p>
            <a:pPr algn="l" indent="0" marL="0">
              <a:lnSpc>
                <a:spcPts val="1800"/>
              </a:lnSpc>
              <a:buNone/>
            </a:pP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A6E3A1"/>
                </a:solidFill>
                <a:latin typeface="JetBrains Mono" pitchFamily="49" charset="0"/>
                <a:ea typeface="JetBrains Mono" pitchFamily="49" charset="-122"/>
                <a:cs typeface="JetBrains Mono" pitchFamily="49" charset="-120"/>
              </a:rPr>
              <a:t>&lt;h1</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class</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"titulo"</a:t>
            </a:r>
            <a:r>
              <a:rPr lang="en-US" sz="1200" dirty="0">
                <a:solidFill>
                  <a:srgbClr val="A6E3A1"/>
                </a:solidFill>
                <a:latin typeface="JetBrains Mono" pitchFamily="49" charset="0"/>
                <a:ea typeface="JetBrains Mono" pitchFamily="49" charset="-122"/>
                <a:cs typeface="JetBrains Mono" pitchFamily="49" charset="-120"/>
              </a:rPr>
              <a:t>&gt;</a:t>
            </a:r>
            <a:r>
              <a:rPr lang="en-US" sz="1200" dirty="0">
                <a:solidFill>
                  <a:srgbClr val="E8E6E1"/>
                </a:solidFill>
                <a:latin typeface="JetBrains Mono" pitchFamily="49" charset="0"/>
                <a:ea typeface="JetBrains Mono" pitchFamily="49" charset="-122"/>
                <a:cs typeface="JetBrains Mono" pitchFamily="49" charset="-120"/>
              </a:rPr>
              <a:t>Pan artesanal…</a:t>
            </a:r>
            <a:r>
              <a:rPr lang="en-US" sz="1200" dirty="0">
                <a:solidFill>
                  <a:srgbClr val="A6E3A1"/>
                </a:solidFill>
                <a:latin typeface="JetBrains Mono" pitchFamily="49" charset="0"/>
                <a:ea typeface="JetBrains Mono" pitchFamily="49" charset="-122"/>
                <a:cs typeface="JetBrains Mono" pitchFamily="49" charset="-120"/>
              </a:rPr>
              <a:t>&lt;/h1&gt;</a:t>
            </a:r>
            <a:endParaRPr lang="en-US" sz="1200" dirty="0"/>
          </a:p>
          <a:p>
            <a:pPr algn="l" indent="0" marL="0">
              <a:lnSpc>
                <a:spcPts val="1800"/>
              </a:lnSpc>
              <a:buNone/>
            </a:pP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A6E3A1"/>
                </a:solidFill>
                <a:latin typeface="JetBrains Mono" pitchFamily="49" charset="0"/>
                <a:ea typeface="JetBrains Mono" pitchFamily="49" charset="-122"/>
                <a:cs typeface="JetBrains Mono" pitchFamily="49" charset="-120"/>
              </a:rPr>
              <a:t>&lt;li</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class</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"producto"</a:t>
            </a:r>
            <a:r>
              <a:rPr lang="en-US" sz="1200" dirty="0">
                <a:solidFill>
                  <a:srgbClr val="A6E3A1"/>
                </a:solidFill>
                <a:latin typeface="JetBrains Mono" pitchFamily="49" charset="0"/>
                <a:ea typeface="JetBrains Mono" pitchFamily="49" charset="-122"/>
                <a:cs typeface="JetBrains Mono" pitchFamily="49" charset="-120"/>
              </a:rPr>
              <a:t>&gt;</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A6E3A1"/>
                </a:solidFill>
                <a:latin typeface="JetBrains Mono" pitchFamily="49" charset="0"/>
                <a:ea typeface="JetBrains Mono" pitchFamily="49" charset="-122"/>
                <a:cs typeface="JetBrains Mono" pitchFamily="49" charset="-120"/>
              </a:rPr>
              <a:t>&lt;/li&gt;</a:t>
            </a:r>
            <a:endParaRPr lang="en-US" sz="1200" dirty="0"/>
          </a:p>
          <a:p>
            <a:pPr algn="l" indent="0" marL="0">
              <a:lnSpc>
                <a:spcPts val="1800"/>
              </a:lnSpc>
              <a:buNone/>
            </a:pP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A6E3A1"/>
                </a:solidFill>
                <a:latin typeface="JetBrains Mono" pitchFamily="49" charset="0"/>
                <a:ea typeface="JetBrains Mono" pitchFamily="49" charset="-122"/>
                <a:cs typeface="JetBrains Mono" pitchFamily="49" charset="-120"/>
              </a:rPr>
              <a:t>&lt;a</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href</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"#contacto"</a:t>
            </a:r>
            <a:r>
              <a:rPr lang="en-US" sz="1200" dirty="0">
                <a:solidFill>
                  <a:srgbClr val="A6E3A1"/>
                </a:solidFill>
                <a:latin typeface="JetBrains Mono" pitchFamily="49" charset="0"/>
                <a:ea typeface="JetBrains Mono" pitchFamily="49" charset="-122"/>
                <a:cs typeface="JetBrains Mono" pitchFamily="49" charset="-120"/>
              </a:rPr>
              <a:t>&gt;</a:t>
            </a:r>
            <a:r>
              <a:rPr lang="en-US" sz="1200" dirty="0">
                <a:solidFill>
                  <a:srgbClr val="E8E6E1"/>
                </a:solidFill>
                <a:latin typeface="JetBrains Mono" pitchFamily="49" charset="0"/>
                <a:ea typeface="JetBrains Mono" pitchFamily="49" charset="-122"/>
                <a:cs typeface="JetBrains Mono" pitchFamily="49" charset="-120"/>
              </a:rPr>
              <a:t>Hacer pedido</a:t>
            </a:r>
            <a:r>
              <a:rPr lang="en-US" sz="1200" dirty="0">
                <a:solidFill>
                  <a:srgbClr val="A6E3A1"/>
                </a:solidFill>
                <a:latin typeface="JetBrains Mono" pitchFamily="49" charset="0"/>
                <a:ea typeface="JetBrains Mono" pitchFamily="49" charset="-122"/>
                <a:cs typeface="JetBrains Mono" pitchFamily="49" charset="-120"/>
              </a:rPr>
              <a:t>&lt;/a&gt;</a:t>
            </a:r>
            <a:endParaRPr lang="en-US" sz="1200" dirty="0"/>
          </a:p>
          <a:p>
            <a:pPr algn="l" indent="0" marL="0">
              <a:lnSpc>
                <a:spcPts val="1800"/>
              </a:lnSpc>
              <a:buNone/>
            </a:pPr>
            <a:r>
              <a:rPr lang="en-US" sz="1200" dirty="0">
                <a:solidFill>
                  <a:srgbClr val="A6E3A1"/>
                </a:solidFill>
                <a:latin typeface="JetBrains Mono" pitchFamily="49" charset="0"/>
                <a:ea typeface="JetBrains Mono" pitchFamily="49" charset="-122"/>
                <a:cs typeface="JetBrains Mono" pitchFamily="49" charset="-120"/>
              </a:rPr>
              <a:t>&lt;/main&gt;</a:t>
            </a:r>
            <a:endParaRPr lang="en-US" sz="1200" dirty="0"/>
          </a:p>
          <a:p>
            <a:pPr algn="l" indent="0" marL="0">
              <a:lnSpc>
                <a:spcPts val="1800"/>
              </a:lnSpc>
              <a:buNone/>
            </a:pPr>
            <a:r>
              <a:rPr lang="en-US" sz="1200" dirty="0">
                <a:solidFill>
                  <a:srgbClr val="A6E3A1"/>
                </a:solidFill>
                <a:latin typeface="JetBrains Mono" pitchFamily="49" charset="0"/>
                <a:ea typeface="JetBrains Mono" pitchFamily="49" charset="-122"/>
                <a:cs typeface="JetBrains Mono" pitchFamily="49" charset="-120"/>
              </a:rPr>
              <a:t>&lt;footer</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class</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"pie"</a:t>
            </a:r>
            <a:r>
              <a:rPr lang="en-US" sz="1200" dirty="0">
                <a:solidFill>
                  <a:srgbClr val="A6E3A1"/>
                </a:solidFill>
                <a:latin typeface="JetBrains Mono" pitchFamily="49" charset="0"/>
                <a:ea typeface="JetBrains Mono" pitchFamily="49" charset="-122"/>
                <a:cs typeface="JetBrains Mono" pitchFamily="49" charset="-120"/>
              </a:rPr>
              <a:t>&gt;</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A6E3A1"/>
                </a:solidFill>
                <a:latin typeface="JetBrains Mono" pitchFamily="49" charset="0"/>
                <a:ea typeface="JetBrains Mono" pitchFamily="49" charset="-122"/>
                <a:cs typeface="JetBrains Mono" pitchFamily="49" charset="-120"/>
              </a:rPr>
              <a:t>&lt;/footer&gt;</a:t>
            </a:r>
            <a:endParaRPr lang="en-US" sz="1200" dirty="0"/>
          </a:p>
        </p:txBody>
      </p:sp>
      <p:sp>
        <p:nvSpPr>
          <p:cNvPr id="8" name="Text 6"/>
          <p:cNvSpPr/>
          <p:nvPr/>
        </p:nvSpPr>
        <p:spPr>
          <a:xfrm>
            <a:off x="812800" y="5146041"/>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82B"/>
                </a:solidFill>
                <a:latin typeface="Space Grotesk" pitchFamily="34" charset="0"/>
                <a:ea typeface="Space Grotesk" pitchFamily="34" charset="-122"/>
                <a:cs typeface="Space Grotesk" pitchFamily="34" charset="-120"/>
              </a:rPr>
              <a:t>class</a:t>
            </a:r>
            <a:r>
              <a:rPr lang="en-US" sz="1300" dirty="0">
                <a:solidFill>
                  <a:srgbClr val="5F6475"/>
                </a:solidFill>
                <a:latin typeface="Space Grotesk" pitchFamily="34" charset="0"/>
                <a:ea typeface="Space Grotesk" pitchFamily="34" charset="-122"/>
                <a:cs typeface="Space Grotesk" pitchFamily="34" charset="-120"/>
              </a:rPr>
              <a:t> es un nombre para los estilos: le sirve a quien lee el código, pero no le dice nada al navegador ni al lector de pantalla.</a:t>
            </a:r>
            <a:endParaRPr lang="en-US" sz="1300" dirty="0"/>
          </a:p>
        </p:txBody>
      </p:sp>
      <p:sp>
        <p:nvSpPr>
          <p:cNvPr id="9" name="Text 7"/>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01 · SEMÁNTICA</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Lo que cambia por dentro</a:t>
            </a:r>
            <a:endParaRPr lang="en-US" sz="3600" dirty="0"/>
          </a:p>
        </p:txBody>
      </p:sp>
      <p:sp>
        <p:nvSpPr>
          <p:cNvPr id="4" name="Shape 2"/>
          <p:cNvSpPr/>
          <p:nvPr/>
        </p:nvSpPr>
        <p:spPr>
          <a:xfrm>
            <a:off x="812800" y="1935482"/>
            <a:ext cx="10566400" cy="2476500"/>
          </a:xfrm>
          <a:custGeom>
            <a:avLst/>
            <a:gdLst/>
            <a:ahLst/>
            <a:cxnLst/>
            <a:rect l="l" t="t" r="r" b="b"/>
            <a:pathLst>
              <a:path w="10566400" h="2476500">
                <a:moveTo>
                  <a:pt x="10490200" y="0"/>
                </a:moveTo>
                <a:lnTo>
                  <a:pt x="10490200" y="0"/>
                </a:lnTo>
                <a:arcTo hR="76200" wR="76200" stAng="16200000" swAng="5400000"/>
                <a:lnTo>
                  <a:pt x="10566400" y="2400300"/>
                </a:lnTo>
                <a:arcTo hR="76200" wR="76200" stAng="0" swAng="5400000"/>
                <a:lnTo>
                  <a:pt x="76200" y="2476500"/>
                </a:lnTo>
                <a:arcTo hR="76200" wR="76200" stAng="5400000" swAng="5400000"/>
                <a:lnTo>
                  <a:pt x="0" y="2400300"/>
                </a:lnTo>
                <a:arcTo hR="69850" wR="76200" stAng="10800000" swAng="-5400000"/>
                <a:lnTo>
                  <a:pt x="10490200" y="2470150"/>
                </a:lnTo>
                <a:arcTo hR="69850" wR="69850" stAng="5400000" swAng="-5400000"/>
                <a:lnTo>
                  <a:pt x="10560050" y="76200"/>
                </a:lnTo>
                <a:arcTo hR="76200" wR="69850" stAng="0" swAng="-5400000"/>
                <a:close/>
              </a:path>
            </a:pathLst>
          </a:custGeom>
          <a:solidFill>
            <a:srgbClr val="E4DFD3"/>
          </a:solidFill>
          <a:ln/>
        </p:spPr>
      </p:sp>
      <p:sp>
        <p:nvSpPr>
          <p:cNvPr id="5" name="Shape 3"/>
          <p:cNvSpPr/>
          <p:nvPr/>
        </p:nvSpPr>
        <p:spPr>
          <a:xfrm>
            <a:off x="812800" y="1935482"/>
            <a:ext cx="10566400" cy="2476500"/>
          </a:xfrm>
          <a:custGeom>
            <a:avLst/>
            <a:gdLst/>
            <a:ahLst/>
            <a:cxnLst/>
            <a:rect l="l" t="t" r="r" b="b"/>
            <a:pathLst>
              <a:path w="10566400" h="2476500">
                <a:moveTo>
                  <a:pt x="76200" y="2476500"/>
                </a:moveTo>
                <a:lnTo>
                  <a:pt x="76200" y="2476500"/>
                </a:lnTo>
                <a:arcTo hR="76200" wR="76200" stAng="5400000" swAng="5400000"/>
                <a:lnTo>
                  <a:pt x="0" y="76200"/>
                </a:lnTo>
                <a:arcTo hR="76200" wR="76200" stAng="10800000" swAng="5400000"/>
                <a:lnTo>
                  <a:pt x="10490200" y="0"/>
                </a:lnTo>
                <a:arcTo hR="76200" wR="76200" stAng="16200000" swAng="5400000"/>
                <a:lnTo>
                  <a:pt x="10566400" y="76200"/>
                </a:lnTo>
                <a:arcTo hR="66040" wR="76200" stAng="0" swAng="-5400000"/>
                <a:lnTo>
                  <a:pt x="76200" y="10160"/>
                </a:lnTo>
                <a:arcTo hR="66040" wR="66040" stAng="16200000" swAng="-5400000"/>
                <a:lnTo>
                  <a:pt x="10160" y="2400300"/>
                </a:lnTo>
                <a:arcTo hR="76200" wR="6604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945642"/>
          <a:ext cx="10551160" cy="2461260"/>
        </p:xfrm>
        <a:graphic>
          <a:graphicData uri="http://schemas.openxmlformats.org/drawingml/2006/table">
            <a:tbl>
              <a:tblPr/>
              <a:tblGrid>
                <a:gridCol w="5275580"/>
                <a:gridCol w="2637790"/>
                <a:gridCol w="2637790"/>
              </a:tblGrid>
              <a:tr h="410210">
                <a:tc>
                  <a:txBody>
                    <a:bodyPr/>
                    <a:lstStyle/>
                    <a:p>
                      <a:pPr indent="0" marL="0">
                        <a:lnSpc>
                          <a:spcPts val="2100"/>
                        </a:lnSpc>
                        <a:buNone/>
                      </a:pPr>
                      <a:r>
                        <a:rPr lang="en-US" sz="1500" b="1" dirty="0">
                          <a:solidFill>
                            <a:srgbClr val="F7F5EF"/>
                          </a:solidFill>
                          <a:latin typeface="Space Grotesk" pitchFamily="34" charset="0"/>
                          <a:ea typeface="Space Grotesk" pitchFamily="34" charset="-122"/>
                          <a:cs typeface="Space Grotesk" pitchFamily="34" charset="-120"/>
                        </a:rPr>
                        <a:t>Prueba</a:t>
                      </a:r>
                      <a:endParaRPr lang="en-US" sz="1500" dirty="0">
                        <a:latin typeface="Space Grotesk" charset="0"/>
                        <a:ea typeface="Space Grotesk" charset="0"/>
                        <a:cs typeface="Space Grotesk" charset="0"/>
                      </a:endParaRPr>
                    </a:p>
                  </a:txBody>
                  <a:tcPr marL="66675" marR="66675" marT="66675" marB="66675" anchor="t">
                    <a:lnL w="0" cap="flat" cmpd="sng" algn="ctr">
                      <a:noFill/>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c>
                  <a:txBody>
                    <a:bodyPr/>
                    <a:lstStyle/>
                    <a:p>
                      <a:pPr indent="0" marL="0">
                        <a:lnSpc>
                          <a:spcPts val="2100"/>
                        </a:lnSpc>
                        <a:buNone/>
                      </a:pPr>
                      <a:r>
                        <a:rPr lang="en-US" sz="1500" b="1" dirty="0">
                          <a:solidFill>
                            <a:srgbClr val="F7F5EF"/>
                          </a:solidFill>
                          <a:latin typeface="Space Grotesk" pitchFamily="34" charset="0"/>
                          <a:ea typeface="Space Grotesk" pitchFamily="34" charset="-122"/>
                          <a:cs typeface="Space Grotesk" pitchFamily="34" charset="-120"/>
                        </a:rPr>
                        <a:t>Versión A · div</a:t>
                      </a:r>
                      <a:endParaRPr lang="en-US" sz="1500" dirty="0">
                        <a:latin typeface="Space Grotesk" charset="0"/>
                        <a:ea typeface="Space Grotesk" charset="0"/>
                        <a:cs typeface="Space Grotesk" charset="0"/>
                      </a:endParaRPr>
                    </a:p>
                  </a:txBody>
                  <a:tcPr marL="66675" marR="66675" marT="66675" marB="66675" anchor="t">
                    <a:lnL w="12700" cap="flat" cmpd="sng" algn="ctr">
                      <a:solidFill>
                        <a:srgbClr val="141726"/>
                      </a:solidFill>
                      <a:prstDash val="solid"/>
                      <a:round/>
                      <a:headEnd type="none" w="med" len="med"/>
                      <a:tailEnd type="none" w="med" len="med"/>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c>
                  <a:txBody>
                    <a:bodyPr/>
                    <a:lstStyle/>
                    <a:p>
                      <a:pPr indent="0" marL="0">
                        <a:lnSpc>
                          <a:spcPts val="2100"/>
                        </a:lnSpc>
                        <a:buNone/>
                      </a:pPr>
                      <a:r>
                        <a:rPr lang="en-US" sz="1500" b="1" dirty="0">
                          <a:solidFill>
                            <a:srgbClr val="F7F5EF"/>
                          </a:solidFill>
                          <a:latin typeface="Space Grotesk" pitchFamily="34" charset="0"/>
                          <a:ea typeface="Space Grotesk" pitchFamily="34" charset="-122"/>
                          <a:cs typeface="Space Grotesk" pitchFamily="34" charset="-120"/>
                        </a:rPr>
                        <a:t>Versión B · semántica</a:t>
                      </a:r>
                      <a:endParaRPr lang="en-US" sz="1500" dirty="0">
                        <a:latin typeface="Space Grotesk" charset="0"/>
                        <a:ea typeface="Space Grotesk" charset="0"/>
                        <a:cs typeface="Space Grotesk" charset="0"/>
                      </a:endParaRPr>
                    </a:p>
                  </a:txBody>
                  <a:tcPr marL="66675" marR="66675" marT="66675" marB="66675" anchor="t">
                    <a:lnL w="12700" cap="flat" cmpd="sng" algn="ctr">
                      <a:solidFill>
                        <a:srgbClr val="141726"/>
                      </a:solidFill>
                      <a:prstDash val="solid"/>
                      <a:round/>
                      <a:headEnd type="none" w="med" len="med"/>
                      <a:tailEnd type="none" w="med" len="med"/>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r>
              <a:tr h="410210">
                <a:tc>
                  <a:txBody>
                    <a:bodyPr/>
                    <a:lstStyle/>
                    <a:p>
                      <a:pPr indent="0" marL="0">
                        <a:lnSpc>
                          <a:spcPts val="2100"/>
                        </a:lnSpc>
                        <a:buNone/>
                      </a:pPr>
                      <a:r>
                        <a:rPr lang="en-US" sz="1500" dirty="0">
                          <a:solidFill>
                            <a:srgbClr val="14182B"/>
                          </a:solidFill>
                          <a:latin typeface="Space Grotesk" pitchFamily="34" charset="0"/>
                          <a:ea typeface="Space Grotesk" pitchFamily="34" charset="-122"/>
                          <a:cs typeface="Space Grotesk" pitchFamily="34" charset="-120"/>
                        </a:rPr>
                        <a:t>Se ve igual en pantalla</a:t>
                      </a:r>
                      <a:endParaRPr lang="en-US" sz="1500" dirty="0">
                        <a:latin typeface="Space Grotesk" charset="0"/>
                        <a:ea typeface="Space Grotesk" charset="0"/>
                        <a:cs typeface="Space Grotesk" charset="0"/>
                      </a:endParaRPr>
                    </a:p>
                  </a:txBody>
                  <a:tcPr marL="66675" marR="66675" marT="66675" marB="6667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100"/>
                        </a:lnSpc>
                        <a:buNone/>
                      </a:pPr>
                      <a:r>
                        <a:rPr lang="en-US" sz="1500" dirty="0">
                          <a:solidFill>
                            <a:srgbClr val="14182B"/>
                          </a:solidFill>
                          <a:latin typeface="Space Grotesk" pitchFamily="34" charset="0"/>
                          <a:ea typeface="Space Grotesk" pitchFamily="34" charset="-122"/>
                          <a:cs typeface="Space Grotesk" pitchFamily="34" charset="-120"/>
                        </a:rPr>
                        <a:t>Sí</a:t>
                      </a:r>
                      <a:endParaRPr lang="en-US" sz="1500" dirty="0">
                        <a:latin typeface="Space Grotesk" charset="0"/>
                        <a:ea typeface="Space Grotesk" charset="0"/>
                        <a:cs typeface="Space Grotesk" charset="0"/>
                      </a:endParaRPr>
                    </a:p>
                  </a:txBody>
                  <a:tcPr marL="66675" marR="66675" marT="66675" marB="6667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100"/>
                        </a:lnSpc>
                        <a:buNone/>
                      </a:pPr>
                      <a:r>
                        <a:rPr lang="en-US" sz="1500" dirty="0">
                          <a:solidFill>
                            <a:srgbClr val="14182B"/>
                          </a:solidFill>
                          <a:latin typeface="Space Grotesk" pitchFamily="34" charset="0"/>
                          <a:ea typeface="Space Grotesk" pitchFamily="34" charset="-122"/>
                          <a:cs typeface="Space Grotesk" pitchFamily="34" charset="-120"/>
                        </a:rPr>
                        <a:t>Sí</a:t>
                      </a:r>
                      <a:endParaRPr lang="en-US" sz="1500" dirty="0">
                        <a:latin typeface="Space Grotesk" charset="0"/>
                        <a:ea typeface="Space Grotesk" charset="0"/>
                        <a:cs typeface="Space Grotesk" charset="0"/>
                      </a:endParaRPr>
                    </a:p>
                  </a:txBody>
                  <a:tcPr marL="66675" marR="66675" marT="66675" marB="6667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410210">
                <a:tc>
                  <a:txBody>
                    <a:bodyPr/>
                    <a:lstStyle/>
                    <a:p>
                      <a:pPr indent="0" marL="0">
                        <a:lnSpc>
                          <a:spcPts val="2100"/>
                        </a:lnSpc>
                        <a:buNone/>
                      </a:pPr>
                      <a:r>
                        <a:rPr lang="en-US" sz="1500" dirty="0">
                          <a:solidFill>
                            <a:srgbClr val="14182B"/>
                          </a:solidFill>
                          <a:latin typeface="Space Grotesk" pitchFamily="34" charset="0"/>
                          <a:ea typeface="Space Grotesk" pitchFamily="34" charset="-122"/>
                          <a:cs typeface="Space Grotesk" pitchFamily="34" charset="-120"/>
                        </a:rPr>
                        <a:t>Con Tab llegas a “Hacer pedido”</a:t>
                      </a:r>
                      <a:endParaRPr lang="en-US" sz="1500" dirty="0">
                        <a:latin typeface="Space Grotesk" charset="0"/>
                        <a:ea typeface="Space Grotesk" charset="0"/>
                        <a:cs typeface="Space Grotesk" charset="0"/>
                      </a:endParaRPr>
                    </a:p>
                  </a:txBody>
                  <a:tcPr marL="66675" marR="66675" marT="66675" marB="66675"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2100"/>
                        </a:lnSpc>
                        <a:buNone/>
                      </a:pPr>
                      <a:r>
                        <a:rPr lang="en-US" sz="1500" dirty="0">
                          <a:solidFill>
                            <a:srgbClr val="14182B"/>
                          </a:solidFill>
                          <a:latin typeface="Space Grotesk" pitchFamily="34" charset="0"/>
                          <a:ea typeface="Space Grotesk" pitchFamily="34" charset="-122"/>
                          <a:cs typeface="Space Grotesk" pitchFamily="34" charset="-120"/>
                        </a:rPr>
                        <a:t>No</a:t>
                      </a:r>
                      <a:endParaRPr lang="en-US" sz="1500" dirty="0">
                        <a:latin typeface="Space Grotesk" charset="0"/>
                        <a:ea typeface="Space Grotesk" charset="0"/>
                        <a:cs typeface="Space Grotesk" charset="0"/>
                      </a:endParaRPr>
                    </a:p>
                  </a:txBody>
                  <a:tcPr marL="66675" marR="66675" marT="66675" marB="6667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2100"/>
                        </a:lnSpc>
                        <a:buNone/>
                      </a:pPr>
                      <a:r>
                        <a:rPr lang="en-US" sz="1500" dirty="0">
                          <a:solidFill>
                            <a:srgbClr val="14182B"/>
                          </a:solidFill>
                          <a:latin typeface="Space Grotesk" pitchFamily="34" charset="0"/>
                          <a:ea typeface="Space Grotesk" pitchFamily="34" charset="-122"/>
                          <a:cs typeface="Space Grotesk" pitchFamily="34" charset="-120"/>
                        </a:rPr>
                        <a:t>Sí</a:t>
                      </a:r>
                      <a:endParaRPr lang="en-US" sz="1500" dirty="0">
                        <a:latin typeface="Space Grotesk" charset="0"/>
                        <a:ea typeface="Space Grotesk" charset="0"/>
                        <a:cs typeface="Space Grotesk" charset="0"/>
                      </a:endParaRPr>
                    </a:p>
                  </a:txBody>
                  <a:tcPr marL="66675" marR="66675" marT="66675" marB="6667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r h="410210">
                <a:tc>
                  <a:txBody>
                    <a:bodyPr/>
                    <a:lstStyle/>
                    <a:p>
                      <a:pPr indent="0" marL="0">
                        <a:lnSpc>
                          <a:spcPts val="2100"/>
                        </a:lnSpc>
                        <a:buNone/>
                      </a:pPr>
                      <a:r>
                        <a:rPr lang="en-US" sz="1500" dirty="0">
                          <a:solidFill>
                            <a:srgbClr val="14182B"/>
                          </a:solidFill>
                          <a:latin typeface="Space Grotesk" pitchFamily="34" charset="0"/>
                          <a:ea typeface="Space Grotesk" pitchFamily="34" charset="-122"/>
                          <a:cs typeface="Space Grotesk" pitchFamily="34" charset="-120"/>
                        </a:rPr>
                        <a:t>Encabezados que encuentra el lector de pantalla</a:t>
                      </a:r>
                      <a:endParaRPr lang="en-US" sz="1500" dirty="0">
                        <a:latin typeface="Space Grotesk" charset="0"/>
                        <a:ea typeface="Space Grotesk" charset="0"/>
                        <a:cs typeface="Space Grotesk" charset="0"/>
                      </a:endParaRPr>
                    </a:p>
                  </a:txBody>
                  <a:tcPr marL="66675" marR="66675" marT="66675" marB="6667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100"/>
                        </a:lnSpc>
                        <a:buNone/>
                      </a:pPr>
                      <a:r>
                        <a:rPr lang="en-US" sz="1500" dirty="0">
                          <a:solidFill>
                            <a:srgbClr val="14182B"/>
                          </a:solidFill>
                          <a:latin typeface="Space Grotesk" pitchFamily="34" charset="0"/>
                          <a:ea typeface="Space Grotesk" pitchFamily="34" charset="-122"/>
                          <a:cs typeface="Space Grotesk" pitchFamily="34" charset="-120"/>
                        </a:rPr>
                        <a:t>0</a:t>
                      </a:r>
                      <a:endParaRPr lang="en-US" sz="1500" dirty="0">
                        <a:latin typeface="Space Grotesk" charset="0"/>
                        <a:ea typeface="Space Grotesk" charset="0"/>
                        <a:cs typeface="Space Grotesk" charset="0"/>
                      </a:endParaRPr>
                    </a:p>
                  </a:txBody>
                  <a:tcPr marL="66675" marR="66675" marT="66675" marB="6667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100"/>
                        </a:lnSpc>
                        <a:buNone/>
                      </a:pPr>
                      <a:r>
                        <a:rPr lang="en-US" sz="1500" dirty="0">
                          <a:solidFill>
                            <a:srgbClr val="14182B"/>
                          </a:solidFill>
                          <a:latin typeface="Space Grotesk" pitchFamily="34" charset="0"/>
                          <a:ea typeface="Space Grotesk" pitchFamily="34" charset="-122"/>
                          <a:cs typeface="Space Grotesk" pitchFamily="34" charset="-120"/>
                        </a:rPr>
                        <a:t>5</a:t>
                      </a:r>
                      <a:endParaRPr lang="en-US" sz="1500" dirty="0">
                        <a:latin typeface="Space Grotesk" charset="0"/>
                        <a:ea typeface="Space Grotesk" charset="0"/>
                        <a:cs typeface="Space Grotesk" charset="0"/>
                      </a:endParaRPr>
                    </a:p>
                  </a:txBody>
                  <a:tcPr marL="66675" marR="66675" marT="66675" marB="6667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410210">
                <a:tc>
                  <a:txBody>
                    <a:bodyPr/>
                    <a:lstStyle/>
                    <a:p>
                      <a:pPr indent="0" marL="0">
                        <a:lnSpc>
                          <a:spcPts val="2100"/>
                        </a:lnSpc>
                        <a:buNone/>
                      </a:pPr>
                      <a:r>
                        <a:rPr lang="en-US" sz="1500" dirty="0">
                          <a:solidFill>
                            <a:srgbClr val="14182B"/>
                          </a:solidFill>
                          <a:latin typeface="Space Grotesk" pitchFamily="34" charset="0"/>
                          <a:ea typeface="Space Grotesk" pitchFamily="34" charset="-122"/>
                          <a:cs typeface="Space Grotesk" pitchFamily="34" charset="-120"/>
                        </a:rPr>
                        <a:t>Landmarks (header, nav, main, aside, footer)</a:t>
                      </a:r>
                      <a:endParaRPr lang="en-US" sz="1500" dirty="0">
                        <a:latin typeface="Space Grotesk" charset="0"/>
                        <a:ea typeface="Space Grotesk" charset="0"/>
                        <a:cs typeface="Space Grotesk" charset="0"/>
                      </a:endParaRPr>
                    </a:p>
                  </a:txBody>
                  <a:tcPr marL="66675" marR="66675" marT="66675" marB="66675"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2100"/>
                        </a:lnSpc>
                        <a:buNone/>
                      </a:pPr>
                      <a:r>
                        <a:rPr lang="en-US" sz="1500" dirty="0">
                          <a:solidFill>
                            <a:srgbClr val="14182B"/>
                          </a:solidFill>
                          <a:latin typeface="Space Grotesk" pitchFamily="34" charset="0"/>
                          <a:ea typeface="Space Grotesk" pitchFamily="34" charset="-122"/>
                          <a:cs typeface="Space Grotesk" pitchFamily="34" charset="-120"/>
                        </a:rPr>
                        <a:t>0</a:t>
                      </a:r>
                      <a:endParaRPr lang="en-US" sz="1500" dirty="0">
                        <a:latin typeface="Space Grotesk" charset="0"/>
                        <a:ea typeface="Space Grotesk" charset="0"/>
                        <a:cs typeface="Space Grotesk" charset="0"/>
                      </a:endParaRPr>
                    </a:p>
                  </a:txBody>
                  <a:tcPr marL="66675" marR="66675" marT="66675" marB="6667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2100"/>
                        </a:lnSpc>
                        <a:buNone/>
                      </a:pPr>
                      <a:r>
                        <a:rPr lang="en-US" sz="1500" dirty="0">
                          <a:solidFill>
                            <a:srgbClr val="14182B"/>
                          </a:solidFill>
                          <a:latin typeface="Space Grotesk" pitchFamily="34" charset="0"/>
                          <a:ea typeface="Space Grotesk" pitchFamily="34" charset="-122"/>
                          <a:cs typeface="Space Grotesk" pitchFamily="34" charset="-120"/>
                        </a:rPr>
                        <a:t>5</a:t>
                      </a:r>
                      <a:endParaRPr lang="en-US" sz="1500" dirty="0">
                        <a:latin typeface="Space Grotesk" charset="0"/>
                        <a:ea typeface="Space Grotesk" charset="0"/>
                        <a:cs typeface="Space Grotesk" charset="0"/>
                      </a:endParaRPr>
                    </a:p>
                  </a:txBody>
                  <a:tcPr marL="66675" marR="66675" marT="66675" marB="6667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r h="410210">
                <a:tc>
                  <a:txBody>
                    <a:bodyPr/>
                    <a:lstStyle/>
                    <a:p>
                      <a:pPr indent="0" marL="0">
                        <a:lnSpc>
                          <a:spcPts val="2100"/>
                        </a:lnSpc>
                        <a:buNone/>
                      </a:pPr>
                      <a:r>
                        <a:rPr lang="en-US" sz="1500" dirty="0">
                          <a:solidFill>
                            <a:srgbClr val="14182B"/>
                          </a:solidFill>
                          <a:latin typeface="Space Grotesk" pitchFamily="34" charset="0"/>
                          <a:ea typeface="Space Grotesk" pitchFamily="34" charset="-122"/>
                          <a:cs typeface="Space Grotesk" pitchFamily="34" charset="-120"/>
                        </a:rPr>
                        <a:t>Lighthouse · Accesibilidad</a:t>
                      </a:r>
                      <a:endParaRPr lang="en-US" sz="1500" dirty="0">
                        <a:latin typeface="Space Grotesk" charset="0"/>
                        <a:ea typeface="Space Grotesk" charset="0"/>
                        <a:cs typeface="Space Grotesk" charset="0"/>
                      </a:endParaRPr>
                    </a:p>
                  </a:txBody>
                  <a:tcPr marL="66675" marR="66675" marT="66675" marB="6667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100"/>
                        </a:lnSpc>
                        <a:buNone/>
                      </a:pPr>
                      <a:r>
                        <a:rPr lang="en-US" sz="1500" dirty="0">
                          <a:solidFill>
                            <a:srgbClr val="14182B"/>
                          </a:solidFill>
                          <a:latin typeface="Space Grotesk" pitchFamily="34" charset="0"/>
                          <a:ea typeface="Space Grotesk" pitchFamily="34" charset="-122"/>
                          <a:cs typeface="Space Grotesk" pitchFamily="34" charset="-120"/>
                        </a:rPr>
                        <a:t>95</a:t>
                      </a:r>
                      <a:endParaRPr lang="en-US" sz="1500" dirty="0">
                        <a:latin typeface="Space Grotesk" charset="0"/>
                        <a:ea typeface="Space Grotesk" charset="0"/>
                        <a:cs typeface="Space Grotesk" charset="0"/>
                      </a:endParaRPr>
                    </a:p>
                  </a:txBody>
                  <a:tcPr marL="66675" marR="66675" marT="66675" marB="6667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2100"/>
                        </a:lnSpc>
                        <a:buNone/>
                      </a:pPr>
                      <a:r>
                        <a:rPr lang="en-US" sz="1500" dirty="0">
                          <a:solidFill>
                            <a:srgbClr val="14182B"/>
                          </a:solidFill>
                          <a:latin typeface="Space Grotesk" pitchFamily="34" charset="0"/>
                          <a:ea typeface="Space Grotesk" pitchFamily="34" charset="-122"/>
                          <a:cs typeface="Space Grotesk" pitchFamily="34" charset="-120"/>
                        </a:rPr>
                        <a:t>100</a:t>
                      </a:r>
                      <a:endParaRPr lang="en-US" sz="1500" dirty="0">
                        <a:latin typeface="Space Grotesk" charset="0"/>
                        <a:ea typeface="Space Grotesk" charset="0"/>
                        <a:cs typeface="Space Grotesk" charset="0"/>
                      </a:endParaRPr>
                    </a:p>
                  </a:txBody>
                  <a:tcPr marL="66675" marR="66675" marT="66675" marB="6667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7" name="Shape 4"/>
          <p:cNvSpPr/>
          <p:nvPr/>
        </p:nvSpPr>
        <p:spPr>
          <a:xfrm>
            <a:off x="812800" y="4716782"/>
            <a:ext cx="10566400" cy="939800"/>
          </a:xfrm>
          <a:prstGeom prst="roundRect">
            <a:avLst>
              <a:gd name="adj" fmla="val 10811"/>
            </a:avLst>
          </a:prstGeom>
          <a:solidFill>
            <a:srgbClr val="14182B"/>
          </a:solidFill>
          <a:ln/>
        </p:spPr>
      </p:sp>
      <p:pic>
        <p:nvPicPr>
          <p:cNvPr id="8" name="Image 0" descr="Warning">    </p:cNvPr>
          <p:cNvPicPr>
            <a:picLocks noChangeAspect="1"/>
          </p:cNvPicPr>
          <p:nvPr/>
        </p:nvPicPr>
        <p:blipFill>
          <a:blip r:embed="rId1"/>
          <a:srcRect l="0" r="0" t="-315" b="-315"/>
          <a:stretch/>
        </p:blipFill>
        <p:spPr>
          <a:xfrm>
            <a:off x="1066800" y="5021582"/>
            <a:ext cx="227171" cy="330200"/>
          </a:xfrm>
          <a:prstGeom prst="rect">
            <a:avLst/>
          </a:prstGeom>
        </p:spPr>
      </p:pic>
      <p:sp>
        <p:nvSpPr>
          <p:cNvPr id="9" name="Text 5"/>
          <p:cNvSpPr/>
          <p:nvPr/>
        </p:nvSpPr>
        <p:spPr>
          <a:xfrm>
            <a:off x="1446371" y="4919982"/>
            <a:ext cx="9969193"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7F5EF"/>
                </a:solidFill>
                <a:latin typeface="Space Grotesk" pitchFamily="34" charset="0"/>
                <a:ea typeface="Space Grotesk" pitchFamily="34" charset="-122"/>
                <a:cs typeface="Space Grotesk" pitchFamily="34" charset="-120"/>
              </a:rPr>
              <a:t>Lighthouse casi aprueba las dos.</a:t>
            </a:r>
            <a:r>
              <a:rPr lang="en-US" sz="1500" dirty="0">
                <a:solidFill>
                  <a:srgbClr val="F7F5EF"/>
                </a:solidFill>
                <a:latin typeface="Space Grotesk" pitchFamily="34" charset="0"/>
                <a:ea typeface="Space Grotesk" pitchFamily="34" charset="-122"/>
                <a:cs typeface="Space Grotesk" pitchFamily="34" charset="-120"/>
              </a:rPr>
              <a:t> Quien navega con teclado o con lector de pantalla, no. Las herramientas automáticas ayudan, pero no lo detectan todo.</a:t>
            </a:r>
            <a:endParaRPr lang="en-US" sz="1500" dirty="0"/>
          </a:p>
        </p:txBody>
      </p:sp>
      <p:sp>
        <p:nvSpPr>
          <p:cNvPr id="10" name="Text 6"/>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01 · SEMÁNTICA</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Los landmarks: el mapa de tu página</a:t>
            </a:r>
            <a:endParaRPr lang="en-US" sz="3600" dirty="0"/>
          </a:p>
        </p:txBody>
      </p:sp>
      <p:sp>
        <p:nvSpPr>
          <p:cNvPr id="4" name="Shape 2"/>
          <p:cNvSpPr/>
          <p:nvPr/>
        </p:nvSpPr>
        <p:spPr>
          <a:xfrm>
            <a:off x="812800" y="1884682"/>
            <a:ext cx="6604000" cy="863600"/>
          </a:xfrm>
          <a:prstGeom prst="roundRect">
            <a:avLst>
              <a:gd name="adj" fmla="val 8824"/>
            </a:avLst>
          </a:prstGeom>
          <a:solidFill>
            <a:srgbClr val="14182B"/>
          </a:solidFill>
          <a:ln/>
        </p:spPr>
      </p:sp>
      <p:sp>
        <p:nvSpPr>
          <p:cNvPr id="5" name="Text 3"/>
          <p:cNvSpPr/>
          <p:nvPr/>
        </p:nvSpPr>
        <p:spPr>
          <a:xfrm>
            <a:off x="965200" y="2087882"/>
            <a:ext cx="95097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8A5C"/>
                </a:solidFill>
                <a:latin typeface="JetBrains Mono" pitchFamily="49" charset="0"/>
                <a:ea typeface="JetBrains Mono" pitchFamily="49" charset="-122"/>
                <a:cs typeface="JetBrains Mono" pitchFamily="49" charset="-120"/>
              </a:rPr>
              <a:t>&lt;header&gt;</a:t>
            </a:r>
            <a:endParaRPr lang="en-US" sz="1300" dirty="0"/>
          </a:p>
        </p:txBody>
      </p:sp>
      <p:sp>
        <p:nvSpPr>
          <p:cNvPr id="6" name="Text 4"/>
          <p:cNvSpPr/>
          <p:nvPr/>
        </p:nvSpPr>
        <p:spPr>
          <a:xfrm>
            <a:off x="965200" y="2331721"/>
            <a:ext cx="950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8"/>
                </a:solidFill>
                <a:latin typeface="Space Grotesk" pitchFamily="34" charset="0"/>
                <a:ea typeface="Space Grotesk" pitchFamily="34" charset="-122"/>
                <a:cs typeface="Space Grotesk" pitchFamily="34" charset="-120"/>
              </a:rPr>
              <a:t>rol: banner</a:t>
            </a:r>
            <a:endParaRPr lang="en-US" sz="1200" dirty="0"/>
          </a:p>
        </p:txBody>
      </p:sp>
      <p:sp>
        <p:nvSpPr>
          <p:cNvPr id="7" name="Shape 5"/>
          <p:cNvSpPr/>
          <p:nvPr/>
        </p:nvSpPr>
        <p:spPr>
          <a:xfrm>
            <a:off x="5974239" y="2011682"/>
            <a:ext cx="1290161" cy="609600"/>
          </a:xfrm>
          <a:prstGeom prst="roundRect">
            <a:avLst>
              <a:gd name="adj" fmla="val 10417"/>
            </a:avLst>
          </a:prstGeom>
          <a:solidFill>
            <a:srgbClr val="2A3150"/>
          </a:solidFill>
          <a:ln/>
        </p:spPr>
      </p:sp>
      <p:sp>
        <p:nvSpPr>
          <p:cNvPr id="8" name="Text 6"/>
          <p:cNvSpPr/>
          <p:nvPr/>
        </p:nvSpPr>
        <p:spPr>
          <a:xfrm>
            <a:off x="6101239" y="2087882"/>
            <a:ext cx="108696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8A5C"/>
                </a:solidFill>
                <a:latin typeface="JetBrains Mono" pitchFamily="49" charset="0"/>
                <a:ea typeface="JetBrains Mono" pitchFamily="49" charset="-122"/>
                <a:cs typeface="JetBrains Mono" pitchFamily="49" charset="-120"/>
              </a:rPr>
              <a:t>&lt;nav&gt;</a:t>
            </a:r>
            <a:endParaRPr lang="en-US" sz="1300" dirty="0"/>
          </a:p>
        </p:txBody>
      </p:sp>
      <p:sp>
        <p:nvSpPr>
          <p:cNvPr id="9" name="Text 7"/>
          <p:cNvSpPr/>
          <p:nvPr/>
        </p:nvSpPr>
        <p:spPr>
          <a:xfrm>
            <a:off x="6101239" y="2331721"/>
            <a:ext cx="11631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8"/>
                </a:solidFill>
                <a:latin typeface="Space Grotesk" pitchFamily="34" charset="0"/>
                <a:ea typeface="Space Grotesk" pitchFamily="34" charset="-122"/>
                <a:cs typeface="Space Grotesk" pitchFamily="34" charset="-120"/>
              </a:rPr>
              <a:t>rol: navigation</a:t>
            </a:r>
            <a:endParaRPr lang="en-US" sz="1200" dirty="0"/>
          </a:p>
        </p:txBody>
      </p:sp>
      <p:sp>
        <p:nvSpPr>
          <p:cNvPr id="10" name="Shape 8"/>
          <p:cNvSpPr/>
          <p:nvPr/>
        </p:nvSpPr>
        <p:spPr>
          <a:xfrm>
            <a:off x="819150" y="2856232"/>
            <a:ext cx="4709160" cy="1236980"/>
          </a:xfrm>
          <a:prstGeom prst="roundRect">
            <a:avLst>
              <a:gd name="adj" fmla="val 5647"/>
            </a:avLst>
          </a:prstGeom>
          <a:solidFill>
            <a:srgbClr val="FFFDF8"/>
          </a:solidFill>
          <a:ln w="12700">
            <a:solidFill>
              <a:srgbClr val="E8572A"/>
            </a:solidFill>
            <a:prstDash val="solid"/>
          </a:ln>
        </p:spPr>
      </p:sp>
      <p:sp>
        <p:nvSpPr>
          <p:cNvPr id="11" name="Text 9"/>
          <p:cNvSpPr/>
          <p:nvPr/>
        </p:nvSpPr>
        <p:spPr>
          <a:xfrm>
            <a:off x="975360" y="2987039"/>
            <a:ext cx="69596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2410C"/>
                </a:solidFill>
                <a:latin typeface="JetBrains Mono" pitchFamily="49" charset="0"/>
                <a:ea typeface="JetBrains Mono" pitchFamily="49" charset="-122"/>
                <a:cs typeface="JetBrains Mono" pitchFamily="49" charset="-120"/>
              </a:rPr>
              <a:t>&lt;main&gt;</a:t>
            </a:r>
            <a:endParaRPr lang="en-US" sz="1300" dirty="0"/>
          </a:p>
        </p:txBody>
      </p:sp>
      <p:sp>
        <p:nvSpPr>
          <p:cNvPr id="12" name="Text 10"/>
          <p:cNvSpPr/>
          <p:nvPr/>
        </p:nvSpPr>
        <p:spPr>
          <a:xfrm>
            <a:off x="1671320" y="3002282"/>
            <a:ext cx="21950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Space Grotesk" pitchFamily="34" charset="0"/>
                <a:ea typeface="Space Grotesk" pitchFamily="34" charset="-122"/>
                <a:cs typeface="Space Grotesk" pitchFamily="34" charset="-120"/>
              </a:rPr>
              <a:t>rol: main · uno por página</a:t>
            </a:r>
            <a:endParaRPr lang="en-US" sz="1200" dirty="0"/>
          </a:p>
        </p:txBody>
      </p:sp>
      <p:sp>
        <p:nvSpPr>
          <p:cNvPr id="13" name="Shape 11"/>
          <p:cNvSpPr/>
          <p:nvPr/>
        </p:nvSpPr>
        <p:spPr>
          <a:xfrm>
            <a:off x="975360" y="3307082"/>
            <a:ext cx="2153920" cy="655320"/>
          </a:xfrm>
          <a:prstGeom prst="roundRect">
            <a:avLst>
              <a:gd name="adj" fmla="val 9690"/>
            </a:avLst>
          </a:prstGeom>
          <a:solidFill>
            <a:srgbClr val="EDE9DF"/>
          </a:solidFill>
          <a:ln/>
        </p:spPr>
      </p:sp>
      <p:sp>
        <p:nvSpPr>
          <p:cNvPr id="14" name="Text 12"/>
          <p:cNvSpPr/>
          <p:nvPr/>
        </p:nvSpPr>
        <p:spPr>
          <a:xfrm>
            <a:off x="1102360" y="3408682"/>
            <a:ext cx="195691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&lt;section&gt;</a:t>
            </a:r>
            <a:endParaRPr lang="en-US" sz="1200" dirty="0"/>
          </a:p>
        </p:txBody>
      </p:sp>
      <p:sp>
        <p:nvSpPr>
          <p:cNvPr id="15" name="Text 13"/>
          <p:cNvSpPr/>
          <p:nvPr/>
        </p:nvSpPr>
        <p:spPr>
          <a:xfrm>
            <a:off x="1102360" y="3647439"/>
            <a:ext cx="19569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045"/>
                </a:solidFill>
                <a:latin typeface="Space Grotesk" pitchFamily="34" charset="0"/>
                <a:ea typeface="Space Grotesk" pitchFamily="34" charset="-122"/>
                <a:cs typeface="Space Grotesk" pitchFamily="34" charset="-120"/>
              </a:rPr>
              <a:t>un tema con su h2</a:t>
            </a:r>
            <a:endParaRPr lang="en-US" sz="1200" dirty="0"/>
          </a:p>
        </p:txBody>
      </p:sp>
      <p:sp>
        <p:nvSpPr>
          <p:cNvPr id="16" name="Shape 14"/>
          <p:cNvSpPr/>
          <p:nvPr/>
        </p:nvSpPr>
        <p:spPr>
          <a:xfrm>
            <a:off x="3218180" y="3307082"/>
            <a:ext cx="2153920" cy="655320"/>
          </a:xfrm>
          <a:prstGeom prst="roundRect">
            <a:avLst>
              <a:gd name="adj" fmla="val 9690"/>
            </a:avLst>
          </a:prstGeom>
          <a:solidFill>
            <a:srgbClr val="EDE9DF"/>
          </a:solidFill>
          <a:ln/>
        </p:spPr>
      </p:sp>
      <p:sp>
        <p:nvSpPr>
          <p:cNvPr id="17" name="Text 15"/>
          <p:cNvSpPr/>
          <p:nvPr/>
        </p:nvSpPr>
        <p:spPr>
          <a:xfrm>
            <a:off x="3345180" y="3408682"/>
            <a:ext cx="195691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&lt;article&gt;</a:t>
            </a:r>
            <a:endParaRPr lang="en-US" sz="1200" dirty="0"/>
          </a:p>
        </p:txBody>
      </p:sp>
      <p:sp>
        <p:nvSpPr>
          <p:cNvPr id="18" name="Text 16"/>
          <p:cNvSpPr/>
          <p:nvPr/>
        </p:nvSpPr>
        <p:spPr>
          <a:xfrm>
            <a:off x="3345180" y="3647439"/>
            <a:ext cx="19569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045"/>
                </a:solidFill>
                <a:latin typeface="Space Grotesk" pitchFamily="34" charset="0"/>
                <a:ea typeface="Space Grotesk" pitchFamily="34" charset="-122"/>
                <a:cs typeface="Space Grotesk" pitchFamily="34" charset="-120"/>
              </a:rPr>
              <a:t>tiene sentido solo</a:t>
            </a:r>
            <a:endParaRPr lang="en-US" sz="1200" dirty="0"/>
          </a:p>
        </p:txBody>
      </p:sp>
      <p:sp>
        <p:nvSpPr>
          <p:cNvPr id="19" name="Shape 17"/>
          <p:cNvSpPr/>
          <p:nvPr/>
        </p:nvSpPr>
        <p:spPr>
          <a:xfrm>
            <a:off x="5639435" y="2853057"/>
            <a:ext cx="1774190" cy="1243330"/>
          </a:xfrm>
          <a:prstGeom prst="roundRect">
            <a:avLst>
              <a:gd name="adj" fmla="val 5873"/>
            </a:avLst>
          </a:prstGeom>
          <a:solidFill>
            <a:srgbClr val="FFFDF8"/>
          </a:solidFill>
          <a:ln w="6350">
            <a:solidFill>
              <a:srgbClr val="E4DFD3"/>
            </a:solidFill>
            <a:prstDash val="solid"/>
          </a:ln>
        </p:spPr>
      </p:sp>
      <p:sp>
        <p:nvSpPr>
          <p:cNvPr id="20" name="Text 18"/>
          <p:cNvSpPr/>
          <p:nvPr/>
        </p:nvSpPr>
        <p:spPr>
          <a:xfrm>
            <a:off x="5793740" y="2981961"/>
            <a:ext cx="151638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82B"/>
                </a:solidFill>
                <a:latin typeface="JetBrains Mono" pitchFamily="49" charset="0"/>
                <a:ea typeface="JetBrains Mono" pitchFamily="49" charset="-122"/>
                <a:cs typeface="JetBrains Mono" pitchFamily="49" charset="-120"/>
              </a:rPr>
              <a:t>&lt;aside&gt;</a:t>
            </a:r>
            <a:endParaRPr lang="en-US" sz="1300" dirty="0"/>
          </a:p>
        </p:txBody>
      </p:sp>
      <p:sp>
        <p:nvSpPr>
          <p:cNvPr id="21" name="Text 19"/>
          <p:cNvSpPr/>
          <p:nvPr/>
        </p:nvSpPr>
        <p:spPr>
          <a:xfrm>
            <a:off x="5793740" y="3225800"/>
            <a:ext cx="16167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Space Grotesk" pitchFamily="34" charset="0"/>
                <a:ea typeface="Space Grotesk" pitchFamily="34" charset="-122"/>
                <a:cs typeface="Space Grotesk" pitchFamily="34" charset="-120"/>
              </a:rPr>
              <a:t>rol: complementary</a:t>
            </a:r>
            <a:endParaRPr lang="en-US" sz="1200" dirty="0"/>
          </a:p>
        </p:txBody>
      </p:sp>
      <p:sp>
        <p:nvSpPr>
          <p:cNvPr id="22" name="Shape 20"/>
          <p:cNvSpPr/>
          <p:nvPr/>
        </p:nvSpPr>
        <p:spPr>
          <a:xfrm>
            <a:off x="812800" y="4201161"/>
            <a:ext cx="6604000" cy="485140"/>
          </a:xfrm>
          <a:prstGeom prst="roundRect">
            <a:avLst>
              <a:gd name="adj" fmla="val 15707"/>
            </a:avLst>
          </a:prstGeom>
          <a:solidFill>
            <a:srgbClr val="14182B"/>
          </a:solidFill>
          <a:ln/>
        </p:spPr>
      </p:sp>
      <p:sp>
        <p:nvSpPr>
          <p:cNvPr id="23" name="Text 21"/>
          <p:cNvSpPr/>
          <p:nvPr/>
        </p:nvSpPr>
        <p:spPr>
          <a:xfrm>
            <a:off x="965200" y="4328161"/>
            <a:ext cx="89408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8A5C"/>
                </a:solidFill>
                <a:latin typeface="JetBrains Mono" pitchFamily="49" charset="0"/>
                <a:ea typeface="JetBrains Mono" pitchFamily="49" charset="-122"/>
                <a:cs typeface="JetBrains Mono" pitchFamily="49" charset="-120"/>
              </a:rPr>
              <a:t>&lt;footer&gt;</a:t>
            </a:r>
            <a:endParaRPr lang="en-US" sz="1300" dirty="0"/>
          </a:p>
        </p:txBody>
      </p:sp>
      <p:sp>
        <p:nvSpPr>
          <p:cNvPr id="24" name="Text 22"/>
          <p:cNvSpPr/>
          <p:nvPr/>
        </p:nvSpPr>
        <p:spPr>
          <a:xfrm>
            <a:off x="1859280" y="4343400"/>
            <a:ext cx="13753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8"/>
                </a:solidFill>
                <a:latin typeface="Space Grotesk" pitchFamily="34" charset="0"/>
                <a:ea typeface="Space Grotesk" pitchFamily="34" charset="-122"/>
                <a:cs typeface="Space Grotesk" pitchFamily="34" charset="-120"/>
              </a:rPr>
              <a:t>rol: contentinfo</a:t>
            </a:r>
            <a:endParaRPr lang="en-US" sz="1200" dirty="0"/>
          </a:p>
        </p:txBody>
      </p:sp>
      <p:sp>
        <p:nvSpPr>
          <p:cNvPr id="25" name="Shape 23"/>
          <p:cNvSpPr/>
          <p:nvPr/>
        </p:nvSpPr>
        <p:spPr>
          <a:xfrm>
            <a:off x="7740650" y="1884682"/>
            <a:ext cx="0" cy="548640"/>
          </a:xfrm>
          <a:prstGeom prst="line">
            <a:avLst/>
          </a:prstGeom>
          <a:noFill/>
          <a:ln w="38100">
            <a:solidFill>
              <a:srgbClr val="E8572A"/>
            </a:solidFill>
            <a:prstDash val="solid"/>
          </a:ln>
        </p:spPr>
      </p:sp>
      <p:sp>
        <p:nvSpPr>
          <p:cNvPr id="26" name="Text 24"/>
          <p:cNvSpPr/>
          <p:nvPr/>
        </p:nvSpPr>
        <p:spPr>
          <a:xfrm>
            <a:off x="7909560" y="1910082"/>
            <a:ext cx="357372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Cada landmark es una parada: con un lector de pantalla saltas directo a ella.</a:t>
            </a:r>
            <a:endParaRPr lang="en-US" sz="1400" dirty="0"/>
          </a:p>
        </p:txBody>
      </p:sp>
      <p:sp>
        <p:nvSpPr>
          <p:cNvPr id="27" name="Shape 25"/>
          <p:cNvSpPr/>
          <p:nvPr/>
        </p:nvSpPr>
        <p:spPr>
          <a:xfrm>
            <a:off x="7740650" y="2611121"/>
            <a:ext cx="0" cy="548640"/>
          </a:xfrm>
          <a:prstGeom prst="line">
            <a:avLst/>
          </a:prstGeom>
          <a:noFill/>
          <a:ln w="38100">
            <a:solidFill>
              <a:srgbClr val="E8572A"/>
            </a:solidFill>
            <a:prstDash val="solid"/>
          </a:ln>
        </p:spPr>
      </p:sp>
      <p:sp>
        <p:nvSpPr>
          <p:cNvPr id="28" name="Text 26"/>
          <p:cNvSpPr/>
          <p:nvPr/>
        </p:nvSpPr>
        <p:spPr>
          <a:xfrm>
            <a:off x="7909560" y="2636521"/>
            <a:ext cx="357372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Un solo </a:t>
            </a:r>
            <a:r>
              <a:rPr lang="en-US" sz="1400" b="1" dirty="0">
                <a:solidFill>
                  <a:srgbClr val="2B3045"/>
                </a:solidFill>
                <a:latin typeface="Space Grotesk" pitchFamily="34" charset="0"/>
                <a:ea typeface="Space Grotesk" pitchFamily="34" charset="-122"/>
                <a:cs typeface="Space Grotesk" pitchFamily="34" charset="-120"/>
              </a:rPr>
              <a:t>main</a:t>
            </a:r>
            <a:r>
              <a:rPr lang="en-US" sz="1400" dirty="0">
                <a:solidFill>
                  <a:srgbClr val="2B3045"/>
                </a:solidFill>
                <a:latin typeface="Space Grotesk" pitchFamily="34" charset="0"/>
                <a:ea typeface="Space Grotesk" pitchFamily="34" charset="-122"/>
                <a:cs typeface="Space Grotesk" pitchFamily="34" charset="-120"/>
              </a:rPr>
              <a:t> por página, con el contenido que solo existe ahí.</a:t>
            </a:r>
            <a:endParaRPr lang="en-US" sz="1400" dirty="0"/>
          </a:p>
        </p:txBody>
      </p:sp>
      <p:sp>
        <p:nvSpPr>
          <p:cNvPr id="29" name="Shape 27"/>
          <p:cNvSpPr/>
          <p:nvPr/>
        </p:nvSpPr>
        <p:spPr>
          <a:xfrm>
            <a:off x="7740650" y="3337561"/>
            <a:ext cx="0" cy="548640"/>
          </a:xfrm>
          <a:prstGeom prst="line">
            <a:avLst/>
          </a:prstGeom>
          <a:noFill/>
          <a:ln w="38100">
            <a:solidFill>
              <a:srgbClr val="E8572A"/>
            </a:solidFill>
            <a:prstDash val="solid"/>
          </a:ln>
        </p:spPr>
      </p:sp>
      <p:sp>
        <p:nvSpPr>
          <p:cNvPr id="30" name="Text 28"/>
          <p:cNvSpPr/>
          <p:nvPr/>
        </p:nvSpPr>
        <p:spPr>
          <a:xfrm>
            <a:off x="7909560" y="3362961"/>
            <a:ext cx="357372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header y footer dentro de un article son del artículo, no de la página.</a:t>
            </a:r>
            <a:endParaRPr lang="en-US" sz="1400" dirty="0"/>
          </a:p>
        </p:txBody>
      </p:sp>
      <p:sp>
        <p:nvSpPr>
          <p:cNvPr id="31" name="Text 29"/>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01 · SEMÁNTICA</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Tres razones para usar la etiqueta correcta</a:t>
            </a:r>
            <a:endParaRPr lang="en-US" sz="3600" dirty="0"/>
          </a:p>
        </p:txBody>
      </p:sp>
      <p:sp>
        <p:nvSpPr>
          <p:cNvPr id="4" name="Shape 2"/>
          <p:cNvSpPr/>
          <p:nvPr/>
        </p:nvSpPr>
        <p:spPr>
          <a:xfrm>
            <a:off x="815975" y="1938657"/>
            <a:ext cx="3380264" cy="2233930"/>
          </a:xfrm>
          <a:prstGeom prst="roundRect">
            <a:avLst>
              <a:gd name="adj" fmla="val 4406"/>
            </a:avLst>
          </a:prstGeom>
          <a:solidFill>
            <a:srgbClr val="FFFDF8"/>
          </a:solidFill>
          <a:ln w="6350">
            <a:solidFill>
              <a:srgbClr val="E4DFD3"/>
            </a:solidFill>
            <a:prstDash val="solid"/>
          </a:ln>
        </p:spPr>
      </p:sp>
      <p:pic>
        <p:nvPicPr>
          <p:cNvPr id="5" name="Image 0" descr="Users">    </p:cNvPr>
          <p:cNvPicPr>
            <a:picLocks noChangeAspect="1"/>
          </p:cNvPicPr>
          <p:nvPr/>
        </p:nvPicPr>
        <p:blipFill>
          <a:blip r:embed="rId1"/>
          <a:srcRect l="0" r="0" t="0" b="0"/>
          <a:stretch/>
        </p:blipFill>
        <p:spPr>
          <a:xfrm>
            <a:off x="1046480" y="2169161"/>
            <a:ext cx="330200" cy="330200"/>
          </a:xfrm>
          <a:prstGeom prst="rect">
            <a:avLst/>
          </a:prstGeom>
        </p:spPr>
      </p:pic>
      <p:sp>
        <p:nvSpPr>
          <p:cNvPr id="6" name="Text 3"/>
          <p:cNvSpPr/>
          <p:nvPr/>
        </p:nvSpPr>
        <p:spPr>
          <a:xfrm>
            <a:off x="1046480" y="2600961"/>
            <a:ext cx="300683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Accesibilidad</a:t>
            </a:r>
            <a:endParaRPr lang="en-US" sz="1600" dirty="0"/>
          </a:p>
        </p:txBody>
      </p:sp>
      <p:sp>
        <p:nvSpPr>
          <p:cNvPr id="7" name="Text 4"/>
          <p:cNvSpPr/>
          <p:nvPr/>
        </p:nvSpPr>
        <p:spPr>
          <a:xfrm>
            <a:off x="1046480" y="2946400"/>
            <a:ext cx="3006831"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Los lectores de pantalla saltan por landmarks y encabezados. Sin ellos, toca escuchar la página entera.</a:t>
            </a:r>
            <a:endParaRPr lang="en-US" sz="1400" dirty="0"/>
          </a:p>
        </p:txBody>
      </p:sp>
      <p:sp>
        <p:nvSpPr>
          <p:cNvPr id="8" name="Shape 5"/>
          <p:cNvSpPr/>
          <p:nvPr/>
        </p:nvSpPr>
        <p:spPr>
          <a:xfrm>
            <a:off x="4405789" y="1938657"/>
            <a:ext cx="3380343" cy="2233930"/>
          </a:xfrm>
          <a:prstGeom prst="roundRect">
            <a:avLst>
              <a:gd name="adj" fmla="val 4406"/>
            </a:avLst>
          </a:prstGeom>
          <a:solidFill>
            <a:srgbClr val="FFFDF8"/>
          </a:solidFill>
          <a:ln w="6350">
            <a:solidFill>
              <a:srgbClr val="E4DFD3"/>
            </a:solidFill>
            <a:prstDash val="solid"/>
          </a:ln>
        </p:spPr>
      </p:sp>
      <p:pic>
        <p:nvPicPr>
          <p:cNvPr id="9" name="Image 1" descr="Search">    </p:cNvPr>
          <p:cNvPicPr>
            <a:picLocks noChangeAspect="1"/>
          </p:cNvPicPr>
          <p:nvPr/>
        </p:nvPicPr>
        <p:blipFill>
          <a:blip r:embed="rId2"/>
          <a:srcRect l="0" r="0" t="0" b="0"/>
          <a:stretch/>
        </p:blipFill>
        <p:spPr>
          <a:xfrm>
            <a:off x="4636294" y="2169161"/>
            <a:ext cx="330200" cy="330200"/>
          </a:xfrm>
          <a:prstGeom prst="rect">
            <a:avLst/>
          </a:prstGeom>
        </p:spPr>
      </p:pic>
      <p:sp>
        <p:nvSpPr>
          <p:cNvPr id="10" name="Text 6"/>
          <p:cNvSpPr/>
          <p:nvPr/>
        </p:nvSpPr>
        <p:spPr>
          <a:xfrm>
            <a:off x="4636294" y="2600961"/>
            <a:ext cx="300691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Buscadores</a:t>
            </a:r>
            <a:endParaRPr lang="en-US" sz="1600" dirty="0"/>
          </a:p>
        </p:txBody>
      </p:sp>
      <p:sp>
        <p:nvSpPr>
          <p:cNvPr id="11" name="Text 7"/>
          <p:cNvSpPr/>
          <p:nvPr/>
        </p:nvSpPr>
        <p:spPr>
          <a:xfrm>
            <a:off x="4636294" y="2946400"/>
            <a:ext cx="300691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Entienden qué es el contenido principal, qué es un artículo y qué es navegación.</a:t>
            </a:r>
            <a:endParaRPr lang="en-US" sz="1400" dirty="0"/>
          </a:p>
        </p:txBody>
      </p:sp>
      <p:sp>
        <p:nvSpPr>
          <p:cNvPr id="12" name="Shape 8"/>
          <p:cNvSpPr/>
          <p:nvPr/>
        </p:nvSpPr>
        <p:spPr>
          <a:xfrm>
            <a:off x="7995682" y="1938657"/>
            <a:ext cx="3380343" cy="2233930"/>
          </a:xfrm>
          <a:prstGeom prst="roundRect">
            <a:avLst>
              <a:gd name="adj" fmla="val 4406"/>
            </a:avLst>
          </a:prstGeom>
          <a:solidFill>
            <a:srgbClr val="FFFDF8"/>
          </a:solidFill>
          <a:ln w="6350">
            <a:solidFill>
              <a:srgbClr val="E4DFD3"/>
            </a:solidFill>
            <a:prstDash val="solid"/>
          </a:ln>
        </p:spPr>
      </p:sp>
      <p:pic>
        <p:nvPicPr>
          <p:cNvPr id="13" name="Image 2" descr="Code">    </p:cNvPr>
          <p:cNvPicPr>
            <a:picLocks noChangeAspect="1"/>
          </p:cNvPicPr>
          <p:nvPr/>
        </p:nvPicPr>
        <p:blipFill>
          <a:blip r:embed="rId3"/>
          <a:srcRect l="0" r="0" t="0" b="0"/>
          <a:stretch/>
        </p:blipFill>
        <p:spPr>
          <a:xfrm>
            <a:off x="8226187" y="2169161"/>
            <a:ext cx="330200" cy="330200"/>
          </a:xfrm>
          <a:prstGeom prst="rect">
            <a:avLst/>
          </a:prstGeom>
        </p:spPr>
      </p:pic>
      <p:sp>
        <p:nvSpPr>
          <p:cNvPr id="14" name="Text 9"/>
          <p:cNvSpPr/>
          <p:nvPr/>
        </p:nvSpPr>
        <p:spPr>
          <a:xfrm>
            <a:off x="8226187" y="2600961"/>
            <a:ext cx="300691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Tu equipo</a:t>
            </a:r>
            <a:endParaRPr lang="en-US" sz="1600" dirty="0"/>
          </a:p>
        </p:txBody>
      </p:sp>
      <p:sp>
        <p:nvSpPr>
          <p:cNvPr id="15" name="Text 10"/>
          <p:cNvSpPr/>
          <p:nvPr/>
        </p:nvSpPr>
        <p:spPr>
          <a:xfrm>
            <a:off x="8226187" y="2946400"/>
            <a:ext cx="300691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Quien lee &lt;nav&gt; sabe qué es sin abrir el CSS. Menos div anidados, menos errores al mantener.</a:t>
            </a:r>
            <a:endParaRPr lang="en-US" sz="1400" dirty="0"/>
          </a:p>
        </p:txBody>
      </p:sp>
      <p:sp>
        <p:nvSpPr>
          <p:cNvPr id="16" name="Shape 11"/>
          <p:cNvSpPr/>
          <p:nvPr/>
        </p:nvSpPr>
        <p:spPr>
          <a:xfrm>
            <a:off x="812800" y="4480561"/>
            <a:ext cx="10566400" cy="736600"/>
          </a:xfrm>
          <a:prstGeom prst="roundRect">
            <a:avLst>
              <a:gd name="adj" fmla="val 13793"/>
            </a:avLst>
          </a:prstGeom>
          <a:solidFill>
            <a:srgbClr val="14182B"/>
          </a:solidFill>
          <a:ln/>
        </p:spPr>
      </p:sp>
      <p:pic>
        <p:nvPicPr>
          <p:cNvPr id="17" name="Image 3" descr="Lightbulb">    </p:cNvPr>
          <p:cNvPicPr>
            <a:picLocks noChangeAspect="1"/>
          </p:cNvPicPr>
          <p:nvPr/>
        </p:nvPicPr>
        <p:blipFill>
          <a:blip r:embed="rId4"/>
          <a:srcRect l="0" r="0" t="0" b="0"/>
          <a:stretch/>
        </p:blipFill>
        <p:spPr>
          <a:xfrm>
            <a:off x="1066800" y="4683761"/>
            <a:ext cx="330200" cy="330200"/>
          </a:xfrm>
          <a:prstGeom prst="rect">
            <a:avLst/>
          </a:prstGeom>
        </p:spPr>
      </p:pic>
      <p:sp>
        <p:nvSpPr>
          <p:cNvPr id="18" name="Text 12"/>
          <p:cNvSpPr/>
          <p:nvPr/>
        </p:nvSpPr>
        <p:spPr>
          <a:xfrm>
            <a:off x="1549400" y="4715511"/>
            <a:ext cx="732415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Space Grotesk" pitchFamily="34" charset="0"/>
                <a:ea typeface="Space Grotesk" pitchFamily="34" charset="-122"/>
                <a:cs typeface="Space Grotesk" pitchFamily="34" charset="-120"/>
              </a:rPr>
              <a:t>Y no cuesta nada: escribir &lt;nav&gt; toma lo mismo que escribir &lt;div&gt;.</a:t>
            </a:r>
            <a:endParaRPr lang="en-US" sz="1500" dirty="0"/>
          </a:p>
        </p:txBody>
      </p:sp>
      <p:sp>
        <p:nvSpPr>
          <p:cNvPr id="19" name="Text 1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01 · SEMÁNTICA</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¿nav, article, section, aside o div?</a:t>
            </a:r>
            <a:endParaRPr lang="en-US" sz="3600" dirty="0"/>
          </a:p>
        </p:txBody>
      </p:sp>
      <p:sp>
        <p:nvSpPr>
          <p:cNvPr id="4" name="Shape 2"/>
          <p:cNvSpPr/>
          <p:nvPr/>
        </p:nvSpPr>
        <p:spPr>
          <a:xfrm>
            <a:off x="815975" y="1887857"/>
            <a:ext cx="10560050" cy="557530"/>
          </a:xfrm>
          <a:prstGeom prst="roundRect">
            <a:avLst>
              <a:gd name="adj" fmla="val 15376"/>
            </a:avLst>
          </a:prstGeom>
          <a:solidFill>
            <a:srgbClr val="FFFDF8"/>
          </a:solidFill>
          <a:ln w="6350">
            <a:solidFill>
              <a:srgbClr val="E4DFD3"/>
            </a:solidFill>
            <a:prstDash val="solid"/>
          </a:ln>
        </p:spPr>
      </p:sp>
      <p:sp>
        <p:nvSpPr>
          <p:cNvPr id="5" name="Text 3"/>
          <p:cNvSpPr/>
          <p:nvPr/>
        </p:nvSpPr>
        <p:spPr>
          <a:xfrm>
            <a:off x="995680" y="2051050"/>
            <a:ext cx="560128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182B"/>
                </a:solidFill>
                <a:latin typeface="Space Grotesk" pitchFamily="34" charset="0"/>
                <a:ea typeface="Space Grotesk" pitchFamily="34" charset="-122"/>
                <a:cs typeface="Space Grotesk" pitchFamily="34" charset="-120"/>
              </a:rPr>
              <a:t>¿Son los enlaces principales para moverse por el sitio?</a:t>
            </a:r>
            <a:endParaRPr lang="en-US" sz="1400" dirty="0"/>
          </a:p>
        </p:txBody>
      </p:sp>
      <p:pic>
        <p:nvPicPr>
          <p:cNvPr id="6" name="Image 0" descr="arrow-right">    </p:cNvPr>
          <p:cNvPicPr>
            <a:picLocks noChangeAspect="1"/>
          </p:cNvPicPr>
          <p:nvPr/>
        </p:nvPicPr>
        <p:blipFill>
          <a:blip r:embed="rId1"/>
          <a:srcRect l="0" r="0" t="0" b="0"/>
          <a:stretch/>
        </p:blipFill>
        <p:spPr>
          <a:xfrm>
            <a:off x="6586220" y="2084071"/>
            <a:ext cx="304800" cy="165100"/>
          </a:xfrm>
          <a:prstGeom prst="rect">
            <a:avLst/>
          </a:prstGeom>
        </p:spPr>
      </p:pic>
      <p:sp>
        <p:nvSpPr>
          <p:cNvPr id="7" name="Text 4"/>
          <p:cNvSpPr/>
          <p:nvPr/>
        </p:nvSpPr>
        <p:spPr>
          <a:xfrm>
            <a:off x="7043420" y="2004061"/>
            <a:ext cx="1333500" cy="325120"/>
          </a:xfrm>
          <a:custGeom>
            <a:avLst/>
            <a:gdLst/>
            <a:ahLst/>
            <a:cxnLst/>
            <a:rect l="l" t="t" r="r" b="b"/>
            <a:pathLst>
              <a:path w="1333500" h="325120">
                <a:moveTo>
                  <a:pt x="162560" y="0"/>
                </a:moveTo>
                <a:lnTo>
                  <a:pt x="1170940" y="0"/>
                </a:lnTo>
                <a:arcTo hR="162560" wR="162560" stAng="16200000" swAng="5400000"/>
                <a:lnTo>
                  <a:pt x="1333500" y="162560"/>
                </a:lnTo>
                <a:arcTo hR="162560" wR="162560" stAng="0" swAng="5400000"/>
                <a:lnTo>
                  <a:pt x="162560" y="325120"/>
                </a:lnTo>
                <a:arcTo hR="162560" wR="162560" stAng="5400000" swAng="5400000"/>
                <a:lnTo>
                  <a:pt x="0" y="162560"/>
                </a:lnTo>
                <a:arcTo hR="162560" wR="162560" stAng="10800000" swAng="5400000"/>
                <a:close/>
              </a:path>
            </a:pathLst>
          </a:custGeom>
          <a:solidFill>
            <a:srgbClr val="E8572A"/>
          </a:solidFill>
          <a:ln/>
        </p:spPr>
        <p:txBody>
          <a:bodyPr wrap="square" lIns="76200" tIns="38100" rIns="76200" bIns="12700" rtlCol="0" anchor="t">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&lt;nav&gt;</a:t>
            </a:r>
            <a:endParaRPr lang="en-US" sz="1400" dirty="0"/>
          </a:p>
        </p:txBody>
      </p:sp>
      <p:sp>
        <p:nvSpPr>
          <p:cNvPr id="8" name="Text 5"/>
          <p:cNvSpPr/>
          <p:nvPr/>
        </p:nvSpPr>
        <p:spPr>
          <a:xfrm>
            <a:off x="8529320" y="2067561"/>
            <a:ext cx="274701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F6475"/>
                </a:solidFill>
                <a:latin typeface="Space Grotesk" pitchFamily="34" charset="0"/>
                <a:ea typeface="Space Grotesk" pitchFamily="34" charset="-122"/>
                <a:cs typeface="Space Grotesk" pitchFamily="34" charset="-120"/>
              </a:rPr>
              <a:t>El menú principal</a:t>
            </a:r>
            <a:endParaRPr lang="en-US" sz="1200" dirty="0"/>
          </a:p>
        </p:txBody>
      </p:sp>
      <p:sp>
        <p:nvSpPr>
          <p:cNvPr id="9" name="Shape 6"/>
          <p:cNvSpPr/>
          <p:nvPr/>
        </p:nvSpPr>
        <p:spPr>
          <a:xfrm>
            <a:off x="815975" y="2540636"/>
            <a:ext cx="10560050" cy="628650"/>
          </a:xfrm>
          <a:prstGeom prst="roundRect">
            <a:avLst>
              <a:gd name="adj" fmla="val 13636"/>
            </a:avLst>
          </a:prstGeom>
          <a:solidFill>
            <a:srgbClr val="FFFDF8"/>
          </a:solidFill>
          <a:ln w="6350">
            <a:solidFill>
              <a:srgbClr val="E4DFD3"/>
            </a:solidFill>
            <a:prstDash val="solid"/>
          </a:ln>
        </p:spPr>
      </p:sp>
      <p:sp>
        <p:nvSpPr>
          <p:cNvPr id="10" name="Text 7"/>
          <p:cNvSpPr/>
          <p:nvPr/>
        </p:nvSpPr>
        <p:spPr>
          <a:xfrm>
            <a:off x="995680" y="2739389"/>
            <a:ext cx="560128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182B"/>
                </a:solidFill>
                <a:latin typeface="Space Grotesk" pitchFamily="34" charset="0"/>
                <a:ea typeface="Space Grotesk" pitchFamily="34" charset="-122"/>
                <a:cs typeface="Space Grotesk" pitchFamily="34" charset="-120"/>
              </a:rPr>
              <a:t>¿Tiene sentido solo, aunque lo saques de la página?</a:t>
            </a:r>
            <a:endParaRPr lang="en-US" sz="1400" dirty="0"/>
          </a:p>
        </p:txBody>
      </p:sp>
      <p:pic>
        <p:nvPicPr>
          <p:cNvPr id="11" name="Image 1" descr="arrow-right">    </p:cNvPr>
          <p:cNvPicPr>
            <a:picLocks noChangeAspect="1"/>
          </p:cNvPicPr>
          <p:nvPr/>
        </p:nvPicPr>
        <p:blipFill>
          <a:blip r:embed="rId2"/>
          <a:srcRect l="0" r="0" t="0" b="0"/>
          <a:stretch/>
        </p:blipFill>
        <p:spPr>
          <a:xfrm>
            <a:off x="6586220" y="2772411"/>
            <a:ext cx="304800" cy="165100"/>
          </a:xfrm>
          <a:prstGeom prst="rect">
            <a:avLst/>
          </a:prstGeom>
        </p:spPr>
      </p:pic>
      <p:sp>
        <p:nvSpPr>
          <p:cNvPr id="12" name="Text 8"/>
          <p:cNvSpPr/>
          <p:nvPr/>
        </p:nvSpPr>
        <p:spPr>
          <a:xfrm>
            <a:off x="7043420" y="2692400"/>
            <a:ext cx="1333500" cy="325120"/>
          </a:xfrm>
          <a:custGeom>
            <a:avLst/>
            <a:gdLst/>
            <a:ahLst/>
            <a:cxnLst/>
            <a:rect l="l" t="t" r="r" b="b"/>
            <a:pathLst>
              <a:path w="1333500" h="325120">
                <a:moveTo>
                  <a:pt x="162560" y="0"/>
                </a:moveTo>
                <a:lnTo>
                  <a:pt x="1170940" y="0"/>
                </a:lnTo>
                <a:arcTo hR="162560" wR="162560" stAng="16200000" swAng="5400000"/>
                <a:lnTo>
                  <a:pt x="1333500" y="162560"/>
                </a:lnTo>
                <a:arcTo hR="162560" wR="162560" stAng="0" swAng="5400000"/>
                <a:lnTo>
                  <a:pt x="162560" y="325120"/>
                </a:lnTo>
                <a:arcTo hR="162560" wR="162560" stAng="5400000" swAng="5400000"/>
                <a:lnTo>
                  <a:pt x="0" y="162560"/>
                </a:lnTo>
                <a:arcTo hR="162560" wR="162560" stAng="10800000" swAng="5400000"/>
                <a:close/>
              </a:path>
            </a:pathLst>
          </a:custGeom>
          <a:solidFill>
            <a:srgbClr val="E8572A"/>
          </a:solidFill>
          <a:ln/>
        </p:spPr>
        <p:txBody>
          <a:bodyPr wrap="square" lIns="76200" tIns="38100" rIns="76200" bIns="12700" rtlCol="0" anchor="t">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&lt;article&gt;</a:t>
            </a:r>
            <a:endParaRPr lang="en-US" sz="1400" dirty="0"/>
          </a:p>
        </p:txBody>
      </p:sp>
      <p:sp>
        <p:nvSpPr>
          <p:cNvPr id="13" name="Text 9"/>
          <p:cNvSpPr/>
          <p:nvPr/>
        </p:nvSpPr>
        <p:spPr>
          <a:xfrm>
            <a:off x="8529320" y="2656839"/>
            <a:ext cx="274701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F6475"/>
                </a:solidFill>
                <a:latin typeface="Space Grotesk" pitchFamily="34" charset="0"/>
                <a:ea typeface="Space Grotesk" pitchFamily="34" charset="-122"/>
                <a:cs typeface="Space Grotesk" pitchFamily="34" charset="-120"/>
              </a:rPr>
              <a:t>Una noticia, un producto, un comentario</a:t>
            </a:r>
            <a:endParaRPr lang="en-US" sz="1200" dirty="0"/>
          </a:p>
        </p:txBody>
      </p:sp>
      <p:sp>
        <p:nvSpPr>
          <p:cNvPr id="14" name="Shape 10"/>
          <p:cNvSpPr/>
          <p:nvPr/>
        </p:nvSpPr>
        <p:spPr>
          <a:xfrm>
            <a:off x="815975" y="3264536"/>
            <a:ext cx="10560050" cy="557530"/>
          </a:xfrm>
          <a:prstGeom prst="roundRect">
            <a:avLst>
              <a:gd name="adj" fmla="val 15376"/>
            </a:avLst>
          </a:prstGeom>
          <a:solidFill>
            <a:srgbClr val="FFFDF8"/>
          </a:solidFill>
          <a:ln w="6350">
            <a:solidFill>
              <a:srgbClr val="E4DFD3"/>
            </a:solidFill>
            <a:prstDash val="solid"/>
          </a:ln>
        </p:spPr>
      </p:sp>
      <p:sp>
        <p:nvSpPr>
          <p:cNvPr id="15" name="Text 11"/>
          <p:cNvSpPr/>
          <p:nvPr/>
        </p:nvSpPr>
        <p:spPr>
          <a:xfrm>
            <a:off x="995680" y="3427732"/>
            <a:ext cx="560128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182B"/>
                </a:solidFill>
                <a:latin typeface="Space Grotesk" pitchFamily="34" charset="0"/>
                <a:ea typeface="Space Grotesk" pitchFamily="34" charset="-122"/>
                <a:cs typeface="Space Grotesk" pitchFamily="34" charset="-120"/>
              </a:rPr>
              <a:t>¿Agrupa un tema que tiene su propio encabezado?</a:t>
            </a:r>
            <a:endParaRPr lang="en-US" sz="1400" dirty="0"/>
          </a:p>
        </p:txBody>
      </p:sp>
      <p:pic>
        <p:nvPicPr>
          <p:cNvPr id="16" name="Image 2" descr="arrow-right">    </p:cNvPr>
          <p:cNvPicPr>
            <a:picLocks noChangeAspect="1"/>
          </p:cNvPicPr>
          <p:nvPr/>
        </p:nvPicPr>
        <p:blipFill>
          <a:blip r:embed="rId3"/>
          <a:srcRect l="0" r="0" t="0" b="0"/>
          <a:stretch/>
        </p:blipFill>
        <p:spPr>
          <a:xfrm>
            <a:off x="6586220" y="3460750"/>
            <a:ext cx="304800" cy="165100"/>
          </a:xfrm>
          <a:prstGeom prst="rect">
            <a:avLst/>
          </a:prstGeom>
        </p:spPr>
      </p:pic>
      <p:sp>
        <p:nvSpPr>
          <p:cNvPr id="17" name="Text 12"/>
          <p:cNvSpPr/>
          <p:nvPr/>
        </p:nvSpPr>
        <p:spPr>
          <a:xfrm>
            <a:off x="7043420" y="3380739"/>
            <a:ext cx="1333500" cy="325120"/>
          </a:xfrm>
          <a:custGeom>
            <a:avLst/>
            <a:gdLst/>
            <a:ahLst/>
            <a:cxnLst/>
            <a:rect l="l" t="t" r="r" b="b"/>
            <a:pathLst>
              <a:path w="1333500" h="325120">
                <a:moveTo>
                  <a:pt x="162560" y="0"/>
                </a:moveTo>
                <a:lnTo>
                  <a:pt x="1170940" y="0"/>
                </a:lnTo>
                <a:arcTo hR="162560" wR="162560" stAng="16200000" swAng="5400000"/>
                <a:lnTo>
                  <a:pt x="1333500" y="162560"/>
                </a:lnTo>
                <a:arcTo hR="162560" wR="162560" stAng="0" swAng="5400000"/>
                <a:lnTo>
                  <a:pt x="162560" y="325120"/>
                </a:lnTo>
                <a:arcTo hR="162560" wR="162560" stAng="5400000" swAng="5400000"/>
                <a:lnTo>
                  <a:pt x="0" y="162560"/>
                </a:lnTo>
                <a:arcTo hR="162560" wR="162560" stAng="10800000" swAng="5400000"/>
                <a:close/>
              </a:path>
            </a:pathLst>
          </a:custGeom>
          <a:solidFill>
            <a:srgbClr val="E8572A"/>
          </a:solidFill>
          <a:ln/>
        </p:spPr>
        <p:txBody>
          <a:bodyPr wrap="square" lIns="76200" tIns="38100" rIns="76200" bIns="12700" rtlCol="0" anchor="t">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&lt;section&gt;</a:t>
            </a:r>
            <a:endParaRPr lang="en-US" sz="1400" dirty="0"/>
          </a:p>
        </p:txBody>
      </p:sp>
      <p:sp>
        <p:nvSpPr>
          <p:cNvPr id="18" name="Text 13"/>
          <p:cNvSpPr/>
          <p:nvPr/>
        </p:nvSpPr>
        <p:spPr>
          <a:xfrm>
            <a:off x="8529320" y="3444239"/>
            <a:ext cx="284353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F6475"/>
                </a:solidFill>
                <a:latin typeface="Space Grotesk" pitchFamily="34" charset="0"/>
                <a:ea typeface="Space Grotesk" pitchFamily="34" charset="-122"/>
                <a:cs typeface="Space Grotesk" pitchFamily="34" charset="-120"/>
              </a:rPr>
              <a:t>“Servicios”, “Preguntas frecuentes”</a:t>
            </a:r>
            <a:endParaRPr lang="en-US" sz="1200" dirty="0"/>
          </a:p>
        </p:txBody>
      </p:sp>
      <p:sp>
        <p:nvSpPr>
          <p:cNvPr id="19" name="Shape 14"/>
          <p:cNvSpPr/>
          <p:nvPr/>
        </p:nvSpPr>
        <p:spPr>
          <a:xfrm>
            <a:off x="815975" y="3917314"/>
            <a:ext cx="10560050" cy="557530"/>
          </a:xfrm>
          <a:prstGeom prst="roundRect">
            <a:avLst>
              <a:gd name="adj" fmla="val 15376"/>
            </a:avLst>
          </a:prstGeom>
          <a:solidFill>
            <a:srgbClr val="FFFDF8"/>
          </a:solidFill>
          <a:ln w="6350">
            <a:solidFill>
              <a:srgbClr val="E4DFD3"/>
            </a:solidFill>
            <a:prstDash val="solid"/>
          </a:ln>
        </p:spPr>
      </p:sp>
      <p:sp>
        <p:nvSpPr>
          <p:cNvPr id="20" name="Text 15"/>
          <p:cNvSpPr/>
          <p:nvPr/>
        </p:nvSpPr>
        <p:spPr>
          <a:xfrm>
            <a:off x="995680" y="4080514"/>
            <a:ext cx="560128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182B"/>
                </a:solidFill>
                <a:latin typeface="Space Grotesk" pitchFamily="34" charset="0"/>
                <a:ea typeface="Space Grotesk" pitchFamily="34" charset="-122"/>
                <a:cs typeface="Space Grotesk" pitchFamily="34" charset="-120"/>
              </a:rPr>
              <a:t>¿Está relacionado, pero es secundario?</a:t>
            </a:r>
            <a:endParaRPr lang="en-US" sz="1400" dirty="0"/>
          </a:p>
        </p:txBody>
      </p:sp>
      <p:pic>
        <p:nvPicPr>
          <p:cNvPr id="21" name="Image 3" descr="arrow-right">    </p:cNvPr>
          <p:cNvPicPr>
            <a:picLocks noChangeAspect="1"/>
          </p:cNvPicPr>
          <p:nvPr/>
        </p:nvPicPr>
        <p:blipFill>
          <a:blip r:embed="rId4"/>
          <a:srcRect l="0" r="0" t="0" b="0"/>
          <a:stretch/>
        </p:blipFill>
        <p:spPr>
          <a:xfrm>
            <a:off x="6586220" y="4113529"/>
            <a:ext cx="304800" cy="165100"/>
          </a:xfrm>
          <a:prstGeom prst="rect">
            <a:avLst/>
          </a:prstGeom>
        </p:spPr>
      </p:pic>
      <p:sp>
        <p:nvSpPr>
          <p:cNvPr id="22" name="Text 16"/>
          <p:cNvSpPr/>
          <p:nvPr/>
        </p:nvSpPr>
        <p:spPr>
          <a:xfrm>
            <a:off x="7043420" y="4033521"/>
            <a:ext cx="1333500" cy="325120"/>
          </a:xfrm>
          <a:custGeom>
            <a:avLst/>
            <a:gdLst/>
            <a:ahLst/>
            <a:cxnLst/>
            <a:rect l="l" t="t" r="r" b="b"/>
            <a:pathLst>
              <a:path w="1333500" h="325120">
                <a:moveTo>
                  <a:pt x="162560" y="0"/>
                </a:moveTo>
                <a:lnTo>
                  <a:pt x="1170940" y="0"/>
                </a:lnTo>
                <a:arcTo hR="162560" wR="162560" stAng="16200000" swAng="5400000"/>
                <a:lnTo>
                  <a:pt x="1333500" y="162560"/>
                </a:lnTo>
                <a:arcTo hR="162560" wR="162560" stAng="0" swAng="5400000"/>
                <a:lnTo>
                  <a:pt x="162560" y="325120"/>
                </a:lnTo>
                <a:arcTo hR="162560" wR="162560" stAng="5400000" swAng="5400000"/>
                <a:lnTo>
                  <a:pt x="0" y="162560"/>
                </a:lnTo>
                <a:arcTo hR="162560" wR="162560" stAng="10800000" swAng="5400000"/>
                <a:close/>
              </a:path>
            </a:pathLst>
          </a:custGeom>
          <a:solidFill>
            <a:srgbClr val="E8572A"/>
          </a:solidFill>
          <a:ln/>
        </p:spPr>
        <p:txBody>
          <a:bodyPr wrap="square" lIns="76200" tIns="38100" rIns="76200" bIns="12700" rtlCol="0" anchor="t">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&lt;aside&gt;</a:t>
            </a:r>
            <a:endParaRPr lang="en-US" sz="1400" dirty="0"/>
          </a:p>
        </p:txBody>
      </p:sp>
      <p:sp>
        <p:nvSpPr>
          <p:cNvPr id="23" name="Text 17"/>
          <p:cNvSpPr/>
          <p:nvPr/>
        </p:nvSpPr>
        <p:spPr>
          <a:xfrm>
            <a:off x="8529320" y="4097021"/>
            <a:ext cx="274701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F6475"/>
                </a:solidFill>
                <a:latin typeface="Space Grotesk" pitchFamily="34" charset="0"/>
                <a:ea typeface="Space Grotesk" pitchFamily="34" charset="-122"/>
                <a:cs typeface="Space Grotesk" pitchFamily="34" charset="-120"/>
              </a:rPr>
              <a:t>“Lo más leído”, un dato al margen</a:t>
            </a:r>
            <a:endParaRPr lang="en-US" sz="1200" dirty="0"/>
          </a:p>
        </p:txBody>
      </p:sp>
      <p:sp>
        <p:nvSpPr>
          <p:cNvPr id="24" name="Shape 18"/>
          <p:cNvSpPr/>
          <p:nvPr/>
        </p:nvSpPr>
        <p:spPr>
          <a:xfrm>
            <a:off x="812800" y="4566921"/>
            <a:ext cx="10566400" cy="553720"/>
          </a:xfrm>
          <a:prstGeom prst="roundRect">
            <a:avLst>
              <a:gd name="adj" fmla="val 16055"/>
            </a:avLst>
          </a:prstGeom>
          <a:solidFill>
            <a:srgbClr val="14182B"/>
          </a:solidFill>
          <a:ln/>
        </p:spPr>
      </p:sp>
      <p:sp>
        <p:nvSpPr>
          <p:cNvPr id="25" name="Text 19"/>
          <p:cNvSpPr/>
          <p:nvPr/>
        </p:nvSpPr>
        <p:spPr>
          <a:xfrm>
            <a:off x="990600" y="4728214"/>
            <a:ext cx="5611749"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7F5EF"/>
                </a:solidFill>
                <a:latin typeface="Space Grotesk" pitchFamily="34" charset="0"/>
                <a:ea typeface="Space Grotesk" pitchFamily="34" charset="-122"/>
                <a:cs typeface="Space Grotesk" pitchFamily="34" charset="-120"/>
              </a:rPr>
              <a:t>¿Nada de lo anterior? ¿Solo lo necesitas para dar estilo?</a:t>
            </a:r>
            <a:endParaRPr lang="en-US" sz="1400" dirty="0"/>
          </a:p>
        </p:txBody>
      </p:sp>
      <p:pic>
        <p:nvPicPr>
          <p:cNvPr id="26" name="Image 4" descr="arrow-right">    </p:cNvPr>
          <p:cNvPicPr>
            <a:picLocks noChangeAspect="1"/>
          </p:cNvPicPr>
          <p:nvPr/>
        </p:nvPicPr>
        <p:blipFill>
          <a:blip r:embed="rId5"/>
          <a:srcRect l="0" r="0" t="0" b="0"/>
          <a:stretch/>
        </p:blipFill>
        <p:spPr>
          <a:xfrm>
            <a:off x="6591300" y="4761229"/>
            <a:ext cx="304800" cy="165100"/>
          </a:xfrm>
          <a:prstGeom prst="rect">
            <a:avLst/>
          </a:prstGeom>
        </p:spPr>
      </p:pic>
      <p:sp>
        <p:nvSpPr>
          <p:cNvPr id="27" name="Text 20"/>
          <p:cNvSpPr/>
          <p:nvPr/>
        </p:nvSpPr>
        <p:spPr>
          <a:xfrm>
            <a:off x="7048500" y="4681221"/>
            <a:ext cx="1333500" cy="325120"/>
          </a:xfrm>
          <a:custGeom>
            <a:avLst/>
            <a:gdLst/>
            <a:ahLst/>
            <a:cxnLst/>
            <a:rect l="l" t="t" r="r" b="b"/>
            <a:pathLst>
              <a:path w="1333500" h="325120">
                <a:moveTo>
                  <a:pt x="162560" y="0"/>
                </a:moveTo>
                <a:lnTo>
                  <a:pt x="1170940" y="0"/>
                </a:lnTo>
                <a:arcTo hR="162560" wR="162560" stAng="16200000" swAng="5400000"/>
                <a:lnTo>
                  <a:pt x="1333500" y="162560"/>
                </a:lnTo>
                <a:arcTo hR="162560" wR="162560" stAng="0" swAng="5400000"/>
                <a:lnTo>
                  <a:pt x="162560" y="325120"/>
                </a:lnTo>
                <a:arcTo hR="162560" wR="162560" stAng="5400000" swAng="5400000"/>
                <a:lnTo>
                  <a:pt x="0" y="162560"/>
                </a:lnTo>
                <a:arcTo hR="162560" wR="162560" stAng="10800000" swAng="5400000"/>
                <a:close/>
              </a:path>
            </a:pathLst>
          </a:custGeom>
          <a:solidFill>
            <a:srgbClr val="F7F5EF"/>
          </a:solidFill>
          <a:ln/>
        </p:spPr>
        <p:txBody>
          <a:bodyPr wrap="square" lIns="76200" tIns="38100" rIns="76200" bIns="12700" rtlCol="0" anchor="t">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&lt;div&gt;</a:t>
            </a:r>
            <a:endParaRPr lang="en-US" sz="1400" dirty="0"/>
          </a:p>
        </p:txBody>
      </p:sp>
      <p:sp>
        <p:nvSpPr>
          <p:cNvPr id="28" name="Text 21"/>
          <p:cNvSpPr/>
          <p:nvPr/>
        </p:nvSpPr>
        <p:spPr>
          <a:xfrm>
            <a:off x="8534400" y="4744721"/>
            <a:ext cx="274701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CCD8"/>
                </a:solidFill>
                <a:latin typeface="Space Grotesk" pitchFamily="34" charset="0"/>
                <a:ea typeface="Space Grotesk" pitchFamily="34" charset="-122"/>
                <a:cs typeface="Space Grotesk" pitchFamily="34" charset="-120"/>
              </a:rPr>
              <a:t>Una caja para centrar o agrupar</a:t>
            </a:r>
            <a:endParaRPr lang="en-US" sz="1200" dirty="0"/>
          </a:p>
        </p:txBody>
      </p:sp>
      <p:sp>
        <p:nvSpPr>
          <p:cNvPr id="29" name="Text 2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01 · SEMÁNTICA</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Semántica también dentro del texto</a:t>
            </a:r>
            <a:endParaRPr lang="en-US" sz="3600" dirty="0"/>
          </a:p>
        </p:txBody>
      </p:sp>
      <p:sp>
        <p:nvSpPr>
          <p:cNvPr id="4" name="Shape 2"/>
          <p:cNvSpPr/>
          <p:nvPr/>
        </p:nvSpPr>
        <p:spPr>
          <a:xfrm>
            <a:off x="815975" y="1938654"/>
            <a:ext cx="3397250" cy="1099820"/>
          </a:xfrm>
          <a:prstGeom prst="roundRect">
            <a:avLst>
              <a:gd name="adj" fmla="val 8949"/>
            </a:avLst>
          </a:prstGeom>
          <a:solidFill>
            <a:srgbClr val="FFFDF8"/>
          </a:solidFill>
          <a:ln w="6350">
            <a:solidFill>
              <a:srgbClr val="E4DFD3"/>
            </a:solidFill>
            <a:prstDash val="solid"/>
          </a:ln>
        </p:spPr>
      </p:sp>
      <p:sp>
        <p:nvSpPr>
          <p:cNvPr id="5" name="Text 3"/>
          <p:cNvSpPr/>
          <p:nvPr/>
        </p:nvSpPr>
        <p:spPr>
          <a:xfrm>
            <a:off x="1021080" y="2118364"/>
            <a:ext cx="307665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2410C"/>
                </a:solidFill>
                <a:latin typeface="JetBrains Mono" pitchFamily="49" charset="0"/>
                <a:ea typeface="JetBrains Mono" pitchFamily="49" charset="-122"/>
                <a:cs typeface="JetBrains Mono" pitchFamily="49" charset="-120"/>
              </a:rPr>
              <a:t>&lt;figure&gt; &lt;figcaption&gt;</a:t>
            </a:r>
            <a:endParaRPr lang="en-US" sz="1300" dirty="0"/>
          </a:p>
        </p:txBody>
      </p:sp>
      <p:sp>
        <p:nvSpPr>
          <p:cNvPr id="6" name="Text 4"/>
          <p:cNvSpPr/>
          <p:nvPr/>
        </p:nvSpPr>
        <p:spPr>
          <a:xfrm>
            <a:off x="1021080" y="2413000"/>
            <a:ext cx="3076651"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Una imagen, un mapa o un fragmento de código con su pie.</a:t>
            </a:r>
            <a:endParaRPr lang="en-US" sz="1300" dirty="0"/>
          </a:p>
        </p:txBody>
      </p:sp>
      <p:sp>
        <p:nvSpPr>
          <p:cNvPr id="7" name="Shape 5"/>
          <p:cNvSpPr/>
          <p:nvPr/>
        </p:nvSpPr>
        <p:spPr>
          <a:xfrm>
            <a:off x="4397375" y="1938654"/>
            <a:ext cx="3397250" cy="1099820"/>
          </a:xfrm>
          <a:prstGeom prst="roundRect">
            <a:avLst>
              <a:gd name="adj" fmla="val 8949"/>
            </a:avLst>
          </a:prstGeom>
          <a:solidFill>
            <a:srgbClr val="FFFDF8"/>
          </a:solidFill>
          <a:ln w="6350">
            <a:solidFill>
              <a:srgbClr val="E4DFD3"/>
            </a:solidFill>
            <a:prstDash val="solid"/>
          </a:ln>
        </p:spPr>
      </p:sp>
      <p:sp>
        <p:nvSpPr>
          <p:cNvPr id="8" name="Text 6"/>
          <p:cNvSpPr/>
          <p:nvPr/>
        </p:nvSpPr>
        <p:spPr>
          <a:xfrm>
            <a:off x="4602480" y="2118364"/>
            <a:ext cx="307665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2410C"/>
                </a:solidFill>
                <a:latin typeface="JetBrains Mono" pitchFamily="49" charset="0"/>
                <a:ea typeface="JetBrains Mono" pitchFamily="49" charset="-122"/>
                <a:cs typeface="JetBrains Mono" pitchFamily="49" charset="-120"/>
              </a:rPr>
              <a:t>&lt;blockquote&gt; &lt;q&gt;</a:t>
            </a:r>
            <a:endParaRPr lang="en-US" sz="1300" dirty="0"/>
          </a:p>
        </p:txBody>
      </p:sp>
      <p:sp>
        <p:nvSpPr>
          <p:cNvPr id="9" name="Text 7"/>
          <p:cNvSpPr/>
          <p:nvPr/>
        </p:nvSpPr>
        <p:spPr>
          <a:xfrm>
            <a:off x="4602480" y="2413000"/>
            <a:ext cx="3076651"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Citas: blockquote para un bloque, q para una frase dentro del texto.</a:t>
            </a:r>
            <a:endParaRPr lang="en-US" sz="1300" dirty="0"/>
          </a:p>
        </p:txBody>
      </p:sp>
      <p:sp>
        <p:nvSpPr>
          <p:cNvPr id="10" name="Shape 8"/>
          <p:cNvSpPr/>
          <p:nvPr/>
        </p:nvSpPr>
        <p:spPr>
          <a:xfrm>
            <a:off x="7978775" y="1938654"/>
            <a:ext cx="3397250" cy="1099820"/>
          </a:xfrm>
          <a:prstGeom prst="roundRect">
            <a:avLst>
              <a:gd name="adj" fmla="val 8949"/>
            </a:avLst>
          </a:prstGeom>
          <a:solidFill>
            <a:srgbClr val="FFFDF8"/>
          </a:solidFill>
          <a:ln w="6350">
            <a:solidFill>
              <a:srgbClr val="E4DFD3"/>
            </a:solidFill>
            <a:prstDash val="solid"/>
          </a:ln>
        </p:spPr>
      </p:sp>
      <p:sp>
        <p:nvSpPr>
          <p:cNvPr id="11" name="Text 9"/>
          <p:cNvSpPr/>
          <p:nvPr/>
        </p:nvSpPr>
        <p:spPr>
          <a:xfrm>
            <a:off x="8183880" y="2118364"/>
            <a:ext cx="307665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2410C"/>
                </a:solidFill>
                <a:latin typeface="JetBrains Mono" pitchFamily="49" charset="0"/>
                <a:ea typeface="JetBrains Mono" pitchFamily="49" charset="-122"/>
                <a:cs typeface="JetBrains Mono" pitchFamily="49" charset="-120"/>
              </a:rPr>
              <a:t>&lt;time&gt;</a:t>
            </a:r>
            <a:endParaRPr lang="en-US" sz="1300" dirty="0"/>
          </a:p>
        </p:txBody>
      </p:sp>
      <p:sp>
        <p:nvSpPr>
          <p:cNvPr id="12" name="Text 10"/>
          <p:cNvSpPr/>
          <p:nvPr/>
        </p:nvSpPr>
        <p:spPr>
          <a:xfrm>
            <a:off x="8183880" y="2413000"/>
            <a:ext cx="3076651"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Fechas y horas con un formato que entienden las máquinas.</a:t>
            </a:r>
            <a:endParaRPr lang="en-US" sz="1300" dirty="0"/>
          </a:p>
        </p:txBody>
      </p:sp>
      <p:sp>
        <p:nvSpPr>
          <p:cNvPr id="13" name="Shape 11"/>
          <p:cNvSpPr/>
          <p:nvPr/>
        </p:nvSpPr>
        <p:spPr>
          <a:xfrm>
            <a:off x="815975" y="3222625"/>
            <a:ext cx="3397250" cy="1099820"/>
          </a:xfrm>
          <a:prstGeom prst="roundRect">
            <a:avLst>
              <a:gd name="adj" fmla="val 8949"/>
            </a:avLst>
          </a:prstGeom>
          <a:solidFill>
            <a:srgbClr val="FFFDF8"/>
          </a:solidFill>
          <a:ln w="6350">
            <a:solidFill>
              <a:srgbClr val="E4DFD3"/>
            </a:solidFill>
            <a:prstDash val="solid"/>
          </a:ln>
        </p:spPr>
      </p:sp>
      <p:sp>
        <p:nvSpPr>
          <p:cNvPr id="14" name="Text 12"/>
          <p:cNvSpPr/>
          <p:nvPr/>
        </p:nvSpPr>
        <p:spPr>
          <a:xfrm>
            <a:off x="1021080" y="3402329"/>
            <a:ext cx="307665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2410C"/>
                </a:solidFill>
                <a:latin typeface="JetBrains Mono" pitchFamily="49" charset="0"/>
                <a:ea typeface="JetBrains Mono" pitchFamily="49" charset="-122"/>
                <a:cs typeface="JetBrains Mono" pitchFamily="49" charset="-120"/>
              </a:rPr>
              <a:t>&lt;address&gt;</a:t>
            </a:r>
            <a:endParaRPr lang="en-US" sz="1300" dirty="0"/>
          </a:p>
        </p:txBody>
      </p:sp>
      <p:sp>
        <p:nvSpPr>
          <p:cNvPr id="15" name="Text 13"/>
          <p:cNvSpPr/>
          <p:nvPr/>
        </p:nvSpPr>
        <p:spPr>
          <a:xfrm>
            <a:off x="1021080" y="3696971"/>
            <a:ext cx="3076651"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Los datos de contacto de quien publica la página.</a:t>
            </a:r>
            <a:endParaRPr lang="en-US" sz="1300" dirty="0"/>
          </a:p>
        </p:txBody>
      </p:sp>
      <p:sp>
        <p:nvSpPr>
          <p:cNvPr id="16" name="Shape 14"/>
          <p:cNvSpPr/>
          <p:nvPr/>
        </p:nvSpPr>
        <p:spPr>
          <a:xfrm>
            <a:off x="4397375" y="3222625"/>
            <a:ext cx="3397250" cy="1099820"/>
          </a:xfrm>
          <a:prstGeom prst="roundRect">
            <a:avLst>
              <a:gd name="adj" fmla="val 8949"/>
            </a:avLst>
          </a:prstGeom>
          <a:solidFill>
            <a:srgbClr val="FFFDF8"/>
          </a:solidFill>
          <a:ln w="6350">
            <a:solidFill>
              <a:srgbClr val="E4DFD3"/>
            </a:solidFill>
            <a:prstDash val="solid"/>
          </a:ln>
        </p:spPr>
      </p:sp>
      <p:sp>
        <p:nvSpPr>
          <p:cNvPr id="17" name="Text 15"/>
          <p:cNvSpPr/>
          <p:nvPr/>
        </p:nvSpPr>
        <p:spPr>
          <a:xfrm>
            <a:off x="4602480" y="3402329"/>
            <a:ext cx="307665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2410C"/>
                </a:solidFill>
                <a:latin typeface="JetBrains Mono" pitchFamily="49" charset="0"/>
                <a:ea typeface="JetBrains Mono" pitchFamily="49" charset="-122"/>
                <a:cs typeface="JetBrains Mono" pitchFamily="49" charset="-120"/>
              </a:rPr>
              <a:t>&lt;abbr title&gt;</a:t>
            </a:r>
            <a:endParaRPr lang="en-US" sz="1300" dirty="0"/>
          </a:p>
        </p:txBody>
      </p:sp>
      <p:sp>
        <p:nvSpPr>
          <p:cNvPr id="18" name="Text 16"/>
          <p:cNvSpPr/>
          <p:nvPr/>
        </p:nvSpPr>
        <p:spPr>
          <a:xfrm>
            <a:off x="4602480" y="3696971"/>
            <a:ext cx="3076651"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Una abreviatura con su significado completo.</a:t>
            </a:r>
            <a:endParaRPr lang="en-US" sz="1300" dirty="0"/>
          </a:p>
        </p:txBody>
      </p:sp>
      <p:sp>
        <p:nvSpPr>
          <p:cNvPr id="19" name="Shape 17"/>
          <p:cNvSpPr/>
          <p:nvPr/>
        </p:nvSpPr>
        <p:spPr>
          <a:xfrm>
            <a:off x="7978775" y="3222625"/>
            <a:ext cx="3397250" cy="1099820"/>
          </a:xfrm>
          <a:prstGeom prst="roundRect">
            <a:avLst>
              <a:gd name="adj" fmla="val 8949"/>
            </a:avLst>
          </a:prstGeom>
          <a:solidFill>
            <a:srgbClr val="FFFDF8"/>
          </a:solidFill>
          <a:ln w="6350">
            <a:solidFill>
              <a:srgbClr val="E4DFD3"/>
            </a:solidFill>
            <a:prstDash val="solid"/>
          </a:ln>
        </p:spPr>
      </p:sp>
      <p:sp>
        <p:nvSpPr>
          <p:cNvPr id="20" name="Text 18"/>
          <p:cNvSpPr/>
          <p:nvPr/>
        </p:nvSpPr>
        <p:spPr>
          <a:xfrm>
            <a:off x="8183880" y="3402329"/>
            <a:ext cx="307665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2410C"/>
                </a:solidFill>
                <a:latin typeface="JetBrains Mono" pitchFamily="49" charset="0"/>
                <a:ea typeface="JetBrains Mono" pitchFamily="49" charset="-122"/>
                <a:cs typeface="JetBrains Mono" pitchFamily="49" charset="-120"/>
              </a:rPr>
              <a:t>&lt;mark&gt;</a:t>
            </a:r>
            <a:endParaRPr lang="en-US" sz="1300" dirty="0"/>
          </a:p>
        </p:txBody>
      </p:sp>
      <p:sp>
        <p:nvSpPr>
          <p:cNvPr id="21" name="Text 19"/>
          <p:cNvSpPr/>
          <p:nvPr/>
        </p:nvSpPr>
        <p:spPr>
          <a:xfrm>
            <a:off x="8183880" y="3696971"/>
            <a:ext cx="3076651"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Texto resaltado por relevancia, como lo que buscaste.</a:t>
            </a:r>
            <a:endParaRPr lang="en-US" sz="1300" dirty="0"/>
          </a:p>
        </p:txBody>
      </p:sp>
      <p:sp>
        <p:nvSpPr>
          <p:cNvPr id="22" name="Text 20"/>
          <p:cNvSpPr/>
          <p:nvPr/>
        </p:nvSpPr>
        <p:spPr>
          <a:xfrm>
            <a:off x="812800" y="4630421"/>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475"/>
                </a:solidFill>
                <a:latin typeface="Space Grotesk" pitchFamily="34" charset="0"/>
                <a:ea typeface="Space Grotesk" pitchFamily="34" charset="-122"/>
                <a:cs typeface="Space Grotesk" pitchFamily="34" charset="-120"/>
              </a:rPr>
              <a:t>Ojo con </a:t>
            </a:r>
            <a:r>
              <a:rPr lang="en-US" sz="1300" b="1" dirty="0">
                <a:solidFill>
                  <a:srgbClr val="14182B"/>
                </a:solidFill>
                <a:latin typeface="Space Grotesk" pitchFamily="34" charset="0"/>
                <a:ea typeface="Space Grotesk" pitchFamily="34" charset="-122"/>
                <a:cs typeface="Space Grotesk" pitchFamily="34" charset="-120"/>
              </a:rPr>
              <a:t>&lt;cite&gt;</a:t>
            </a:r>
            <a:r>
              <a:rPr lang="en-US" sz="1300" dirty="0">
                <a:solidFill>
                  <a:srgbClr val="5F6475"/>
                </a:solidFill>
                <a:latin typeface="Space Grotesk" pitchFamily="34" charset="0"/>
                <a:ea typeface="Space Grotesk" pitchFamily="34" charset="-122"/>
                <a:cs typeface="Space Grotesk" pitchFamily="34" charset="-120"/>
              </a:rPr>
              <a:t>: es para el título de una obra (un libro, una película), no para el nombre de una persona.</a:t>
            </a:r>
            <a:endParaRPr lang="en-US" sz="1300" dirty="0"/>
          </a:p>
        </p:txBody>
      </p:sp>
      <p:sp>
        <p:nvSpPr>
          <p:cNvPr id="23" name="Text 2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572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182B"/>
                </a:solidFill>
                <a:latin typeface="JetBrains Mono" pitchFamily="49" charset="0"/>
                <a:ea typeface="JetBrains Mono" pitchFamily="49" charset="-122"/>
                <a:cs typeface="JetBrains Mono" pitchFamily="49" charset="-120"/>
              </a:rPr>
              <a:t>CHECKPOINT 1</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¿Qué etiqueta es?</a:t>
            </a:r>
            <a:endParaRPr lang="en-US" sz="3600" dirty="0"/>
          </a:p>
        </p:txBody>
      </p:sp>
      <p:pic>
        <p:nvPicPr>
          <p:cNvPr id="4" name="Image 0" descr="Users">    </p:cNvPr>
          <p:cNvPicPr>
            <a:picLocks noChangeAspect="1"/>
          </p:cNvPicPr>
          <p:nvPr/>
        </p:nvPicPr>
        <p:blipFill>
          <a:blip r:embed="rId1"/>
          <a:srcRect l="0" r="0" t="0" b="0"/>
          <a:stretch/>
        </p:blipFill>
        <p:spPr>
          <a:xfrm>
            <a:off x="812800" y="1884679"/>
            <a:ext cx="304800" cy="304800"/>
          </a:xfrm>
          <a:prstGeom prst="rect">
            <a:avLst/>
          </a:prstGeom>
        </p:spPr>
      </p:pic>
      <p:sp>
        <p:nvSpPr>
          <p:cNvPr id="5" name="Text 2"/>
          <p:cNvSpPr/>
          <p:nvPr/>
        </p:nvSpPr>
        <p:spPr>
          <a:xfrm>
            <a:off x="1244600" y="1903729"/>
            <a:ext cx="616639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82B"/>
                </a:solidFill>
                <a:latin typeface="Space Grotesk" pitchFamily="34" charset="0"/>
                <a:ea typeface="Space Grotesk" pitchFamily="34" charset="-122"/>
                <a:cs typeface="Space Grotesk" pitchFamily="34" charset="-120"/>
              </a:rPr>
              <a:t>En parejas:</a:t>
            </a:r>
            <a:r>
              <a:rPr lang="en-US" sz="1500" dirty="0">
                <a:solidFill>
                  <a:srgbClr val="14182B"/>
                </a:solidFill>
                <a:latin typeface="Space Grotesk" pitchFamily="34" charset="0"/>
                <a:ea typeface="Space Grotesk" pitchFamily="34" charset="-122"/>
                <a:cs typeface="Space Grotesk" pitchFamily="34" charset="-120"/>
              </a:rPr>
              <a:t> escriban la etiqueta de cada caso y por qué.</a:t>
            </a:r>
            <a:endParaRPr lang="en-US" sz="1500" dirty="0"/>
          </a:p>
        </p:txBody>
      </p:sp>
      <p:sp>
        <p:nvSpPr>
          <p:cNvPr id="6" name="Shape 3"/>
          <p:cNvSpPr/>
          <p:nvPr/>
        </p:nvSpPr>
        <p:spPr>
          <a:xfrm>
            <a:off x="812800" y="2443479"/>
            <a:ext cx="3403600" cy="1206500"/>
          </a:xfrm>
          <a:prstGeom prst="roundRect">
            <a:avLst>
              <a:gd name="adj" fmla="val 8421"/>
            </a:avLst>
          </a:prstGeom>
          <a:solidFill>
            <a:srgbClr val="14182B"/>
          </a:solidFill>
          <a:ln/>
        </p:spPr>
      </p:sp>
      <p:sp>
        <p:nvSpPr>
          <p:cNvPr id="7" name="Text 4"/>
          <p:cNvSpPr/>
          <p:nvPr/>
        </p:nvSpPr>
        <p:spPr>
          <a:xfrm>
            <a:off x="1016000" y="2621279"/>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A</a:t>
            </a:r>
            <a:endParaRPr lang="en-US" sz="2200" dirty="0"/>
          </a:p>
        </p:txBody>
      </p:sp>
      <p:sp>
        <p:nvSpPr>
          <p:cNvPr id="8" name="Text 5"/>
          <p:cNvSpPr/>
          <p:nvPr/>
        </p:nvSpPr>
        <p:spPr>
          <a:xfrm>
            <a:off x="1016000" y="2992121"/>
            <a:ext cx="32004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Una noticia completa en un portal</a:t>
            </a:r>
            <a:endParaRPr lang="en-US" sz="1400" dirty="0"/>
          </a:p>
        </p:txBody>
      </p:sp>
      <p:sp>
        <p:nvSpPr>
          <p:cNvPr id="9" name="Shape 6"/>
          <p:cNvSpPr/>
          <p:nvPr/>
        </p:nvSpPr>
        <p:spPr>
          <a:xfrm>
            <a:off x="4394200" y="2443479"/>
            <a:ext cx="3403600" cy="1206500"/>
          </a:xfrm>
          <a:prstGeom prst="roundRect">
            <a:avLst>
              <a:gd name="adj" fmla="val 8421"/>
            </a:avLst>
          </a:prstGeom>
          <a:solidFill>
            <a:srgbClr val="14182B"/>
          </a:solidFill>
          <a:ln/>
        </p:spPr>
      </p:sp>
      <p:sp>
        <p:nvSpPr>
          <p:cNvPr id="10" name="Text 7"/>
          <p:cNvSpPr/>
          <p:nvPr/>
        </p:nvSpPr>
        <p:spPr>
          <a:xfrm>
            <a:off x="4597400" y="2621279"/>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B</a:t>
            </a:r>
            <a:endParaRPr lang="en-US" sz="2200" dirty="0"/>
          </a:p>
        </p:txBody>
      </p:sp>
      <p:sp>
        <p:nvSpPr>
          <p:cNvPr id="11" name="Text 8"/>
          <p:cNvSpPr/>
          <p:nvPr/>
        </p:nvSpPr>
        <p:spPr>
          <a:xfrm>
            <a:off x="4597400" y="2992121"/>
            <a:ext cx="308711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El menú principal del sitio</a:t>
            </a:r>
            <a:endParaRPr lang="en-US" sz="1400" dirty="0"/>
          </a:p>
        </p:txBody>
      </p:sp>
      <p:sp>
        <p:nvSpPr>
          <p:cNvPr id="12" name="Shape 9"/>
          <p:cNvSpPr/>
          <p:nvPr/>
        </p:nvSpPr>
        <p:spPr>
          <a:xfrm>
            <a:off x="7975600" y="2443479"/>
            <a:ext cx="3403600" cy="1206500"/>
          </a:xfrm>
          <a:prstGeom prst="roundRect">
            <a:avLst>
              <a:gd name="adj" fmla="val 8421"/>
            </a:avLst>
          </a:prstGeom>
          <a:solidFill>
            <a:srgbClr val="14182B"/>
          </a:solidFill>
          <a:ln/>
        </p:spPr>
      </p:sp>
      <p:sp>
        <p:nvSpPr>
          <p:cNvPr id="13" name="Text 10"/>
          <p:cNvSpPr/>
          <p:nvPr/>
        </p:nvSpPr>
        <p:spPr>
          <a:xfrm>
            <a:off x="8178800" y="2621279"/>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C</a:t>
            </a:r>
            <a:endParaRPr lang="en-US" sz="2200" dirty="0"/>
          </a:p>
        </p:txBody>
      </p:sp>
      <p:sp>
        <p:nvSpPr>
          <p:cNvPr id="14" name="Text 11"/>
          <p:cNvSpPr/>
          <p:nvPr/>
        </p:nvSpPr>
        <p:spPr>
          <a:xfrm>
            <a:off x="8178800" y="2992121"/>
            <a:ext cx="308711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“Noticias relacionadas”, al lado de la nota</a:t>
            </a:r>
            <a:endParaRPr lang="en-US" sz="1400" dirty="0"/>
          </a:p>
        </p:txBody>
      </p:sp>
      <p:sp>
        <p:nvSpPr>
          <p:cNvPr id="15" name="Shape 12"/>
          <p:cNvSpPr/>
          <p:nvPr/>
        </p:nvSpPr>
        <p:spPr>
          <a:xfrm>
            <a:off x="812800" y="3827779"/>
            <a:ext cx="3403600" cy="1206500"/>
          </a:xfrm>
          <a:prstGeom prst="roundRect">
            <a:avLst>
              <a:gd name="adj" fmla="val 8421"/>
            </a:avLst>
          </a:prstGeom>
          <a:solidFill>
            <a:srgbClr val="14182B"/>
          </a:solidFill>
          <a:ln/>
        </p:spPr>
      </p:sp>
      <p:sp>
        <p:nvSpPr>
          <p:cNvPr id="16" name="Text 13"/>
          <p:cNvSpPr/>
          <p:nvPr/>
        </p:nvSpPr>
        <p:spPr>
          <a:xfrm>
            <a:off x="1016000" y="4005579"/>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D</a:t>
            </a:r>
            <a:endParaRPr lang="en-US" sz="2200" dirty="0"/>
          </a:p>
        </p:txBody>
      </p:sp>
      <p:sp>
        <p:nvSpPr>
          <p:cNvPr id="17" name="Text 14"/>
          <p:cNvSpPr/>
          <p:nvPr/>
        </p:nvSpPr>
        <p:spPr>
          <a:xfrm>
            <a:off x="1016000" y="4376421"/>
            <a:ext cx="308711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Una foto con su pie de foto</a:t>
            </a:r>
            <a:endParaRPr lang="en-US" sz="1400" dirty="0"/>
          </a:p>
        </p:txBody>
      </p:sp>
      <p:sp>
        <p:nvSpPr>
          <p:cNvPr id="18" name="Shape 15"/>
          <p:cNvSpPr/>
          <p:nvPr/>
        </p:nvSpPr>
        <p:spPr>
          <a:xfrm>
            <a:off x="4394200" y="3827779"/>
            <a:ext cx="3403600" cy="1206500"/>
          </a:xfrm>
          <a:prstGeom prst="roundRect">
            <a:avLst>
              <a:gd name="adj" fmla="val 8421"/>
            </a:avLst>
          </a:prstGeom>
          <a:solidFill>
            <a:srgbClr val="14182B"/>
          </a:solidFill>
          <a:ln/>
        </p:spPr>
      </p:sp>
      <p:sp>
        <p:nvSpPr>
          <p:cNvPr id="19" name="Text 16"/>
          <p:cNvSpPr/>
          <p:nvPr/>
        </p:nvSpPr>
        <p:spPr>
          <a:xfrm>
            <a:off x="4597400" y="4005579"/>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E</a:t>
            </a:r>
            <a:endParaRPr lang="en-US" sz="2200" dirty="0"/>
          </a:p>
        </p:txBody>
      </p:sp>
      <p:sp>
        <p:nvSpPr>
          <p:cNvPr id="20" name="Text 17"/>
          <p:cNvSpPr/>
          <p:nvPr/>
        </p:nvSpPr>
        <p:spPr>
          <a:xfrm>
            <a:off x="4597400" y="4376421"/>
            <a:ext cx="308711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El bloque “Preguntas frecuentes”, con su h2</a:t>
            </a:r>
            <a:endParaRPr lang="en-US" sz="1400" dirty="0"/>
          </a:p>
        </p:txBody>
      </p:sp>
      <p:sp>
        <p:nvSpPr>
          <p:cNvPr id="21" name="Shape 18"/>
          <p:cNvSpPr/>
          <p:nvPr/>
        </p:nvSpPr>
        <p:spPr>
          <a:xfrm>
            <a:off x="7975600" y="3827779"/>
            <a:ext cx="3403600" cy="1206500"/>
          </a:xfrm>
          <a:prstGeom prst="roundRect">
            <a:avLst>
              <a:gd name="adj" fmla="val 8421"/>
            </a:avLst>
          </a:prstGeom>
          <a:solidFill>
            <a:srgbClr val="14182B"/>
          </a:solidFill>
          <a:ln/>
        </p:spPr>
      </p:sp>
      <p:sp>
        <p:nvSpPr>
          <p:cNvPr id="22" name="Text 19"/>
          <p:cNvSpPr/>
          <p:nvPr/>
        </p:nvSpPr>
        <p:spPr>
          <a:xfrm>
            <a:off x="8178800" y="4005579"/>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F</a:t>
            </a:r>
            <a:endParaRPr lang="en-US" sz="2200" dirty="0"/>
          </a:p>
        </p:txBody>
      </p:sp>
      <p:sp>
        <p:nvSpPr>
          <p:cNvPr id="23" name="Text 20"/>
          <p:cNvSpPr/>
          <p:nvPr/>
        </p:nvSpPr>
        <p:spPr>
          <a:xfrm>
            <a:off x="8178800" y="4376421"/>
            <a:ext cx="308711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Una caja que solo sirve para centrar el contenido</a:t>
            </a:r>
            <a:endParaRPr lang="en-US" sz="1400" dirty="0"/>
          </a:p>
        </p:txBody>
      </p:sp>
      <p:sp>
        <p:nvSpPr>
          <p:cNvPr id="24" name="Text 2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82B"/>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02 · ACCESIBILIDAD</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La web es para todas las personas</a:t>
            </a:r>
            <a:endParaRPr lang="en-US" sz="3600" dirty="0"/>
          </a:p>
        </p:txBody>
      </p:sp>
      <p:sp>
        <p:nvSpPr>
          <p:cNvPr id="4" name="Text 2"/>
          <p:cNvSpPr/>
          <p:nvPr/>
        </p:nvSpPr>
        <p:spPr>
          <a:xfrm>
            <a:off x="812800" y="1884679"/>
            <a:ext cx="5941799" cy="914400"/>
          </a:xfrm>
          <a:prstGeom prst="rect">
            <a:avLst/>
          </a:prstGeom>
          <a:noFill/>
          <a:ln/>
        </p:spPr>
        <p:txBody>
          <a:bodyPr wrap="none" lIns="0" tIns="0" rIns="0" bIns="0" rtlCol="0" anchor="t">
            <a:normAutofit/>
          </a:bodyPr>
          <a:lstStyle/>
          <a:p>
            <a:pPr algn="l" indent="0" marL="0">
              <a:lnSpc>
                <a:spcPts val="7000"/>
              </a:lnSpc>
              <a:buNone/>
            </a:pPr>
            <a:r>
              <a:rPr lang="en-US" sz="7000" b="1" spc="-200" kern="0" dirty="0">
                <a:solidFill>
                  <a:srgbClr val="C2410C"/>
                </a:solidFill>
                <a:latin typeface="Space Grotesk" pitchFamily="34" charset="0"/>
                <a:ea typeface="Space Grotesk" pitchFamily="34" charset="-122"/>
                <a:cs typeface="Space Grotesk" pitchFamily="34" charset="-120"/>
              </a:rPr>
              <a:t>1.300 millones</a:t>
            </a:r>
            <a:endParaRPr lang="en-US" sz="7000" dirty="0"/>
          </a:p>
        </p:txBody>
      </p:sp>
      <p:sp>
        <p:nvSpPr>
          <p:cNvPr id="5" name="Text 3"/>
          <p:cNvSpPr/>
          <p:nvPr/>
        </p:nvSpPr>
        <p:spPr>
          <a:xfrm>
            <a:off x="6886337" y="2054864"/>
            <a:ext cx="4627649"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182B"/>
                </a:solidFill>
                <a:latin typeface="Space Grotesk" pitchFamily="34" charset="0"/>
                <a:ea typeface="Space Grotesk" pitchFamily="34" charset="-122"/>
                <a:cs typeface="Space Grotesk" pitchFamily="34" charset="-120"/>
              </a:rPr>
              <a:t>de personas, el 16 % de la población mundial, viven con una discapacidad importante.</a:t>
            </a:r>
            <a:endParaRPr lang="en-US" sz="1600" dirty="0"/>
          </a:p>
        </p:txBody>
      </p:sp>
      <p:sp>
        <p:nvSpPr>
          <p:cNvPr id="6" name="Shape 4"/>
          <p:cNvSpPr/>
          <p:nvPr/>
        </p:nvSpPr>
        <p:spPr>
          <a:xfrm>
            <a:off x="815975" y="3030854"/>
            <a:ext cx="3397250" cy="1116330"/>
          </a:xfrm>
          <a:prstGeom prst="roundRect">
            <a:avLst>
              <a:gd name="adj" fmla="val 8817"/>
            </a:avLst>
          </a:prstGeom>
          <a:solidFill>
            <a:srgbClr val="FFFDF8"/>
          </a:solidFill>
          <a:ln w="6350">
            <a:solidFill>
              <a:srgbClr val="E4DFD3"/>
            </a:solidFill>
            <a:prstDash val="solid"/>
          </a:ln>
        </p:spPr>
      </p:sp>
      <p:sp>
        <p:nvSpPr>
          <p:cNvPr id="7" name="Text 5"/>
          <p:cNvSpPr/>
          <p:nvPr/>
        </p:nvSpPr>
        <p:spPr>
          <a:xfrm>
            <a:off x="1021080" y="3210564"/>
            <a:ext cx="30766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JetBrains Mono" pitchFamily="49" charset="0"/>
                <a:ea typeface="JetBrains Mono" pitchFamily="49" charset="-122"/>
                <a:cs typeface="JetBrains Mono" pitchFamily="49" charset="-120"/>
              </a:rPr>
              <a:t>PERMANENTE</a:t>
            </a:r>
            <a:endParaRPr lang="en-US" sz="1200" dirty="0"/>
          </a:p>
        </p:txBody>
      </p:sp>
      <p:sp>
        <p:nvSpPr>
          <p:cNvPr id="8" name="Text 6"/>
          <p:cNvSpPr/>
          <p:nvPr/>
        </p:nvSpPr>
        <p:spPr>
          <a:xfrm>
            <a:off x="1021080" y="3487421"/>
            <a:ext cx="3076651"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B3045"/>
                </a:solidFill>
                <a:latin typeface="Space Grotesk" pitchFamily="34" charset="0"/>
                <a:ea typeface="Space Grotesk" pitchFamily="34" charset="-122"/>
                <a:cs typeface="Space Grotesk" pitchFamily="34" charset="-120"/>
              </a:rPr>
              <a:t>Una persona ciega navega con lector de pantalla.</a:t>
            </a:r>
            <a:endParaRPr lang="en-US" sz="1400" dirty="0"/>
          </a:p>
        </p:txBody>
      </p:sp>
      <p:sp>
        <p:nvSpPr>
          <p:cNvPr id="9" name="Shape 7"/>
          <p:cNvSpPr/>
          <p:nvPr/>
        </p:nvSpPr>
        <p:spPr>
          <a:xfrm>
            <a:off x="4397375" y="3030854"/>
            <a:ext cx="3397250" cy="1116330"/>
          </a:xfrm>
          <a:prstGeom prst="roundRect">
            <a:avLst>
              <a:gd name="adj" fmla="val 8817"/>
            </a:avLst>
          </a:prstGeom>
          <a:solidFill>
            <a:srgbClr val="FFFDF8"/>
          </a:solidFill>
          <a:ln w="6350">
            <a:solidFill>
              <a:srgbClr val="E4DFD3"/>
            </a:solidFill>
            <a:prstDash val="solid"/>
          </a:ln>
        </p:spPr>
      </p:sp>
      <p:sp>
        <p:nvSpPr>
          <p:cNvPr id="10" name="Text 8"/>
          <p:cNvSpPr/>
          <p:nvPr/>
        </p:nvSpPr>
        <p:spPr>
          <a:xfrm>
            <a:off x="4602480" y="3210564"/>
            <a:ext cx="30766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JetBrains Mono" pitchFamily="49" charset="0"/>
                <a:ea typeface="JetBrains Mono" pitchFamily="49" charset="-122"/>
                <a:cs typeface="JetBrains Mono" pitchFamily="49" charset="-120"/>
              </a:rPr>
              <a:t>TEMPORAL</a:t>
            </a:r>
            <a:endParaRPr lang="en-US" sz="1200" dirty="0"/>
          </a:p>
        </p:txBody>
      </p:sp>
      <p:sp>
        <p:nvSpPr>
          <p:cNvPr id="11" name="Text 9"/>
          <p:cNvSpPr/>
          <p:nvPr/>
        </p:nvSpPr>
        <p:spPr>
          <a:xfrm>
            <a:off x="4602480" y="3487421"/>
            <a:ext cx="3076651"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B3045"/>
                </a:solidFill>
                <a:latin typeface="Space Grotesk" pitchFamily="34" charset="0"/>
                <a:ea typeface="Space Grotesk" pitchFamily="34" charset="-122"/>
                <a:cs typeface="Space Grotesk" pitchFamily="34" charset="-120"/>
              </a:rPr>
              <a:t>Con un brazo enyesado usas solo el teclado.</a:t>
            </a:r>
            <a:endParaRPr lang="en-US" sz="1400" dirty="0"/>
          </a:p>
        </p:txBody>
      </p:sp>
      <p:sp>
        <p:nvSpPr>
          <p:cNvPr id="12" name="Shape 10"/>
          <p:cNvSpPr/>
          <p:nvPr/>
        </p:nvSpPr>
        <p:spPr>
          <a:xfrm>
            <a:off x="7978775" y="3030854"/>
            <a:ext cx="3397250" cy="1116330"/>
          </a:xfrm>
          <a:prstGeom prst="roundRect">
            <a:avLst>
              <a:gd name="adj" fmla="val 8817"/>
            </a:avLst>
          </a:prstGeom>
          <a:solidFill>
            <a:srgbClr val="FFFDF8"/>
          </a:solidFill>
          <a:ln w="6350">
            <a:solidFill>
              <a:srgbClr val="E4DFD3"/>
            </a:solidFill>
            <a:prstDash val="solid"/>
          </a:ln>
        </p:spPr>
      </p:sp>
      <p:sp>
        <p:nvSpPr>
          <p:cNvPr id="13" name="Text 11"/>
          <p:cNvSpPr/>
          <p:nvPr/>
        </p:nvSpPr>
        <p:spPr>
          <a:xfrm>
            <a:off x="8183880" y="3210564"/>
            <a:ext cx="30766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JetBrains Mono" pitchFamily="49" charset="0"/>
                <a:ea typeface="JetBrains Mono" pitchFamily="49" charset="-122"/>
                <a:cs typeface="JetBrains Mono" pitchFamily="49" charset="-120"/>
              </a:rPr>
              <a:t>SITUACIONAL</a:t>
            </a:r>
            <a:endParaRPr lang="en-US" sz="1200" dirty="0"/>
          </a:p>
        </p:txBody>
      </p:sp>
      <p:sp>
        <p:nvSpPr>
          <p:cNvPr id="14" name="Text 12"/>
          <p:cNvSpPr/>
          <p:nvPr/>
        </p:nvSpPr>
        <p:spPr>
          <a:xfrm>
            <a:off x="8183880" y="3487421"/>
            <a:ext cx="3076651"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B3045"/>
                </a:solidFill>
                <a:latin typeface="Space Grotesk" pitchFamily="34" charset="0"/>
                <a:ea typeface="Space Grotesk" pitchFamily="34" charset="-122"/>
                <a:cs typeface="Space Grotesk" pitchFamily="34" charset="-120"/>
              </a:rPr>
              <a:t>Con el sol sobre la pantalla, un texto gris claro no se lee.</a:t>
            </a:r>
            <a:endParaRPr lang="en-US" sz="1400" dirty="0"/>
          </a:p>
        </p:txBody>
      </p:sp>
      <p:sp>
        <p:nvSpPr>
          <p:cNvPr id="15" name="Text 1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Fuente: OMS, Informe mundial sobre la equidad sanitaria para las personas con discapacidad (2022)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02 · ACCESIBILIDAD</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Los mismos seis errores, una y otra vez</a:t>
            </a:r>
            <a:endParaRPr lang="en-US" sz="3600" dirty="0"/>
          </a:p>
        </p:txBody>
      </p:sp>
      <p:sp>
        <p:nvSpPr>
          <p:cNvPr id="4" name="Text 2"/>
          <p:cNvSpPr/>
          <p:nvPr/>
        </p:nvSpPr>
        <p:spPr>
          <a:xfrm>
            <a:off x="812800" y="1884679"/>
            <a:ext cx="4055110" cy="914400"/>
          </a:xfrm>
          <a:prstGeom prst="rect">
            <a:avLst/>
          </a:prstGeom>
          <a:noFill/>
          <a:ln/>
        </p:spPr>
        <p:txBody>
          <a:bodyPr wrap="square" lIns="0" tIns="0" rIns="0" bIns="0" rtlCol="0" anchor="t">
            <a:normAutofit/>
          </a:bodyPr>
          <a:lstStyle/>
          <a:p>
            <a:pPr algn="l" indent="0" marL="0">
              <a:lnSpc>
                <a:spcPts val="7000"/>
              </a:lnSpc>
              <a:buNone/>
            </a:pPr>
            <a:r>
              <a:rPr lang="en-US" sz="7000" b="1" spc="-200" kern="0" dirty="0">
                <a:solidFill>
                  <a:srgbClr val="C2410C"/>
                </a:solidFill>
                <a:latin typeface="Space Grotesk" pitchFamily="34" charset="0"/>
                <a:ea typeface="Space Grotesk" pitchFamily="34" charset="-122"/>
                <a:cs typeface="Space Grotesk" pitchFamily="34" charset="-120"/>
              </a:rPr>
              <a:t>95,9 %</a:t>
            </a:r>
            <a:endParaRPr lang="en-US" sz="7000" dirty="0"/>
          </a:p>
        </p:txBody>
      </p:sp>
      <p:sp>
        <p:nvSpPr>
          <p:cNvPr id="5" name="Text 3"/>
          <p:cNvSpPr/>
          <p:nvPr/>
        </p:nvSpPr>
        <p:spPr>
          <a:xfrm>
            <a:off x="812800" y="2900679"/>
            <a:ext cx="4055110"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182B"/>
                </a:solidFill>
                <a:latin typeface="Space Grotesk" pitchFamily="34" charset="0"/>
                <a:ea typeface="Space Grotesk" pitchFamily="34" charset="-122"/>
                <a:cs typeface="Space Grotesk" pitchFamily="34" charset="-120"/>
              </a:rPr>
              <a:t>del millón de páginas de inicio más visitadas tienen errores de accesibilidad detectables.</a:t>
            </a:r>
            <a:endParaRPr lang="en-US" sz="1600" dirty="0"/>
          </a:p>
        </p:txBody>
      </p:sp>
      <p:sp>
        <p:nvSpPr>
          <p:cNvPr id="6" name="Text 4"/>
          <p:cNvSpPr/>
          <p:nvPr/>
        </p:nvSpPr>
        <p:spPr>
          <a:xfrm>
            <a:off x="812800" y="3850642"/>
            <a:ext cx="405511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475"/>
                </a:solidFill>
                <a:latin typeface="Space Grotesk" pitchFamily="34" charset="0"/>
                <a:ea typeface="Space Grotesk" pitchFamily="34" charset="-122"/>
                <a:cs typeface="Space Grotesk" pitchFamily="34" charset="-120"/>
              </a:rPr>
              <a:t>Estos seis tipos de error suman el 96 % de todo lo detectado.</a:t>
            </a:r>
            <a:endParaRPr lang="en-US" sz="1300" dirty="0"/>
          </a:p>
        </p:txBody>
      </p:sp>
      <p:sp>
        <p:nvSpPr>
          <p:cNvPr id="7" name="Text 5"/>
          <p:cNvSpPr/>
          <p:nvPr/>
        </p:nvSpPr>
        <p:spPr>
          <a:xfrm>
            <a:off x="5156200" y="1884679"/>
            <a:ext cx="240515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Texto con bajo contraste</a:t>
            </a:r>
            <a:endParaRPr lang="en-US" sz="1300" dirty="0"/>
          </a:p>
        </p:txBody>
      </p:sp>
      <p:sp>
        <p:nvSpPr>
          <p:cNvPr id="8" name="Text 6"/>
          <p:cNvSpPr/>
          <p:nvPr/>
        </p:nvSpPr>
        <p:spPr>
          <a:xfrm>
            <a:off x="10759028" y="1884679"/>
            <a:ext cx="620173"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4182B"/>
                </a:solidFill>
                <a:latin typeface="Space Grotesk" pitchFamily="34" charset="0"/>
                <a:ea typeface="Space Grotesk" pitchFamily="34" charset="-122"/>
                <a:cs typeface="Space Grotesk" pitchFamily="34" charset="-120"/>
              </a:rPr>
              <a:t>83,9 %</a:t>
            </a:r>
            <a:endParaRPr lang="en-US" sz="1300" dirty="0"/>
          </a:p>
        </p:txBody>
      </p:sp>
      <p:sp>
        <p:nvSpPr>
          <p:cNvPr id="9" name="Shape 7"/>
          <p:cNvSpPr/>
          <p:nvPr/>
        </p:nvSpPr>
        <p:spPr>
          <a:xfrm>
            <a:off x="5156200" y="2153921"/>
            <a:ext cx="5588000" cy="127000"/>
          </a:xfrm>
          <a:prstGeom prst="roundRect">
            <a:avLst>
              <a:gd name="adj" fmla="val 50000"/>
            </a:avLst>
          </a:prstGeom>
          <a:solidFill>
            <a:srgbClr val="EDE9DF"/>
          </a:solidFill>
          <a:ln/>
        </p:spPr>
      </p:sp>
      <p:sp>
        <p:nvSpPr>
          <p:cNvPr id="10" name="Shape 8"/>
          <p:cNvSpPr/>
          <p:nvPr/>
        </p:nvSpPr>
        <p:spPr>
          <a:xfrm>
            <a:off x="5156200" y="2153921"/>
            <a:ext cx="4686300" cy="127000"/>
          </a:xfrm>
          <a:prstGeom prst="roundRect">
            <a:avLst>
              <a:gd name="adj" fmla="val 50000"/>
            </a:avLst>
          </a:prstGeom>
          <a:solidFill>
            <a:srgbClr val="C2410C"/>
          </a:solidFill>
          <a:ln/>
        </p:spPr>
      </p:sp>
      <p:sp>
        <p:nvSpPr>
          <p:cNvPr id="11" name="Text 9"/>
          <p:cNvSpPr/>
          <p:nvPr/>
        </p:nvSpPr>
        <p:spPr>
          <a:xfrm>
            <a:off x="5156200" y="2395221"/>
            <a:ext cx="290655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Imágenes sin texto alternativo</a:t>
            </a:r>
            <a:endParaRPr lang="en-US" sz="1300" dirty="0"/>
          </a:p>
        </p:txBody>
      </p:sp>
      <p:sp>
        <p:nvSpPr>
          <p:cNvPr id="12" name="Text 10"/>
          <p:cNvSpPr/>
          <p:nvPr/>
        </p:nvSpPr>
        <p:spPr>
          <a:xfrm>
            <a:off x="10801794" y="2395221"/>
            <a:ext cx="577406"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4182B"/>
                </a:solidFill>
                <a:latin typeface="Space Grotesk" pitchFamily="34" charset="0"/>
                <a:ea typeface="Space Grotesk" pitchFamily="34" charset="-122"/>
                <a:cs typeface="Space Grotesk" pitchFamily="34" charset="-120"/>
              </a:rPr>
              <a:t>53,1 %</a:t>
            </a:r>
            <a:endParaRPr lang="en-US" sz="1300" dirty="0"/>
          </a:p>
        </p:txBody>
      </p:sp>
      <p:sp>
        <p:nvSpPr>
          <p:cNvPr id="13" name="Shape 11"/>
          <p:cNvSpPr/>
          <p:nvPr/>
        </p:nvSpPr>
        <p:spPr>
          <a:xfrm>
            <a:off x="5156200" y="2664464"/>
            <a:ext cx="5588000" cy="127000"/>
          </a:xfrm>
          <a:prstGeom prst="roundRect">
            <a:avLst>
              <a:gd name="adj" fmla="val 50000"/>
            </a:avLst>
          </a:prstGeom>
          <a:solidFill>
            <a:srgbClr val="EDE9DF"/>
          </a:solidFill>
          <a:ln/>
        </p:spPr>
      </p:sp>
      <p:sp>
        <p:nvSpPr>
          <p:cNvPr id="14" name="Shape 12"/>
          <p:cNvSpPr/>
          <p:nvPr/>
        </p:nvSpPr>
        <p:spPr>
          <a:xfrm>
            <a:off x="5156200" y="2664464"/>
            <a:ext cx="2965450" cy="127000"/>
          </a:xfrm>
          <a:prstGeom prst="roundRect">
            <a:avLst>
              <a:gd name="adj" fmla="val 50000"/>
            </a:avLst>
          </a:prstGeom>
          <a:solidFill>
            <a:srgbClr val="C2410C"/>
          </a:solidFill>
          <a:ln/>
        </p:spPr>
      </p:sp>
      <p:sp>
        <p:nvSpPr>
          <p:cNvPr id="15" name="Text 13"/>
          <p:cNvSpPr/>
          <p:nvPr/>
        </p:nvSpPr>
        <p:spPr>
          <a:xfrm>
            <a:off x="5156200" y="2905764"/>
            <a:ext cx="292293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Campos de formulario sin label</a:t>
            </a:r>
            <a:endParaRPr lang="en-US" sz="1300" dirty="0"/>
          </a:p>
        </p:txBody>
      </p:sp>
      <p:sp>
        <p:nvSpPr>
          <p:cNvPr id="16" name="Text 14"/>
          <p:cNvSpPr/>
          <p:nvPr/>
        </p:nvSpPr>
        <p:spPr>
          <a:xfrm>
            <a:off x="10789508" y="2905764"/>
            <a:ext cx="589693"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4182B"/>
                </a:solidFill>
                <a:latin typeface="Space Grotesk" pitchFamily="34" charset="0"/>
                <a:ea typeface="Space Grotesk" pitchFamily="34" charset="-122"/>
                <a:cs typeface="Space Grotesk" pitchFamily="34" charset="-120"/>
              </a:rPr>
              <a:t>51,0 %</a:t>
            </a:r>
            <a:endParaRPr lang="en-US" sz="1300" dirty="0"/>
          </a:p>
        </p:txBody>
      </p:sp>
      <p:sp>
        <p:nvSpPr>
          <p:cNvPr id="17" name="Shape 15"/>
          <p:cNvSpPr/>
          <p:nvPr/>
        </p:nvSpPr>
        <p:spPr>
          <a:xfrm>
            <a:off x="5156200" y="3175000"/>
            <a:ext cx="5588000" cy="127000"/>
          </a:xfrm>
          <a:prstGeom prst="roundRect">
            <a:avLst>
              <a:gd name="adj" fmla="val 50000"/>
            </a:avLst>
          </a:prstGeom>
          <a:solidFill>
            <a:srgbClr val="EDE9DF"/>
          </a:solidFill>
          <a:ln/>
        </p:spPr>
      </p:sp>
      <p:sp>
        <p:nvSpPr>
          <p:cNvPr id="18" name="Shape 16"/>
          <p:cNvSpPr/>
          <p:nvPr/>
        </p:nvSpPr>
        <p:spPr>
          <a:xfrm>
            <a:off x="5156200" y="3175000"/>
            <a:ext cx="2851150" cy="127000"/>
          </a:xfrm>
          <a:prstGeom prst="roundRect">
            <a:avLst>
              <a:gd name="adj" fmla="val 50000"/>
            </a:avLst>
          </a:prstGeom>
          <a:solidFill>
            <a:srgbClr val="C2410C"/>
          </a:solidFill>
          <a:ln/>
        </p:spPr>
      </p:sp>
      <p:sp>
        <p:nvSpPr>
          <p:cNvPr id="19" name="Text 17"/>
          <p:cNvSpPr/>
          <p:nvPr/>
        </p:nvSpPr>
        <p:spPr>
          <a:xfrm>
            <a:off x="5156200" y="3416300"/>
            <a:ext cx="139274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Enlaces vacíos</a:t>
            </a:r>
            <a:endParaRPr lang="en-US" sz="1300" dirty="0"/>
          </a:p>
        </p:txBody>
      </p:sp>
      <p:sp>
        <p:nvSpPr>
          <p:cNvPr id="20" name="Text 18"/>
          <p:cNvSpPr/>
          <p:nvPr/>
        </p:nvSpPr>
        <p:spPr>
          <a:xfrm>
            <a:off x="10751884" y="3416300"/>
            <a:ext cx="627317"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4182B"/>
                </a:solidFill>
                <a:latin typeface="Space Grotesk" pitchFamily="34" charset="0"/>
                <a:ea typeface="Space Grotesk" pitchFamily="34" charset="-122"/>
                <a:cs typeface="Space Grotesk" pitchFamily="34" charset="-120"/>
              </a:rPr>
              <a:t>46,3 %</a:t>
            </a:r>
            <a:endParaRPr lang="en-US" sz="1300" dirty="0"/>
          </a:p>
        </p:txBody>
      </p:sp>
      <p:sp>
        <p:nvSpPr>
          <p:cNvPr id="21" name="Shape 19"/>
          <p:cNvSpPr/>
          <p:nvPr/>
        </p:nvSpPr>
        <p:spPr>
          <a:xfrm>
            <a:off x="5156200" y="3685542"/>
            <a:ext cx="5588000" cy="127000"/>
          </a:xfrm>
          <a:prstGeom prst="roundRect">
            <a:avLst>
              <a:gd name="adj" fmla="val 50000"/>
            </a:avLst>
          </a:prstGeom>
          <a:solidFill>
            <a:srgbClr val="EDE9DF"/>
          </a:solidFill>
          <a:ln/>
        </p:spPr>
      </p:sp>
      <p:sp>
        <p:nvSpPr>
          <p:cNvPr id="22" name="Shape 20"/>
          <p:cNvSpPr/>
          <p:nvPr/>
        </p:nvSpPr>
        <p:spPr>
          <a:xfrm>
            <a:off x="5156200" y="3685542"/>
            <a:ext cx="2584450" cy="127000"/>
          </a:xfrm>
          <a:prstGeom prst="roundRect">
            <a:avLst>
              <a:gd name="adj" fmla="val 50000"/>
            </a:avLst>
          </a:prstGeom>
          <a:solidFill>
            <a:srgbClr val="C2410C"/>
          </a:solidFill>
          <a:ln/>
        </p:spPr>
      </p:sp>
      <p:sp>
        <p:nvSpPr>
          <p:cNvPr id="23" name="Text 21"/>
          <p:cNvSpPr/>
          <p:nvPr/>
        </p:nvSpPr>
        <p:spPr>
          <a:xfrm>
            <a:off x="5156200" y="3926842"/>
            <a:ext cx="14624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Botones vacíos</a:t>
            </a:r>
            <a:endParaRPr lang="en-US" sz="1300" dirty="0"/>
          </a:p>
        </p:txBody>
      </p:sp>
      <p:sp>
        <p:nvSpPr>
          <p:cNvPr id="24" name="Text 22"/>
          <p:cNvSpPr/>
          <p:nvPr/>
        </p:nvSpPr>
        <p:spPr>
          <a:xfrm>
            <a:off x="10753503" y="3926842"/>
            <a:ext cx="625697"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4182B"/>
                </a:solidFill>
                <a:latin typeface="Space Grotesk" pitchFamily="34" charset="0"/>
                <a:ea typeface="Space Grotesk" pitchFamily="34" charset="-122"/>
                <a:cs typeface="Space Grotesk" pitchFamily="34" charset="-120"/>
              </a:rPr>
              <a:t>30,6 %</a:t>
            </a:r>
            <a:endParaRPr lang="en-US" sz="1300" dirty="0"/>
          </a:p>
        </p:txBody>
      </p:sp>
      <p:sp>
        <p:nvSpPr>
          <p:cNvPr id="25" name="Shape 23"/>
          <p:cNvSpPr/>
          <p:nvPr/>
        </p:nvSpPr>
        <p:spPr>
          <a:xfrm>
            <a:off x="5156200" y="4196079"/>
            <a:ext cx="5588000" cy="127000"/>
          </a:xfrm>
          <a:prstGeom prst="roundRect">
            <a:avLst>
              <a:gd name="adj" fmla="val 50000"/>
            </a:avLst>
          </a:prstGeom>
          <a:solidFill>
            <a:srgbClr val="EDE9DF"/>
          </a:solidFill>
          <a:ln/>
        </p:spPr>
      </p:sp>
      <p:sp>
        <p:nvSpPr>
          <p:cNvPr id="26" name="Shape 24"/>
          <p:cNvSpPr/>
          <p:nvPr/>
        </p:nvSpPr>
        <p:spPr>
          <a:xfrm>
            <a:off x="5156200" y="4196079"/>
            <a:ext cx="1708150" cy="127000"/>
          </a:xfrm>
          <a:prstGeom prst="roundRect">
            <a:avLst>
              <a:gd name="adj" fmla="val 50000"/>
            </a:avLst>
          </a:prstGeom>
          <a:solidFill>
            <a:srgbClr val="C2410C"/>
          </a:solidFill>
          <a:ln/>
        </p:spPr>
      </p:sp>
      <p:sp>
        <p:nvSpPr>
          <p:cNvPr id="27" name="Text 25"/>
          <p:cNvSpPr/>
          <p:nvPr/>
        </p:nvSpPr>
        <p:spPr>
          <a:xfrm>
            <a:off x="5156200" y="4437379"/>
            <a:ext cx="265614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Página sin idioma declarado</a:t>
            </a:r>
            <a:endParaRPr lang="en-US" sz="1300" dirty="0"/>
          </a:p>
        </p:txBody>
      </p:sp>
      <p:sp>
        <p:nvSpPr>
          <p:cNvPr id="28" name="Text 26"/>
          <p:cNvSpPr/>
          <p:nvPr/>
        </p:nvSpPr>
        <p:spPr>
          <a:xfrm>
            <a:off x="10791508" y="4437379"/>
            <a:ext cx="587693"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4182B"/>
                </a:solidFill>
                <a:latin typeface="Space Grotesk" pitchFamily="34" charset="0"/>
                <a:ea typeface="Space Grotesk" pitchFamily="34" charset="-122"/>
                <a:cs typeface="Space Grotesk" pitchFamily="34" charset="-120"/>
              </a:rPr>
              <a:t>13,5 %</a:t>
            </a:r>
            <a:endParaRPr lang="en-US" sz="1300" dirty="0"/>
          </a:p>
        </p:txBody>
      </p:sp>
      <p:sp>
        <p:nvSpPr>
          <p:cNvPr id="29" name="Shape 27"/>
          <p:cNvSpPr/>
          <p:nvPr/>
        </p:nvSpPr>
        <p:spPr>
          <a:xfrm>
            <a:off x="5156200" y="4706621"/>
            <a:ext cx="5588000" cy="127000"/>
          </a:xfrm>
          <a:prstGeom prst="roundRect">
            <a:avLst>
              <a:gd name="adj" fmla="val 50000"/>
            </a:avLst>
          </a:prstGeom>
          <a:solidFill>
            <a:srgbClr val="EDE9DF"/>
          </a:solidFill>
          <a:ln/>
        </p:spPr>
      </p:sp>
      <p:sp>
        <p:nvSpPr>
          <p:cNvPr id="30" name="Shape 28"/>
          <p:cNvSpPr/>
          <p:nvPr/>
        </p:nvSpPr>
        <p:spPr>
          <a:xfrm>
            <a:off x="5156200" y="4706621"/>
            <a:ext cx="755650" cy="127000"/>
          </a:xfrm>
          <a:prstGeom prst="roundRect">
            <a:avLst>
              <a:gd name="adj" fmla="val 50000"/>
            </a:avLst>
          </a:prstGeom>
          <a:solidFill>
            <a:srgbClr val="C2410C"/>
          </a:solidFill>
          <a:ln/>
        </p:spPr>
      </p:sp>
      <p:sp>
        <p:nvSpPr>
          <p:cNvPr id="31" name="Text 29"/>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Fuente: WebAIM Million 2026 · porcentaje de páginas de inicio con cada error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02 · ACCESIBILIDAD</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En Colombia, la accesibilidad es requisito</a:t>
            </a:r>
            <a:endParaRPr lang="en-US" sz="3600" dirty="0"/>
          </a:p>
        </p:txBody>
      </p:sp>
      <p:sp>
        <p:nvSpPr>
          <p:cNvPr id="4" name="Shape 2"/>
          <p:cNvSpPr/>
          <p:nvPr/>
        </p:nvSpPr>
        <p:spPr>
          <a:xfrm>
            <a:off x="812800" y="1935479"/>
            <a:ext cx="10566400" cy="1475740"/>
          </a:xfrm>
          <a:prstGeom prst="roundRect">
            <a:avLst>
              <a:gd name="adj" fmla="val 6885"/>
            </a:avLst>
          </a:prstGeom>
          <a:solidFill>
            <a:srgbClr val="14182B"/>
          </a:solidFill>
          <a:ln/>
        </p:spPr>
      </p:sp>
      <p:sp>
        <p:nvSpPr>
          <p:cNvPr id="5" name="Text 3"/>
          <p:cNvSpPr/>
          <p:nvPr/>
        </p:nvSpPr>
        <p:spPr>
          <a:xfrm>
            <a:off x="1117600" y="2189479"/>
            <a:ext cx="1025550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8A5C"/>
                </a:solidFill>
                <a:latin typeface="JetBrains Mono" pitchFamily="49" charset="0"/>
                <a:ea typeface="JetBrains Mono" pitchFamily="49" charset="-122"/>
                <a:cs typeface="JetBrains Mono" pitchFamily="49" charset="-120"/>
              </a:rPr>
              <a:t>Resolución 1519 de 2020 · MinTIC</a:t>
            </a:r>
            <a:endParaRPr lang="en-US" sz="1300" dirty="0"/>
          </a:p>
        </p:txBody>
      </p:sp>
      <p:sp>
        <p:nvSpPr>
          <p:cNvPr id="6" name="Text 4"/>
          <p:cNvSpPr/>
          <p:nvPr/>
        </p:nvSpPr>
        <p:spPr>
          <a:xfrm>
            <a:off x="1117600" y="2522221"/>
            <a:ext cx="10255504" cy="6604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F7F5EF"/>
                </a:solidFill>
                <a:latin typeface="Space Grotesk" pitchFamily="34" charset="0"/>
                <a:ea typeface="Space Grotesk" pitchFamily="34" charset="-122"/>
                <a:cs typeface="Space Grotesk" pitchFamily="34" charset="-120"/>
              </a:rPr>
              <a:t>Desde 2022, los sitios web de las entidades públicas deben cumplir las pautas WCAG 2.1 en nivel AA.</a:t>
            </a:r>
            <a:endParaRPr lang="en-US" sz="2000" dirty="0"/>
          </a:p>
        </p:txBody>
      </p:sp>
      <p:sp>
        <p:nvSpPr>
          <p:cNvPr id="7" name="Shape 5"/>
          <p:cNvSpPr/>
          <p:nvPr/>
        </p:nvSpPr>
        <p:spPr>
          <a:xfrm>
            <a:off x="815975" y="3719196"/>
            <a:ext cx="5175250" cy="1477010"/>
          </a:xfrm>
          <a:prstGeom prst="roundRect">
            <a:avLst>
              <a:gd name="adj" fmla="val 6664"/>
            </a:avLst>
          </a:prstGeom>
          <a:solidFill>
            <a:srgbClr val="FFFDF8"/>
          </a:solidFill>
          <a:ln w="6350">
            <a:solidFill>
              <a:srgbClr val="E4DFD3"/>
            </a:solidFill>
            <a:prstDash val="solid"/>
          </a:ln>
        </p:spPr>
      </p:sp>
      <p:sp>
        <p:nvSpPr>
          <p:cNvPr id="8" name="Text 6"/>
          <p:cNvSpPr/>
          <p:nvPr/>
        </p:nvSpPr>
        <p:spPr>
          <a:xfrm>
            <a:off x="1046480" y="3924300"/>
            <a:ext cx="485566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¿A quién aplica?</a:t>
            </a:r>
            <a:endParaRPr lang="en-US" sz="1600" dirty="0"/>
          </a:p>
        </p:txBody>
      </p:sp>
      <p:sp>
        <p:nvSpPr>
          <p:cNvPr id="9" name="Text 7"/>
          <p:cNvSpPr/>
          <p:nvPr/>
        </p:nvSpPr>
        <p:spPr>
          <a:xfrm>
            <a:off x="1046480" y="4244342"/>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A las entidades públicas y a quienes cumplen funciones públicas o manejan recursos públicos.</a:t>
            </a:r>
            <a:endParaRPr lang="en-US" sz="1400" dirty="0"/>
          </a:p>
        </p:txBody>
      </p:sp>
      <p:sp>
        <p:nvSpPr>
          <p:cNvPr id="10" name="Shape 8"/>
          <p:cNvSpPr/>
          <p:nvPr/>
        </p:nvSpPr>
        <p:spPr>
          <a:xfrm>
            <a:off x="6200775" y="3719196"/>
            <a:ext cx="5175250" cy="1477010"/>
          </a:xfrm>
          <a:prstGeom prst="roundRect">
            <a:avLst>
              <a:gd name="adj" fmla="val 6664"/>
            </a:avLst>
          </a:prstGeom>
          <a:solidFill>
            <a:srgbClr val="FFFDF8"/>
          </a:solidFill>
          <a:ln w="6350">
            <a:solidFill>
              <a:srgbClr val="E4DFD3"/>
            </a:solidFill>
            <a:prstDash val="solid"/>
          </a:ln>
        </p:spPr>
      </p:sp>
      <p:sp>
        <p:nvSpPr>
          <p:cNvPr id="11" name="Text 9"/>
          <p:cNvSpPr/>
          <p:nvPr/>
        </p:nvSpPr>
        <p:spPr>
          <a:xfrm>
            <a:off x="6431280" y="3924300"/>
            <a:ext cx="485566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¿Por qué te importa?</a:t>
            </a:r>
            <a:endParaRPr lang="en-US" sz="1600" dirty="0"/>
          </a:p>
        </p:txBody>
      </p:sp>
      <p:sp>
        <p:nvSpPr>
          <p:cNvPr id="12" name="Text 10"/>
          <p:cNvSpPr/>
          <p:nvPr/>
        </p:nvSpPr>
        <p:spPr>
          <a:xfrm>
            <a:off x="6431280" y="4244342"/>
            <a:ext cx="485566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Si trabajas para el Estado o para uno de sus contratistas, te lo van a exigir. Fuera del Estado, un sitio accesible llega a más clientes.</a:t>
            </a:r>
            <a:endParaRPr lang="en-US" sz="1400" dirty="0"/>
          </a:p>
        </p:txBody>
      </p:sp>
      <p:sp>
        <p:nvSpPr>
          <p:cNvPr id="13" name="Text 1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Fuente: Resolución 1519 de 2020 del MinTIC, artículo 3 y anexo 1</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02 · ACCESIBILIDAD</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WCAG: cuatro principios</a:t>
            </a:r>
            <a:endParaRPr lang="en-US" sz="3600" dirty="0"/>
          </a:p>
        </p:txBody>
      </p:sp>
      <p:sp>
        <p:nvSpPr>
          <p:cNvPr id="4" name="Shape 2"/>
          <p:cNvSpPr/>
          <p:nvPr/>
        </p:nvSpPr>
        <p:spPr>
          <a:xfrm>
            <a:off x="815975" y="1938654"/>
            <a:ext cx="2520950" cy="2340610"/>
          </a:xfrm>
          <a:prstGeom prst="roundRect">
            <a:avLst>
              <a:gd name="adj" fmla="val 4205"/>
            </a:avLst>
          </a:prstGeom>
          <a:solidFill>
            <a:srgbClr val="FFFDF8"/>
          </a:solidFill>
          <a:ln w="6350">
            <a:solidFill>
              <a:srgbClr val="E4DFD3"/>
            </a:solidFill>
            <a:prstDash val="solid"/>
          </a:ln>
        </p:spPr>
      </p:sp>
      <p:sp>
        <p:nvSpPr>
          <p:cNvPr id="5" name="Text 3"/>
          <p:cNvSpPr/>
          <p:nvPr/>
        </p:nvSpPr>
        <p:spPr>
          <a:xfrm>
            <a:off x="1021080" y="2143764"/>
            <a:ext cx="217406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2410C"/>
                </a:solidFill>
                <a:latin typeface="Space Grotesk" pitchFamily="34" charset="0"/>
                <a:ea typeface="Space Grotesk" pitchFamily="34" charset="-122"/>
                <a:cs typeface="Space Grotesk" pitchFamily="34" charset="-120"/>
              </a:rPr>
              <a:t>P</a:t>
            </a:r>
            <a:endParaRPr lang="en-US" sz="4800" dirty="0"/>
          </a:p>
        </p:txBody>
      </p:sp>
      <p:sp>
        <p:nvSpPr>
          <p:cNvPr id="6" name="Text 4"/>
          <p:cNvSpPr/>
          <p:nvPr/>
        </p:nvSpPr>
        <p:spPr>
          <a:xfrm>
            <a:off x="1021080" y="2829564"/>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Perceptible</a:t>
            </a:r>
            <a:endParaRPr lang="en-US" sz="1600" dirty="0"/>
          </a:p>
        </p:txBody>
      </p:sp>
      <p:sp>
        <p:nvSpPr>
          <p:cNvPr id="7" name="Text 5"/>
          <p:cNvSpPr/>
          <p:nvPr/>
        </p:nvSpPr>
        <p:spPr>
          <a:xfrm>
            <a:off x="1021080" y="3149600"/>
            <a:ext cx="2174062"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045"/>
                </a:solidFill>
                <a:latin typeface="Space Grotesk" pitchFamily="34" charset="0"/>
                <a:ea typeface="Space Grotesk" pitchFamily="34" charset="-122"/>
                <a:cs typeface="Space Grotesk" pitchFamily="34" charset="-120"/>
              </a:rPr>
              <a:t>Todo se puede percibir de más de una forma: texto alternativo, subtítulos, buen contraste.</a:t>
            </a:r>
            <a:endParaRPr lang="en-US" sz="1300" dirty="0"/>
          </a:p>
        </p:txBody>
      </p:sp>
      <p:sp>
        <p:nvSpPr>
          <p:cNvPr id="8" name="Shape 6"/>
          <p:cNvSpPr/>
          <p:nvPr/>
        </p:nvSpPr>
        <p:spPr>
          <a:xfrm>
            <a:off x="3495675" y="1938654"/>
            <a:ext cx="2520950" cy="2340610"/>
          </a:xfrm>
          <a:prstGeom prst="roundRect">
            <a:avLst>
              <a:gd name="adj" fmla="val 4205"/>
            </a:avLst>
          </a:prstGeom>
          <a:solidFill>
            <a:srgbClr val="FFFDF8"/>
          </a:solidFill>
          <a:ln w="6350">
            <a:solidFill>
              <a:srgbClr val="E4DFD3"/>
            </a:solidFill>
            <a:prstDash val="solid"/>
          </a:ln>
        </p:spPr>
      </p:sp>
      <p:sp>
        <p:nvSpPr>
          <p:cNvPr id="9" name="Text 7"/>
          <p:cNvSpPr/>
          <p:nvPr/>
        </p:nvSpPr>
        <p:spPr>
          <a:xfrm>
            <a:off x="3700780" y="2143764"/>
            <a:ext cx="217406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2410C"/>
                </a:solidFill>
                <a:latin typeface="Space Grotesk" pitchFamily="34" charset="0"/>
                <a:ea typeface="Space Grotesk" pitchFamily="34" charset="-122"/>
                <a:cs typeface="Space Grotesk" pitchFamily="34" charset="-120"/>
              </a:rPr>
              <a:t>O</a:t>
            </a:r>
            <a:endParaRPr lang="en-US" sz="4800" dirty="0"/>
          </a:p>
        </p:txBody>
      </p:sp>
      <p:sp>
        <p:nvSpPr>
          <p:cNvPr id="10" name="Text 8"/>
          <p:cNvSpPr/>
          <p:nvPr/>
        </p:nvSpPr>
        <p:spPr>
          <a:xfrm>
            <a:off x="3700780" y="2829564"/>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Operable</a:t>
            </a:r>
            <a:endParaRPr lang="en-US" sz="1600" dirty="0"/>
          </a:p>
        </p:txBody>
      </p:sp>
      <p:sp>
        <p:nvSpPr>
          <p:cNvPr id="11" name="Text 9"/>
          <p:cNvSpPr/>
          <p:nvPr/>
        </p:nvSpPr>
        <p:spPr>
          <a:xfrm>
            <a:off x="3700780" y="3149600"/>
            <a:ext cx="2174062"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045"/>
                </a:solidFill>
                <a:latin typeface="Space Grotesk" pitchFamily="34" charset="0"/>
                <a:ea typeface="Space Grotesk" pitchFamily="34" charset="-122"/>
                <a:cs typeface="Space Grotesk" pitchFamily="34" charset="-120"/>
              </a:rPr>
              <a:t>Todo se puede usar con teclado, con tiempo suficiente y con el foco visible.</a:t>
            </a:r>
            <a:endParaRPr lang="en-US" sz="1300" dirty="0"/>
          </a:p>
        </p:txBody>
      </p:sp>
      <p:sp>
        <p:nvSpPr>
          <p:cNvPr id="12" name="Shape 10"/>
          <p:cNvSpPr/>
          <p:nvPr/>
        </p:nvSpPr>
        <p:spPr>
          <a:xfrm>
            <a:off x="6175375" y="1938654"/>
            <a:ext cx="2520950" cy="2340610"/>
          </a:xfrm>
          <a:prstGeom prst="roundRect">
            <a:avLst>
              <a:gd name="adj" fmla="val 4205"/>
            </a:avLst>
          </a:prstGeom>
          <a:solidFill>
            <a:srgbClr val="FFFDF8"/>
          </a:solidFill>
          <a:ln w="6350">
            <a:solidFill>
              <a:srgbClr val="E4DFD3"/>
            </a:solidFill>
            <a:prstDash val="solid"/>
          </a:ln>
        </p:spPr>
      </p:sp>
      <p:sp>
        <p:nvSpPr>
          <p:cNvPr id="13" name="Text 11"/>
          <p:cNvSpPr/>
          <p:nvPr/>
        </p:nvSpPr>
        <p:spPr>
          <a:xfrm>
            <a:off x="6380480" y="2143764"/>
            <a:ext cx="217406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2410C"/>
                </a:solidFill>
                <a:latin typeface="Space Grotesk" pitchFamily="34" charset="0"/>
                <a:ea typeface="Space Grotesk" pitchFamily="34" charset="-122"/>
                <a:cs typeface="Space Grotesk" pitchFamily="34" charset="-120"/>
              </a:rPr>
              <a:t>C</a:t>
            </a:r>
            <a:endParaRPr lang="en-US" sz="4800" dirty="0"/>
          </a:p>
        </p:txBody>
      </p:sp>
      <p:sp>
        <p:nvSpPr>
          <p:cNvPr id="14" name="Text 12"/>
          <p:cNvSpPr/>
          <p:nvPr/>
        </p:nvSpPr>
        <p:spPr>
          <a:xfrm>
            <a:off x="6380480" y="2829564"/>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Comprensible</a:t>
            </a:r>
            <a:endParaRPr lang="en-US" sz="1600" dirty="0"/>
          </a:p>
        </p:txBody>
      </p:sp>
      <p:sp>
        <p:nvSpPr>
          <p:cNvPr id="15" name="Text 13"/>
          <p:cNvSpPr/>
          <p:nvPr/>
        </p:nvSpPr>
        <p:spPr>
          <a:xfrm>
            <a:off x="6380480" y="3149600"/>
            <a:ext cx="217406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045"/>
                </a:solidFill>
                <a:latin typeface="Space Grotesk" pitchFamily="34" charset="0"/>
                <a:ea typeface="Space Grotesk" pitchFamily="34" charset="-122"/>
                <a:cs typeface="Space Grotesk" pitchFamily="34" charset="-120"/>
              </a:rPr>
              <a:t>Lenguaje claro, etiquetas visibles y errores que explican qué hacer.</a:t>
            </a:r>
            <a:endParaRPr lang="en-US" sz="1300" dirty="0"/>
          </a:p>
        </p:txBody>
      </p:sp>
      <p:sp>
        <p:nvSpPr>
          <p:cNvPr id="16" name="Shape 14"/>
          <p:cNvSpPr/>
          <p:nvPr/>
        </p:nvSpPr>
        <p:spPr>
          <a:xfrm>
            <a:off x="8855075" y="1938654"/>
            <a:ext cx="2520950" cy="2340610"/>
          </a:xfrm>
          <a:prstGeom prst="roundRect">
            <a:avLst>
              <a:gd name="adj" fmla="val 4205"/>
            </a:avLst>
          </a:prstGeom>
          <a:solidFill>
            <a:srgbClr val="FFFDF8"/>
          </a:solidFill>
          <a:ln w="6350">
            <a:solidFill>
              <a:srgbClr val="E4DFD3"/>
            </a:solidFill>
            <a:prstDash val="solid"/>
          </a:ln>
        </p:spPr>
      </p:sp>
      <p:sp>
        <p:nvSpPr>
          <p:cNvPr id="17" name="Text 15"/>
          <p:cNvSpPr/>
          <p:nvPr/>
        </p:nvSpPr>
        <p:spPr>
          <a:xfrm>
            <a:off x="9060180" y="2143764"/>
            <a:ext cx="217406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2410C"/>
                </a:solidFill>
                <a:latin typeface="Space Grotesk" pitchFamily="34" charset="0"/>
                <a:ea typeface="Space Grotesk" pitchFamily="34" charset="-122"/>
                <a:cs typeface="Space Grotesk" pitchFamily="34" charset="-120"/>
              </a:rPr>
              <a:t>R</a:t>
            </a:r>
            <a:endParaRPr lang="en-US" sz="4800" dirty="0"/>
          </a:p>
        </p:txBody>
      </p:sp>
      <p:sp>
        <p:nvSpPr>
          <p:cNvPr id="18" name="Text 16"/>
          <p:cNvSpPr/>
          <p:nvPr/>
        </p:nvSpPr>
        <p:spPr>
          <a:xfrm>
            <a:off x="9060180" y="2829564"/>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Robusto</a:t>
            </a:r>
            <a:endParaRPr lang="en-US" sz="1600" dirty="0"/>
          </a:p>
        </p:txBody>
      </p:sp>
      <p:sp>
        <p:nvSpPr>
          <p:cNvPr id="19" name="Text 17"/>
          <p:cNvSpPr/>
          <p:nvPr/>
        </p:nvSpPr>
        <p:spPr>
          <a:xfrm>
            <a:off x="9060180" y="3149600"/>
            <a:ext cx="2174062"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045"/>
                </a:solidFill>
                <a:latin typeface="Space Grotesk" pitchFamily="34" charset="0"/>
                <a:ea typeface="Space Grotesk" pitchFamily="34" charset="-122"/>
                <a:cs typeface="Space Grotesk" pitchFamily="34" charset="-120"/>
              </a:rPr>
              <a:t>HTML válido y semántico que funcione en cualquier navegador y tecnología de apoyo.</a:t>
            </a:r>
            <a:endParaRPr lang="en-US" sz="1300" dirty="0"/>
          </a:p>
        </p:txBody>
      </p:sp>
      <p:sp>
        <p:nvSpPr>
          <p:cNvPr id="20" name="Text 18"/>
          <p:cNvSpPr/>
          <p:nvPr/>
        </p:nvSpPr>
        <p:spPr>
          <a:xfrm>
            <a:off x="812800" y="4646929"/>
            <a:ext cx="80518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F6475"/>
                </a:solidFill>
                <a:latin typeface="JetBrains Mono" pitchFamily="49" charset="0"/>
                <a:ea typeface="JetBrains Mono" pitchFamily="49" charset="-122"/>
                <a:cs typeface="JetBrains Mono" pitchFamily="49" charset="-120"/>
              </a:rPr>
              <a:t>NIVELES</a:t>
            </a:r>
            <a:endParaRPr lang="en-US" sz="1200" dirty="0"/>
          </a:p>
        </p:txBody>
      </p:sp>
      <p:sp>
        <p:nvSpPr>
          <p:cNvPr id="21" name="Text 19"/>
          <p:cNvSpPr/>
          <p:nvPr/>
        </p:nvSpPr>
        <p:spPr>
          <a:xfrm>
            <a:off x="1617980" y="4587242"/>
            <a:ext cx="1197769" cy="332740"/>
          </a:xfrm>
          <a:prstGeom prst="roundRect">
            <a:avLst>
              <a:gd name="adj" fmla="val 50000"/>
            </a:avLst>
          </a:prstGeom>
          <a:solidFill>
            <a:srgbClr val="EDE9DF"/>
          </a:solidFill>
          <a:ln/>
        </p:spPr>
        <p:txBody>
          <a:bodyPr wrap="none" lIns="0" tIns="0" rIns="0" bIns="0" rtlCol="0" anchor="ctr">
            <a:normAutofit/>
          </a:bodyPr>
          <a:lstStyle/>
          <a:p>
            <a:pPr algn="ctr" indent="0" marL="0">
              <a:lnSpc>
                <a:spcPts val="1820"/>
              </a:lnSpc>
              <a:buNone/>
            </a:pPr>
            <a:r>
              <a:rPr lang="en-US" sz="1300" b="1" dirty="0">
                <a:solidFill>
                  <a:srgbClr val="14182B"/>
                </a:solidFill>
                <a:latin typeface="Space Grotesk" pitchFamily="34" charset="0"/>
                <a:ea typeface="Space Grotesk" pitchFamily="34" charset="-122"/>
                <a:cs typeface="Space Grotesk" pitchFamily="34" charset="-120"/>
              </a:rPr>
              <a:t>A</a:t>
            </a:r>
            <a:r>
              <a:rPr lang="en-US" sz="1300" dirty="0">
                <a:solidFill>
                  <a:srgbClr val="14182B"/>
                </a:solidFill>
                <a:latin typeface="Space Grotesk" pitchFamily="34" charset="0"/>
                <a:ea typeface="Space Grotesk" pitchFamily="34" charset="-122"/>
                <a:cs typeface="Space Grotesk" pitchFamily="34" charset="-120"/>
              </a:rPr>
              <a:t> · el mínimo</a:t>
            </a:r>
            <a:endParaRPr lang="en-US" sz="1300" dirty="0"/>
          </a:p>
        </p:txBody>
      </p:sp>
      <p:sp>
        <p:nvSpPr>
          <p:cNvPr id="22" name="Text 20"/>
          <p:cNvSpPr/>
          <p:nvPr/>
        </p:nvSpPr>
        <p:spPr>
          <a:xfrm>
            <a:off x="2891949" y="4587242"/>
            <a:ext cx="1836182" cy="332740"/>
          </a:xfrm>
          <a:prstGeom prst="roundRect">
            <a:avLst>
              <a:gd name="adj" fmla="val 50000"/>
            </a:avLst>
          </a:prstGeom>
          <a:solidFill>
            <a:srgbClr val="E8572A"/>
          </a:solidFill>
          <a:ln/>
        </p:spPr>
        <p:txBody>
          <a:bodyPr wrap="none" lIns="0" tIns="0" rIns="0" bIns="0" rtlCol="0" anchor="ctr">
            <a:normAutofit/>
          </a:bodyPr>
          <a:lstStyle/>
          <a:p>
            <a:pPr algn="ctr" indent="0" marL="0">
              <a:lnSpc>
                <a:spcPts val="1820"/>
              </a:lnSpc>
              <a:buNone/>
            </a:pPr>
            <a:r>
              <a:rPr lang="en-US" sz="1300" b="1" dirty="0">
                <a:solidFill>
                  <a:srgbClr val="14182B"/>
                </a:solidFill>
                <a:latin typeface="Space Grotesk" pitchFamily="34" charset="0"/>
                <a:ea typeface="Space Grotesk" pitchFamily="34" charset="-122"/>
                <a:cs typeface="Space Grotesk" pitchFamily="34" charset="-120"/>
              </a:rPr>
              <a:t>AA</a:t>
            </a:r>
            <a:r>
              <a:rPr lang="en-US" sz="1300" dirty="0">
                <a:solidFill>
                  <a:srgbClr val="14182B"/>
                </a:solidFill>
                <a:latin typeface="Space Grotesk" pitchFamily="34" charset="0"/>
                <a:ea typeface="Space Grotesk" pitchFamily="34" charset="-122"/>
                <a:cs typeface="Space Grotesk" pitchFamily="34" charset="-120"/>
              </a:rPr>
              <a:t> · la meta habitual</a:t>
            </a:r>
            <a:endParaRPr lang="en-US" sz="1300" dirty="0"/>
          </a:p>
        </p:txBody>
      </p:sp>
      <p:sp>
        <p:nvSpPr>
          <p:cNvPr id="23" name="Text 21"/>
          <p:cNvSpPr/>
          <p:nvPr/>
        </p:nvSpPr>
        <p:spPr>
          <a:xfrm>
            <a:off x="4804331" y="4587242"/>
            <a:ext cx="1908810" cy="332740"/>
          </a:xfrm>
          <a:prstGeom prst="roundRect">
            <a:avLst>
              <a:gd name="adj" fmla="val 50000"/>
            </a:avLst>
          </a:prstGeom>
          <a:solidFill>
            <a:srgbClr val="EDE9DF"/>
          </a:solidFill>
          <a:ln/>
        </p:spPr>
        <p:txBody>
          <a:bodyPr wrap="none" lIns="0" tIns="0" rIns="0" bIns="0" rtlCol="0" anchor="ctr">
            <a:normAutofit/>
          </a:bodyPr>
          <a:lstStyle/>
          <a:p>
            <a:pPr algn="ctr" indent="0" marL="0">
              <a:lnSpc>
                <a:spcPts val="1820"/>
              </a:lnSpc>
              <a:buNone/>
            </a:pPr>
            <a:r>
              <a:rPr lang="en-US" sz="1300" b="1" dirty="0">
                <a:solidFill>
                  <a:srgbClr val="14182B"/>
                </a:solidFill>
                <a:latin typeface="Space Grotesk" pitchFamily="34" charset="0"/>
                <a:ea typeface="Space Grotesk" pitchFamily="34" charset="-122"/>
                <a:cs typeface="Space Grotesk" pitchFamily="34" charset="-120"/>
              </a:rPr>
              <a:t>AAA</a:t>
            </a:r>
            <a:r>
              <a:rPr lang="en-US" sz="1300" dirty="0">
                <a:solidFill>
                  <a:srgbClr val="14182B"/>
                </a:solidFill>
                <a:latin typeface="Space Grotesk" pitchFamily="34" charset="0"/>
                <a:ea typeface="Space Grotesk" pitchFamily="34" charset="-122"/>
                <a:cs typeface="Space Grotesk" pitchFamily="34" charset="-120"/>
              </a:rPr>
              <a:t> · el más exigente</a:t>
            </a:r>
            <a:endParaRPr lang="en-US" sz="1300" dirty="0"/>
          </a:p>
        </p:txBody>
      </p:sp>
      <p:sp>
        <p:nvSpPr>
          <p:cNvPr id="24" name="Text 2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02 · ACCESIBILIDAD</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Cuatro tipos de imagen, cuatro tipos de alt</a:t>
            </a:r>
            <a:endParaRPr lang="en-US" sz="3600" dirty="0"/>
          </a:p>
        </p:txBody>
      </p:sp>
      <p:sp>
        <p:nvSpPr>
          <p:cNvPr id="4" name="Shape 2"/>
          <p:cNvSpPr/>
          <p:nvPr/>
        </p:nvSpPr>
        <p:spPr>
          <a:xfrm>
            <a:off x="815975" y="1887854"/>
            <a:ext cx="5187950" cy="1344295"/>
          </a:xfrm>
          <a:prstGeom prst="roundRect">
            <a:avLst>
              <a:gd name="adj" fmla="val 7322"/>
            </a:avLst>
          </a:prstGeom>
          <a:solidFill>
            <a:srgbClr val="FFFDF8"/>
          </a:solidFill>
          <a:ln w="6350">
            <a:solidFill>
              <a:srgbClr val="E4DFD3"/>
            </a:solidFill>
            <a:prstDash val="solid"/>
          </a:ln>
        </p:spPr>
      </p:sp>
      <p:sp>
        <p:nvSpPr>
          <p:cNvPr id="5" name="Text 3"/>
          <p:cNvSpPr/>
          <p:nvPr/>
        </p:nvSpPr>
        <p:spPr>
          <a:xfrm>
            <a:off x="1021080" y="2067564"/>
            <a:ext cx="492107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Informativa</a:t>
            </a:r>
            <a:endParaRPr lang="en-US" sz="1600" dirty="0"/>
          </a:p>
        </p:txBody>
      </p:sp>
      <p:sp>
        <p:nvSpPr>
          <p:cNvPr id="6" name="Text 4"/>
          <p:cNvSpPr/>
          <p:nvPr/>
        </p:nvSpPr>
        <p:spPr>
          <a:xfrm>
            <a:off x="1021080" y="2387600"/>
            <a:ext cx="4921072"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Describe lo que muestra y para qué está.</a:t>
            </a:r>
            <a:endParaRPr lang="en-US" sz="1300" dirty="0"/>
          </a:p>
        </p:txBody>
      </p:sp>
      <p:sp>
        <p:nvSpPr>
          <p:cNvPr id="7" name="Text 5"/>
          <p:cNvSpPr/>
          <p:nvPr/>
        </p:nvSpPr>
        <p:spPr>
          <a:xfrm>
            <a:off x="1021080" y="2686689"/>
            <a:ext cx="4777740" cy="365760"/>
          </a:xfrm>
          <a:prstGeom prst="roundRect">
            <a:avLst>
              <a:gd name="adj" fmla="val 17361"/>
            </a:avLst>
          </a:prstGeom>
          <a:solidFill>
            <a:srgbClr val="1C2137"/>
          </a:solidFill>
          <a:ln/>
        </p:spPr>
        <p:txBody>
          <a:bodyPr wrap="square" lIns="95701" tIns="57601" rIns="0" bIns="32201" rtlCol="0" anchor="t">
            <a:normAutofit/>
          </a:bodyPr>
          <a:lstStyle/>
          <a:p>
            <a:pPr algn="l" indent="0" marL="0">
              <a:lnSpc>
                <a:spcPts val="1680"/>
              </a:lnSpc>
              <a:buNone/>
            </a:pPr>
            <a:r>
              <a:rPr lang="en-US" sz="1200" dirty="0">
                <a:solidFill>
                  <a:srgbClr val="F2D27A"/>
                </a:solidFill>
                <a:latin typeface="JetBrains Mono" pitchFamily="49" charset="0"/>
                <a:ea typeface="JetBrains Mono" pitchFamily="49" charset="-122"/>
                <a:cs typeface="JetBrains Mono" pitchFamily="49" charset="-120"/>
              </a:rPr>
              <a:t>alt="Sala de lectura con 40 puestos"</a:t>
            </a:r>
            <a:endParaRPr lang="en-US" sz="1200" dirty="0"/>
          </a:p>
        </p:txBody>
      </p:sp>
      <p:sp>
        <p:nvSpPr>
          <p:cNvPr id="8" name="Shape 6"/>
          <p:cNvSpPr/>
          <p:nvPr/>
        </p:nvSpPr>
        <p:spPr>
          <a:xfrm>
            <a:off x="6188075" y="1887854"/>
            <a:ext cx="5187950" cy="1344295"/>
          </a:xfrm>
          <a:prstGeom prst="roundRect">
            <a:avLst>
              <a:gd name="adj" fmla="val 7322"/>
            </a:avLst>
          </a:prstGeom>
          <a:solidFill>
            <a:srgbClr val="FFFDF8"/>
          </a:solidFill>
          <a:ln w="6350">
            <a:solidFill>
              <a:srgbClr val="E4DFD3"/>
            </a:solidFill>
            <a:prstDash val="solid"/>
          </a:ln>
        </p:spPr>
      </p:sp>
      <p:sp>
        <p:nvSpPr>
          <p:cNvPr id="9" name="Text 7"/>
          <p:cNvSpPr/>
          <p:nvPr/>
        </p:nvSpPr>
        <p:spPr>
          <a:xfrm>
            <a:off x="6393180" y="2067564"/>
            <a:ext cx="492107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Decorativa</a:t>
            </a:r>
            <a:endParaRPr lang="en-US" sz="1600" dirty="0"/>
          </a:p>
        </p:txBody>
      </p:sp>
      <p:sp>
        <p:nvSpPr>
          <p:cNvPr id="10" name="Text 8"/>
          <p:cNvSpPr/>
          <p:nvPr/>
        </p:nvSpPr>
        <p:spPr>
          <a:xfrm>
            <a:off x="6393180" y="2387600"/>
            <a:ext cx="4921072"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Solo adorna: con alt vacío, el lector la salta.</a:t>
            </a:r>
            <a:endParaRPr lang="en-US" sz="1300" dirty="0"/>
          </a:p>
        </p:txBody>
      </p:sp>
      <p:sp>
        <p:nvSpPr>
          <p:cNvPr id="11" name="Text 9"/>
          <p:cNvSpPr/>
          <p:nvPr/>
        </p:nvSpPr>
        <p:spPr>
          <a:xfrm>
            <a:off x="6393180" y="2686689"/>
            <a:ext cx="4777740" cy="365760"/>
          </a:xfrm>
          <a:prstGeom prst="roundRect">
            <a:avLst>
              <a:gd name="adj" fmla="val 17361"/>
            </a:avLst>
          </a:prstGeom>
          <a:solidFill>
            <a:srgbClr val="1C2137"/>
          </a:solidFill>
          <a:ln/>
        </p:spPr>
        <p:txBody>
          <a:bodyPr wrap="square" lIns="95702" tIns="57601" rIns="0" bIns="32201" rtlCol="0" anchor="t">
            <a:normAutofit/>
          </a:bodyPr>
          <a:lstStyle/>
          <a:p>
            <a:pPr algn="l" indent="0" marL="0">
              <a:lnSpc>
                <a:spcPts val="1680"/>
              </a:lnSpc>
              <a:buNone/>
            </a:pPr>
            <a:r>
              <a:rPr lang="en-US" sz="1200" dirty="0">
                <a:solidFill>
                  <a:srgbClr val="F2D27A"/>
                </a:solidFill>
                <a:latin typeface="JetBrains Mono" pitchFamily="49" charset="0"/>
                <a:ea typeface="JetBrains Mono" pitchFamily="49" charset="-122"/>
                <a:cs typeface="JetBrains Mono" pitchFamily="49" charset="-120"/>
              </a:rPr>
              <a:t>alt=""</a:t>
            </a:r>
            <a:endParaRPr lang="en-US" sz="1200" dirty="0"/>
          </a:p>
        </p:txBody>
      </p:sp>
      <p:sp>
        <p:nvSpPr>
          <p:cNvPr id="12" name="Shape 10"/>
          <p:cNvSpPr/>
          <p:nvPr/>
        </p:nvSpPr>
        <p:spPr>
          <a:xfrm>
            <a:off x="815975" y="3416300"/>
            <a:ext cx="5187950" cy="1567180"/>
          </a:xfrm>
          <a:prstGeom prst="roundRect">
            <a:avLst>
              <a:gd name="adj" fmla="val 6280"/>
            </a:avLst>
          </a:prstGeom>
          <a:solidFill>
            <a:srgbClr val="FFFDF8"/>
          </a:solidFill>
          <a:ln w="6350">
            <a:solidFill>
              <a:srgbClr val="E4DFD3"/>
            </a:solidFill>
            <a:prstDash val="solid"/>
          </a:ln>
        </p:spPr>
      </p:sp>
      <p:sp>
        <p:nvSpPr>
          <p:cNvPr id="13" name="Text 11"/>
          <p:cNvSpPr/>
          <p:nvPr/>
        </p:nvSpPr>
        <p:spPr>
          <a:xfrm>
            <a:off x="1021080" y="3596004"/>
            <a:ext cx="492107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Funcional</a:t>
            </a:r>
            <a:endParaRPr lang="en-US" sz="1600" dirty="0"/>
          </a:p>
        </p:txBody>
      </p:sp>
      <p:sp>
        <p:nvSpPr>
          <p:cNvPr id="14" name="Text 12"/>
          <p:cNvSpPr/>
          <p:nvPr/>
        </p:nvSpPr>
        <p:spPr>
          <a:xfrm>
            <a:off x="1021080" y="3916046"/>
            <a:ext cx="492107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Está dentro de un enlace o un botón: describe la acción o el destino.</a:t>
            </a:r>
            <a:endParaRPr lang="en-US" sz="1300" dirty="0"/>
          </a:p>
        </p:txBody>
      </p:sp>
      <p:sp>
        <p:nvSpPr>
          <p:cNvPr id="15" name="Text 13"/>
          <p:cNvSpPr/>
          <p:nvPr/>
        </p:nvSpPr>
        <p:spPr>
          <a:xfrm>
            <a:off x="1021080" y="4438017"/>
            <a:ext cx="4777740" cy="365760"/>
          </a:xfrm>
          <a:prstGeom prst="roundRect">
            <a:avLst>
              <a:gd name="adj" fmla="val 17361"/>
            </a:avLst>
          </a:prstGeom>
          <a:solidFill>
            <a:srgbClr val="1C2137"/>
          </a:solidFill>
          <a:ln/>
        </p:spPr>
        <p:txBody>
          <a:bodyPr wrap="square" lIns="95701" tIns="57601" rIns="0" bIns="32201" rtlCol="0" anchor="t">
            <a:normAutofit/>
          </a:bodyPr>
          <a:lstStyle/>
          <a:p>
            <a:pPr algn="l" indent="0" marL="0">
              <a:lnSpc>
                <a:spcPts val="1680"/>
              </a:lnSpc>
              <a:buNone/>
            </a:pPr>
            <a:r>
              <a:rPr lang="en-US" sz="1200" dirty="0">
                <a:solidFill>
                  <a:srgbClr val="F2D27A"/>
                </a:solidFill>
                <a:latin typeface="JetBrains Mono" pitchFamily="49" charset="0"/>
                <a:ea typeface="JetBrains Mono" pitchFamily="49" charset="-122"/>
                <a:cs typeface="JetBrains Mono" pitchFamily="49" charset="-120"/>
              </a:rPr>
              <a:t>alt="Buscar"</a:t>
            </a:r>
            <a:endParaRPr lang="en-US" sz="1200" dirty="0"/>
          </a:p>
        </p:txBody>
      </p:sp>
      <p:sp>
        <p:nvSpPr>
          <p:cNvPr id="16" name="Shape 14"/>
          <p:cNvSpPr/>
          <p:nvPr/>
        </p:nvSpPr>
        <p:spPr>
          <a:xfrm>
            <a:off x="6188075" y="3416300"/>
            <a:ext cx="5187950" cy="1567180"/>
          </a:xfrm>
          <a:prstGeom prst="roundRect">
            <a:avLst>
              <a:gd name="adj" fmla="val 6280"/>
            </a:avLst>
          </a:prstGeom>
          <a:solidFill>
            <a:srgbClr val="FFFDF8"/>
          </a:solidFill>
          <a:ln w="6350">
            <a:solidFill>
              <a:srgbClr val="E4DFD3"/>
            </a:solidFill>
            <a:prstDash val="solid"/>
          </a:ln>
        </p:spPr>
      </p:sp>
      <p:sp>
        <p:nvSpPr>
          <p:cNvPr id="17" name="Text 15"/>
          <p:cNvSpPr/>
          <p:nvPr/>
        </p:nvSpPr>
        <p:spPr>
          <a:xfrm>
            <a:off x="6393180" y="3596004"/>
            <a:ext cx="492107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Compleja</a:t>
            </a:r>
            <a:endParaRPr lang="en-US" sz="1600" dirty="0"/>
          </a:p>
        </p:txBody>
      </p:sp>
      <p:sp>
        <p:nvSpPr>
          <p:cNvPr id="18" name="Text 16"/>
          <p:cNvSpPr/>
          <p:nvPr/>
        </p:nvSpPr>
        <p:spPr>
          <a:xfrm>
            <a:off x="6393180" y="3916046"/>
            <a:ext cx="492107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Un gráfico o una infografía: alt corto y los datos en el texto o en una tabla.</a:t>
            </a:r>
            <a:endParaRPr lang="en-US" sz="1300" dirty="0"/>
          </a:p>
        </p:txBody>
      </p:sp>
      <p:sp>
        <p:nvSpPr>
          <p:cNvPr id="19" name="Text 17"/>
          <p:cNvSpPr/>
          <p:nvPr/>
        </p:nvSpPr>
        <p:spPr>
          <a:xfrm>
            <a:off x="6393180" y="4438017"/>
            <a:ext cx="4777740" cy="365760"/>
          </a:xfrm>
          <a:prstGeom prst="roundRect">
            <a:avLst>
              <a:gd name="adj" fmla="val 17361"/>
            </a:avLst>
          </a:prstGeom>
          <a:solidFill>
            <a:srgbClr val="1C2137"/>
          </a:solidFill>
          <a:ln/>
        </p:spPr>
        <p:txBody>
          <a:bodyPr wrap="square" lIns="95702" tIns="57601" rIns="0" bIns="32201" rtlCol="0" anchor="t">
            <a:normAutofit/>
          </a:bodyPr>
          <a:lstStyle/>
          <a:p>
            <a:pPr algn="l" indent="0" marL="0">
              <a:lnSpc>
                <a:spcPts val="1680"/>
              </a:lnSpc>
              <a:buNone/>
            </a:pPr>
            <a:r>
              <a:rPr lang="en-US" sz="1200" dirty="0">
                <a:solidFill>
                  <a:srgbClr val="F2D27A"/>
                </a:solidFill>
                <a:latin typeface="JetBrains Mono" pitchFamily="49" charset="0"/>
                <a:ea typeface="JetBrains Mono" pitchFamily="49" charset="-122"/>
                <a:cs typeface="JetBrains Mono" pitchFamily="49" charset="-120"/>
              </a:rPr>
              <a:t>alt="Ventas de 2026 por mes"</a:t>
            </a:r>
            <a:endParaRPr lang="en-US" sz="1200" dirty="0"/>
          </a:p>
        </p:txBody>
      </p:sp>
      <p:sp>
        <p:nvSpPr>
          <p:cNvPr id="20" name="Text 18"/>
          <p:cNvSpPr/>
          <p:nvPr/>
        </p:nvSpPr>
        <p:spPr>
          <a:xfrm>
            <a:off x="812800" y="5240654"/>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475"/>
                </a:solidFill>
                <a:latin typeface="Space Grotesk" pitchFamily="34" charset="0"/>
                <a:ea typeface="Space Grotesk" pitchFamily="34" charset="-122"/>
                <a:cs typeface="Space Grotesk" pitchFamily="34" charset="-120"/>
              </a:rPr>
              <a:t>Nunca: alt="imagen", alt="IMG_2034.jpg" ni repetir el texto que ya está al lado.</a:t>
            </a:r>
            <a:endParaRPr lang="en-US" sz="1300" dirty="0"/>
          </a:p>
        </p:txBody>
      </p:sp>
      <p:sp>
        <p:nvSpPr>
          <p:cNvPr id="21" name="Text 19"/>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02 · ACCESIBILIDAD</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Contraste: un número, no una opinión</a:t>
            </a:r>
            <a:endParaRPr lang="en-US" sz="3600" dirty="0"/>
          </a:p>
        </p:txBody>
      </p:sp>
      <p:sp>
        <p:nvSpPr>
          <p:cNvPr id="4" name="Text 2"/>
          <p:cNvSpPr/>
          <p:nvPr/>
        </p:nvSpPr>
        <p:spPr>
          <a:xfrm>
            <a:off x="812800" y="1884685"/>
            <a:ext cx="11303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Space Grotesk" pitchFamily="34" charset="0"/>
                <a:ea typeface="Space Grotesk" pitchFamily="34" charset="-122"/>
                <a:cs typeface="Space Grotesk" pitchFamily="34" charset="-120"/>
              </a:rPr>
              <a:t>4,5:1</a:t>
            </a:r>
            <a:endParaRPr lang="en-US" sz="2200" dirty="0"/>
          </a:p>
        </p:txBody>
      </p:sp>
      <p:sp>
        <p:nvSpPr>
          <p:cNvPr id="5" name="Text 3"/>
          <p:cNvSpPr/>
          <p:nvPr/>
        </p:nvSpPr>
        <p:spPr>
          <a:xfrm>
            <a:off x="2019300" y="1996442"/>
            <a:ext cx="3335655"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182B"/>
                </a:solidFill>
                <a:latin typeface="Space Grotesk" pitchFamily="34" charset="0"/>
                <a:ea typeface="Space Grotesk" pitchFamily="34" charset="-122"/>
                <a:cs typeface="Space Grotesk" pitchFamily="34" charset="-120"/>
              </a:rPr>
              <a:t>Texto normal</a:t>
            </a:r>
            <a:endParaRPr lang="en-US" sz="1400" dirty="0"/>
          </a:p>
        </p:txBody>
      </p:sp>
      <p:sp>
        <p:nvSpPr>
          <p:cNvPr id="6" name="Text 4"/>
          <p:cNvSpPr/>
          <p:nvPr/>
        </p:nvSpPr>
        <p:spPr>
          <a:xfrm>
            <a:off x="812800" y="2402842"/>
            <a:ext cx="11303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Space Grotesk" pitchFamily="34" charset="0"/>
                <a:ea typeface="Space Grotesk" pitchFamily="34" charset="-122"/>
                <a:cs typeface="Space Grotesk" pitchFamily="34" charset="-120"/>
              </a:rPr>
              <a:t>3:1</a:t>
            </a:r>
            <a:endParaRPr lang="en-US" sz="2200" dirty="0"/>
          </a:p>
        </p:txBody>
      </p:sp>
      <p:sp>
        <p:nvSpPr>
          <p:cNvPr id="7" name="Text 5"/>
          <p:cNvSpPr/>
          <p:nvPr/>
        </p:nvSpPr>
        <p:spPr>
          <a:xfrm>
            <a:off x="2019300" y="2514600"/>
            <a:ext cx="3335655"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182B"/>
                </a:solidFill>
                <a:latin typeface="Space Grotesk" pitchFamily="34" charset="0"/>
                <a:ea typeface="Space Grotesk" pitchFamily="34" charset="-122"/>
                <a:cs typeface="Space Grotesk" pitchFamily="34" charset="-120"/>
              </a:rPr>
              <a:t>Texto grande: 24 px o más, o 18,66 px en negrita</a:t>
            </a:r>
            <a:endParaRPr lang="en-US" sz="1400" dirty="0"/>
          </a:p>
        </p:txBody>
      </p:sp>
      <p:sp>
        <p:nvSpPr>
          <p:cNvPr id="8" name="Text 6"/>
          <p:cNvSpPr/>
          <p:nvPr/>
        </p:nvSpPr>
        <p:spPr>
          <a:xfrm>
            <a:off x="812800" y="3121658"/>
            <a:ext cx="11303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Space Grotesk" pitchFamily="34" charset="0"/>
                <a:ea typeface="Space Grotesk" pitchFamily="34" charset="-122"/>
                <a:cs typeface="Space Grotesk" pitchFamily="34" charset="-120"/>
              </a:rPr>
              <a:t>3:1</a:t>
            </a:r>
            <a:endParaRPr lang="en-US" sz="2200" dirty="0"/>
          </a:p>
        </p:txBody>
      </p:sp>
      <p:sp>
        <p:nvSpPr>
          <p:cNvPr id="9" name="Text 7"/>
          <p:cNvSpPr/>
          <p:nvPr/>
        </p:nvSpPr>
        <p:spPr>
          <a:xfrm>
            <a:off x="2019300" y="3233427"/>
            <a:ext cx="3335655"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182B"/>
                </a:solidFill>
                <a:latin typeface="Space Grotesk" pitchFamily="34" charset="0"/>
                <a:ea typeface="Space Grotesk" pitchFamily="34" charset="-122"/>
                <a:cs typeface="Space Grotesk" pitchFamily="34" charset="-120"/>
              </a:rPr>
              <a:t>Íconos y bordes de los controles</a:t>
            </a:r>
            <a:endParaRPr lang="en-US" sz="1400" dirty="0"/>
          </a:p>
        </p:txBody>
      </p:sp>
      <p:sp>
        <p:nvSpPr>
          <p:cNvPr id="10" name="Text 8"/>
          <p:cNvSpPr/>
          <p:nvPr/>
        </p:nvSpPr>
        <p:spPr>
          <a:xfrm>
            <a:off x="812800" y="3639827"/>
            <a:ext cx="45783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475"/>
                </a:solidFill>
                <a:latin typeface="Space Grotesk" pitchFamily="34" charset="0"/>
                <a:ea typeface="Space Grotesk" pitchFamily="34" charset="-122"/>
                <a:cs typeface="Space Grotesk" pitchFamily="34" charset="-120"/>
              </a:rPr>
              <a:t>Mídelo con el selector de color de DevTools o con WebAIM Contrast Checker.</a:t>
            </a:r>
            <a:endParaRPr lang="en-US" sz="1300" dirty="0"/>
          </a:p>
        </p:txBody>
      </p:sp>
      <p:sp>
        <p:nvSpPr>
          <p:cNvPr id="11" name="Text 9"/>
          <p:cNvSpPr/>
          <p:nvPr/>
        </p:nvSpPr>
        <p:spPr>
          <a:xfrm>
            <a:off x="5565775" y="1887860"/>
            <a:ext cx="1898650" cy="542290"/>
          </a:xfrm>
          <a:prstGeom prst="roundRect">
            <a:avLst>
              <a:gd name="adj" fmla="val 13466"/>
            </a:avLst>
          </a:prstGeom>
          <a:solidFill>
            <a:srgbClr val="FFFFFF"/>
          </a:solidFill>
          <a:ln w="6350">
            <a:solidFill>
              <a:srgbClr val="E4DFD3"/>
            </a:solidFill>
            <a:prstDash val="solid"/>
          </a:ln>
        </p:spPr>
        <p:txBody>
          <a:bodyPr wrap="square" lIns="132917" tIns="107517" rIns="82117" bIns="82117" rtlCol="0" anchor="t">
            <a:normAutofit/>
          </a:bodyPr>
          <a:lstStyle/>
          <a:p>
            <a:pPr algn="l" indent="0" marL="0">
              <a:lnSpc>
                <a:spcPts val="2240"/>
              </a:lnSpc>
              <a:buNone/>
            </a:pPr>
            <a:r>
              <a:rPr lang="en-US" sz="1600" b="1" dirty="0">
                <a:solidFill>
                  <a:srgbClr val="767676"/>
                </a:solidFill>
                <a:latin typeface="Space Grotesk" pitchFamily="34" charset="0"/>
                <a:ea typeface="Space Grotesk" pitchFamily="34" charset="-122"/>
                <a:cs typeface="Space Grotesk" pitchFamily="34" charset="-120"/>
              </a:rPr>
              <a:t>Aa · Horario</a:t>
            </a:r>
            <a:endParaRPr lang="en-US" sz="1600" dirty="0"/>
          </a:p>
        </p:txBody>
      </p:sp>
      <p:sp>
        <p:nvSpPr>
          <p:cNvPr id="12" name="Text 10"/>
          <p:cNvSpPr/>
          <p:nvPr/>
        </p:nvSpPr>
        <p:spPr>
          <a:xfrm>
            <a:off x="7620000" y="1921508"/>
            <a:ext cx="21945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#767676 sobre blanco</a:t>
            </a:r>
            <a:endParaRPr lang="en-US" sz="1200" dirty="0"/>
          </a:p>
        </p:txBody>
      </p:sp>
      <p:sp>
        <p:nvSpPr>
          <p:cNvPr id="13" name="Text 11"/>
          <p:cNvSpPr/>
          <p:nvPr/>
        </p:nvSpPr>
        <p:spPr>
          <a:xfrm>
            <a:off x="7620000" y="2147577"/>
            <a:ext cx="188366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82B"/>
                </a:solidFill>
                <a:latin typeface="Space Grotesk" pitchFamily="34" charset="0"/>
                <a:ea typeface="Space Grotesk" pitchFamily="34" charset="-122"/>
                <a:cs typeface="Space Grotesk" pitchFamily="34" charset="-120"/>
              </a:rPr>
              <a:t>4,54:1 · Pasa</a:t>
            </a:r>
            <a:endParaRPr lang="en-US" sz="1400" dirty="0"/>
          </a:p>
        </p:txBody>
      </p:sp>
      <p:sp>
        <p:nvSpPr>
          <p:cNvPr id="14" name="Text 12"/>
          <p:cNvSpPr/>
          <p:nvPr/>
        </p:nvSpPr>
        <p:spPr>
          <a:xfrm>
            <a:off x="5565775" y="2563502"/>
            <a:ext cx="1898650" cy="542290"/>
          </a:xfrm>
          <a:prstGeom prst="roundRect">
            <a:avLst>
              <a:gd name="adj" fmla="val 13466"/>
            </a:avLst>
          </a:prstGeom>
          <a:solidFill>
            <a:srgbClr val="FFFFFF"/>
          </a:solidFill>
          <a:ln w="6350">
            <a:solidFill>
              <a:srgbClr val="E4DFD3"/>
            </a:solidFill>
            <a:prstDash val="solid"/>
          </a:ln>
        </p:spPr>
        <p:txBody>
          <a:bodyPr wrap="square" lIns="132917" tIns="107517" rIns="82117" bIns="82117" rtlCol="0" anchor="t">
            <a:normAutofit/>
          </a:bodyPr>
          <a:lstStyle/>
          <a:p>
            <a:pPr algn="l" indent="0" marL="0">
              <a:lnSpc>
                <a:spcPts val="2240"/>
              </a:lnSpc>
              <a:buNone/>
            </a:pPr>
            <a:r>
              <a:rPr lang="en-US" sz="1600" b="1" dirty="0">
                <a:solidFill>
                  <a:srgbClr val="999999"/>
                </a:solidFill>
                <a:latin typeface="Space Grotesk" pitchFamily="34" charset="0"/>
                <a:ea typeface="Space Grotesk" pitchFamily="34" charset="-122"/>
                <a:cs typeface="Space Grotesk" pitchFamily="34" charset="-120"/>
              </a:rPr>
              <a:t>Aa · Horario</a:t>
            </a:r>
            <a:endParaRPr lang="en-US" sz="1600" dirty="0"/>
          </a:p>
        </p:txBody>
      </p:sp>
      <p:sp>
        <p:nvSpPr>
          <p:cNvPr id="15" name="Text 13"/>
          <p:cNvSpPr/>
          <p:nvPr/>
        </p:nvSpPr>
        <p:spPr>
          <a:xfrm>
            <a:off x="7620000" y="2597150"/>
            <a:ext cx="21945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#999999 sobre blanco</a:t>
            </a:r>
            <a:endParaRPr lang="en-US" sz="1200" dirty="0"/>
          </a:p>
        </p:txBody>
      </p:sp>
      <p:sp>
        <p:nvSpPr>
          <p:cNvPr id="16" name="Text 14"/>
          <p:cNvSpPr/>
          <p:nvPr/>
        </p:nvSpPr>
        <p:spPr>
          <a:xfrm>
            <a:off x="7620000" y="2823208"/>
            <a:ext cx="188366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82B"/>
                </a:solidFill>
                <a:latin typeface="Space Grotesk" pitchFamily="34" charset="0"/>
                <a:ea typeface="Space Grotesk" pitchFamily="34" charset="-122"/>
                <a:cs typeface="Space Grotesk" pitchFamily="34" charset="-120"/>
              </a:rPr>
              <a:t>2,85:1 · No pasa</a:t>
            </a:r>
            <a:endParaRPr lang="en-US" sz="1400" dirty="0"/>
          </a:p>
        </p:txBody>
      </p:sp>
      <p:sp>
        <p:nvSpPr>
          <p:cNvPr id="17" name="Text 15"/>
          <p:cNvSpPr/>
          <p:nvPr/>
        </p:nvSpPr>
        <p:spPr>
          <a:xfrm>
            <a:off x="5562600" y="3235958"/>
            <a:ext cx="1905000" cy="538480"/>
          </a:xfrm>
          <a:prstGeom prst="roundRect">
            <a:avLst>
              <a:gd name="adj" fmla="val 14151"/>
            </a:avLst>
          </a:prstGeom>
          <a:solidFill>
            <a:srgbClr val="E8572A"/>
          </a:solidFill>
          <a:ln/>
        </p:spPr>
        <p:txBody>
          <a:bodyPr wrap="square" lIns="130082" tIns="104682" rIns="79282" bIns="79282" rtlCol="0" anchor="t">
            <a:normAutofit/>
          </a:bodyPr>
          <a:lstStyle/>
          <a:p>
            <a:pPr algn="l" indent="0" marL="0">
              <a:lnSpc>
                <a:spcPts val="2240"/>
              </a:lnSpc>
              <a:buNone/>
            </a:pPr>
            <a:r>
              <a:rPr lang="en-US" sz="1600" b="1" dirty="0">
                <a:solidFill>
                  <a:srgbClr val="FFFFFF"/>
                </a:solidFill>
                <a:latin typeface="Space Grotesk" pitchFamily="34" charset="0"/>
                <a:ea typeface="Space Grotesk" pitchFamily="34" charset="-122"/>
                <a:cs typeface="Space Grotesk" pitchFamily="34" charset="-120"/>
              </a:rPr>
              <a:t>Aa · Horario</a:t>
            </a:r>
            <a:endParaRPr lang="en-US" sz="1600" dirty="0"/>
          </a:p>
        </p:txBody>
      </p:sp>
      <p:sp>
        <p:nvSpPr>
          <p:cNvPr id="18" name="Text 16"/>
          <p:cNvSpPr/>
          <p:nvPr/>
        </p:nvSpPr>
        <p:spPr>
          <a:xfrm>
            <a:off x="7620000" y="3267708"/>
            <a:ext cx="22514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blanco sobre #E8572A</a:t>
            </a:r>
            <a:endParaRPr lang="en-US" sz="1200" dirty="0"/>
          </a:p>
        </p:txBody>
      </p:sp>
      <p:sp>
        <p:nvSpPr>
          <p:cNvPr id="19" name="Text 17"/>
          <p:cNvSpPr/>
          <p:nvPr/>
        </p:nvSpPr>
        <p:spPr>
          <a:xfrm>
            <a:off x="7620000" y="3493777"/>
            <a:ext cx="262309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82B"/>
                </a:solidFill>
                <a:latin typeface="Space Grotesk" pitchFamily="34" charset="0"/>
                <a:ea typeface="Space Grotesk" pitchFamily="34" charset="-122"/>
                <a:cs typeface="Space Grotesk" pitchFamily="34" charset="-120"/>
              </a:rPr>
              <a:t>3,60:1 · Solo texto grande</a:t>
            </a:r>
            <a:endParaRPr lang="en-US" sz="1400" dirty="0"/>
          </a:p>
        </p:txBody>
      </p:sp>
      <p:sp>
        <p:nvSpPr>
          <p:cNvPr id="20" name="Text 1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02 · ACCESIBILIDAD</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Prueba de fuego: desconecta el mouse</a:t>
            </a:r>
            <a:endParaRPr lang="en-US" sz="3600" dirty="0"/>
          </a:p>
        </p:txBody>
      </p:sp>
      <p:sp>
        <p:nvSpPr>
          <p:cNvPr id="4" name="Shape 2"/>
          <p:cNvSpPr/>
          <p:nvPr/>
        </p:nvSpPr>
        <p:spPr>
          <a:xfrm>
            <a:off x="812800" y="1884685"/>
            <a:ext cx="5715000" cy="2700020"/>
          </a:xfrm>
          <a:custGeom>
            <a:avLst/>
            <a:gdLst/>
            <a:ahLst/>
            <a:cxnLst/>
            <a:rect l="l" t="t" r="r" b="b"/>
            <a:pathLst>
              <a:path w="5715000" h="2700020">
                <a:moveTo>
                  <a:pt x="5638800" y="0"/>
                </a:moveTo>
                <a:lnTo>
                  <a:pt x="5638800" y="0"/>
                </a:lnTo>
                <a:arcTo hR="76200" wR="76200" stAng="16200000" swAng="5400000"/>
                <a:lnTo>
                  <a:pt x="5715000" y="2623820"/>
                </a:lnTo>
                <a:arcTo hR="76200" wR="76200" stAng="0" swAng="5400000"/>
                <a:lnTo>
                  <a:pt x="76200" y="2700020"/>
                </a:lnTo>
                <a:arcTo hR="76200" wR="76200" stAng="5400000" swAng="5400000"/>
                <a:lnTo>
                  <a:pt x="0" y="2623820"/>
                </a:lnTo>
                <a:arcTo hR="69850" wR="76200" stAng="10800000" swAng="-5400000"/>
                <a:lnTo>
                  <a:pt x="5638800" y="2693670"/>
                </a:lnTo>
                <a:arcTo hR="69850" wR="69850" stAng="5400000" swAng="-5400000"/>
                <a:lnTo>
                  <a:pt x="5708650" y="76200"/>
                </a:lnTo>
                <a:arcTo hR="76200" wR="69850" stAng="0" swAng="-5400000"/>
                <a:close/>
              </a:path>
            </a:pathLst>
          </a:custGeom>
          <a:solidFill>
            <a:srgbClr val="E4DFD3"/>
          </a:solidFill>
          <a:ln/>
        </p:spPr>
      </p:sp>
      <p:sp>
        <p:nvSpPr>
          <p:cNvPr id="5" name="Shape 3"/>
          <p:cNvSpPr/>
          <p:nvPr/>
        </p:nvSpPr>
        <p:spPr>
          <a:xfrm>
            <a:off x="812800" y="1884685"/>
            <a:ext cx="5715000" cy="2700020"/>
          </a:xfrm>
          <a:custGeom>
            <a:avLst/>
            <a:gdLst/>
            <a:ahLst/>
            <a:cxnLst/>
            <a:rect l="l" t="t" r="r" b="b"/>
            <a:pathLst>
              <a:path w="5715000" h="2700020">
                <a:moveTo>
                  <a:pt x="76200" y="2700020"/>
                </a:moveTo>
                <a:lnTo>
                  <a:pt x="76200" y="2700020"/>
                </a:lnTo>
                <a:arcTo hR="76200" wR="76200" stAng="5400000" swAng="5400000"/>
                <a:lnTo>
                  <a:pt x="0" y="76200"/>
                </a:lnTo>
                <a:arcTo hR="76200" wR="76200" stAng="10800000" swAng="5400000"/>
                <a:lnTo>
                  <a:pt x="5638800" y="0"/>
                </a:lnTo>
                <a:arcTo hR="76200" wR="76200" stAng="16200000" swAng="5400000"/>
                <a:lnTo>
                  <a:pt x="5715000" y="76200"/>
                </a:lnTo>
                <a:arcTo hR="66040" wR="76200" stAng="0" swAng="-5400000"/>
                <a:lnTo>
                  <a:pt x="76200" y="10160"/>
                </a:lnTo>
                <a:arcTo hR="66040" wR="66040" stAng="16200000" swAng="-5400000"/>
                <a:lnTo>
                  <a:pt x="10160" y="2623820"/>
                </a:lnTo>
                <a:arcTo hR="76200" wR="6604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94845"/>
          <a:ext cx="5699760" cy="2684780"/>
        </p:xfrm>
        <a:graphic>
          <a:graphicData uri="http://schemas.openxmlformats.org/drawingml/2006/table">
            <a:tbl>
              <a:tblPr/>
              <a:tblGrid>
                <a:gridCol w="2051914"/>
                <a:gridCol w="3647846"/>
              </a:tblGrid>
              <a:tr h="383540">
                <a:tc>
                  <a:txBody>
                    <a:bodyPr/>
                    <a:lstStyle/>
                    <a:p>
                      <a:pPr indent="0" marL="0">
                        <a:lnSpc>
                          <a:spcPts val="1960"/>
                        </a:lnSpc>
                        <a:buNone/>
                      </a:pPr>
                      <a:r>
                        <a:rPr lang="en-US" sz="1400" b="1" dirty="0">
                          <a:solidFill>
                            <a:srgbClr val="F7F5EF"/>
                          </a:solidFill>
                          <a:latin typeface="Space Grotesk" pitchFamily="34" charset="0"/>
                          <a:ea typeface="Space Grotesk" pitchFamily="34" charset="-122"/>
                          <a:cs typeface="Space Grotesk" pitchFamily="34" charset="-120"/>
                        </a:rPr>
                        <a:t>Tecla</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c>
                  <a:txBody>
                    <a:bodyPr/>
                    <a:lstStyle/>
                    <a:p>
                      <a:pPr indent="0" marL="0">
                        <a:lnSpc>
                          <a:spcPts val="1960"/>
                        </a:lnSpc>
                        <a:buNone/>
                      </a:pPr>
                      <a:r>
                        <a:rPr lang="en-US" sz="1400" b="1" dirty="0">
                          <a:solidFill>
                            <a:srgbClr val="F7F5EF"/>
                          </a:solidFill>
                          <a:latin typeface="Space Grotesk" pitchFamily="34" charset="0"/>
                          <a:ea typeface="Space Grotesk" pitchFamily="34" charset="-122"/>
                          <a:cs typeface="Space Grotesk" pitchFamily="34" charset="-120"/>
                        </a:rPr>
                        <a:t>Qué hace</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141726"/>
                      </a:solidFill>
                      <a:prstDash val="solid"/>
                      <a:round/>
                      <a:headEnd type="none" w="med" len="med"/>
                      <a:tailEnd type="none" w="med" len="med"/>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Tab</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Va al siguiente elemento enfocable</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Shift + Tab</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Vuelve al anterior</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Enter</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Abre un enlace o activa un botón</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Espacio</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Activa un botón o marca una casilla</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Flechas</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Cambian de opción en radios y listas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Esc</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Cierra menús y ventanas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bl>
          </a:graphicData>
        </a:graphic>
      </p:graphicFrame>
      <p:sp>
        <p:nvSpPr>
          <p:cNvPr id="7" name="Shape 4"/>
          <p:cNvSpPr/>
          <p:nvPr/>
        </p:nvSpPr>
        <p:spPr>
          <a:xfrm>
            <a:off x="6851650" y="1884685"/>
            <a:ext cx="0" cy="548640"/>
          </a:xfrm>
          <a:prstGeom prst="line">
            <a:avLst/>
          </a:prstGeom>
          <a:noFill/>
          <a:ln w="38100">
            <a:solidFill>
              <a:srgbClr val="E8572A"/>
            </a:solidFill>
            <a:prstDash val="solid"/>
          </a:ln>
        </p:spPr>
      </p:sp>
      <p:sp>
        <p:nvSpPr>
          <p:cNvPr id="8" name="Text 5"/>
          <p:cNvSpPr/>
          <p:nvPr/>
        </p:nvSpPr>
        <p:spPr>
          <a:xfrm>
            <a:off x="7020560" y="1910085"/>
            <a:ext cx="4489399"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045"/>
                </a:solidFill>
                <a:latin typeface="Space Grotesk" pitchFamily="34" charset="0"/>
                <a:ea typeface="Space Grotesk" pitchFamily="34" charset="-122"/>
                <a:cs typeface="Space Grotesk" pitchFamily="34" charset="-120"/>
              </a:rPr>
              <a:t>Si no llegas con Tab, no existe</a:t>
            </a:r>
            <a:r>
              <a:rPr lang="en-US" sz="1400" dirty="0">
                <a:solidFill>
                  <a:srgbClr val="2B3045"/>
                </a:solidFill>
                <a:latin typeface="Space Grotesk" pitchFamily="34" charset="0"/>
                <a:ea typeface="Space Grotesk" pitchFamily="34" charset="-122"/>
                <a:cs typeface="Space Grotesk" pitchFamily="34" charset="-120"/>
              </a:rPr>
              <a:t> para quien usa teclado.</a:t>
            </a:r>
            <a:endParaRPr lang="en-US" sz="1400" dirty="0"/>
          </a:p>
        </p:txBody>
      </p:sp>
      <p:sp>
        <p:nvSpPr>
          <p:cNvPr id="9" name="Shape 6"/>
          <p:cNvSpPr/>
          <p:nvPr/>
        </p:nvSpPr>
        <p:spPr>
          <a:xfrm>
            <a:off x="6851650" y="2585727"/>
            <a:ext cx="0" cy="299720"/>
          </a:xfrm>
          <a:prstGeom prst="line">
            <a:avLst/>
          </a:prstGeom>
          <a:noFill/>
          <a:ln w="38100">
            <a:solidFill>
              <a:srgbClr val="E8572A"/>
            </a:solidFill>
            <a:prstDash val="solid"/>
          </a:ln>
        </p:spPr>
      </p:sp>
      <p:sp>
        <p:nvSpPr>
          <p:cNvPr id="10" name="Text 7"/>
          <p:cNvSpPr/>
          <p:nvPr/>
        </p:nvSpPr>
        <p:spPr>
          <a:xfrm>
            <a:off x="7020560" y="2611127"/>
            <a:ext cx="448939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Usa </a:t>
            </a:r>
            <a:r>
              <a:rPr lang="en-US" sz="1400" b="1" dirty="0">
                <a:solidFill>
                  <a:srgbClr val="2B3045"/>
                </a:solidFill>
                <a:latin typeface="Space Grotesk" pitchFamily="34" charset="0"/>
                <a:ea typeface="Space Grotesk" pitchFamily="34" charset="-122"/>
                <a:cs typeface="Space Grotesk" pitchFamily="34" charset="-120"/>
              </a:rPr>
              <a:t>button</a:t>
            </a:r>
            <a:r>
              <a:rPr lang="en-US" sz="1400" dirty="0">
                <a:solidFill>
                  <a:srgbClr val="2B3045"/>
                </a:solidFill>
                <a:latin typeface="Space Grotesk" pitchFamily="34" charset="0"/>
                <a:ea typeface="Space Grotesk" pitchFamily="34" charset="-122"/>
                <a:cs typeface="Space Grotesk" pitchFamily="34" charset="-120"/>
              </a:rPr>
              <a:t> y </a:t>
            </a:r>
            <a:r>
              <a:rPr lang="en-US" sz="1400" b="1" dirty="0">
                <a:solidFill>
                  <a:srgbClr val="2B3045"/>
                </a:solidFill>
                <a:latin typeface="Space Grotesk" pitchFamily="34" charset="0"/>
                <a:ea typeface="Space Grotesk" pitchFamily="34" charset="-122"/>
                <a:cs typeface="Space Grotesk" pitchFamily="34" charset="-120"/>
              </a:rPr>
              <a:t>a</a:t>
            </a:r>
            <a:r>
              <a:rPr lang="en-US" sz="1400" dirty="0">
                <a:solidFill>
                  <a:srgbClr val="2B3045"/>
                </a:solidFill>
                <a:latin typeface="Space Grotesk" pitchFamily="34" charset="0"/>
                <a:ea typeface="Space Grotesk" pitchFamily="34" charset="-122"/>
                <a:cs typeface="Space Grotesk" pitchFamily="34" charset="-120"/>
              </a:rPr>
              <a:t>: un div no recibe el foco.</a:t>
            </a:r>
            <a:endParaRPr lang="en-US" sz="1400" dirty="0"/>
          </a:p>
        </p:txBody>
      </p:sp>
      <p:sp>
        <p:nvSpPr>
          <p:cNvPr id="11" name="Shape 8"/>
          <p:cNvSpPr/>
          <p:nvPr/>
        </p:nvSpPr>
        <p:spPr>
          <a:xfrm>
            <a:off x="6851650" y="3037842"/>
            <a:ext cx="0" cy="548640"/>
          </a:xfrm>
          <a:prstGeom prst="line">
            <a:avLst/>
          </a:prstGeom>
          <a:noFill/>
          <a:ln w="38100">
            <a:solidFill>
              <a:srgbClr val="E8572A"/>
            </a:solidFill>
            <a:prstDash val="solid"/>
          </a:ln>
        </p:spPr>
      </p:sp>
      <p:sp>
        <p:nvSpPr>
          <p:cNvPr id="12" name="Text 9"/>
          <p:cNvSpPr/>
          <p:nvPr/>
        </p:nvSpPr>
        <p:spPr>
          <a:xfrm>
            <a:off x="7020560" y="3063242"/>
            <a:ext cx="448939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El foco siempre se ve. Cuando llegue el CSS, nunca lo ocultes sin darle otro estilo.</a:t>
            </a:r>
            <a:endParaRPr lang="en-US" sz="1400" dirty="0"/>
          </a:p>
        </p:txBody>
      </p:sp>
      <p:sp>
        <p:nvSpPr>
          <p:cNvPr id="13" name="Shape 10"/>
          <p:cNvSpPr/>
          <p:nvPr/>
        </p:nvSpPr>
        <p:spPr>
          <a:xfrm>
            <a:off x="6851650" y="3738885"/>
            <a:ext cx="0" cy="299720"/>
          </a:xfrm>
          <a:prstGeom prst="line">
            <a:avLst/>
          </a:prstGeom>
          <a:noFill/>
          <a:ln w="38100">
            <a:solidFill>
              <a:srgbClr val="E8572A"/>
            </a:solidFill>
            <a:prstDash val="solid"/>
          </a:ln>
        </p:spPr>
      </p:sp>
      <p:sp>
        <p:nvSpPr>
          <p:cNvPr id="14" name="Text 11"/>
          <p:cNvSpPr/>
          <p:nvPr/>
        </p:nvSpPr>
        <p:spPr>
          <a:xfrm>
            <a:off x="7020560" y="3764285"/>
            <a:ext cx="448939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El orden del Tab es el orden del HTML.</a:t>
            </a:r>
            <a:endParaRPr lang="en-US" sz="1400" dirty="0"/>
          </a:p>
        </p:txBody>
      </p:sp>
      <p:sp>
        <p:nvSpPr>
          <p:cNvPr id="15" name="Text 1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02 · ACCESIBILIDAD</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Escucha tu página</a:t>
            </a:r>
            <a:endParaRPr lang="en-US" sz="3600" dirty="0"/>
          </a:p>
        </p:txBody>
      </p:sp>
      <p:sp>
        <p:nvSpPr>
          <p:cNvPr id="4" name="Shape 2"/>
          <p:cNvSpPr/>
          <p:nvPr/>
        </p:nvSpPr>
        <p:spPr>
          <a:xfrm>
            <a:off x="812800" y="1884685"/>
            <a:ext cx="6096000" cy="1799590"/>
          </a:xfrm>
          <a:custGeom>
            <a:avLst/>
            <a:gdLst/>
            <a:ahLst/>
            <a:cxnLst/>
            <a:rect l="l" t="t" r="r" b="b"/>
            <a:pathLst>
              <a:path w="6096000" h="1799590">
                <a:moveTo>
                  <a:pt x="6019800" y="0"/>
                </a:moveTo>
                <a:lnTo>
                  <a:pt x="6019800" y="0"/>
                </a:lnTo>
                <a:arcTo hR="76200" wR="76200" stAng="16200000" swAng="5400000"/>
                <a:lnTo>
                  <a:pt x="6096000" y="1723390"/>
                </a:lnTo>
                <a:arcTo hR="76200" wR="76200" stAng="0" swAng="5400000"/>
                <a:lnTo>
                  <a:pt x="76200" y="1799590"/>
                </a:lnTo>
                <a:arcTo hR="76200" wR="76200" stAng="5400000" swAng="5400000"/>
                <a:lnTo>
                  <a:pt x="0" y="1723390"/>
                </a:lnTo>
                <a:arcTo hR="69850" wR="76200" stAng="10800000" swAng="-5400000"/>
                <a:lnTo>
                  <a:pt x="6019800" y="1793240"/>
                </a:lnTo>
                <a:arcTo hR="69850" wR="69850" stAng="5400000" swAng="-5400000"/>
                <a:lnTo>
                  <a:pt x="6089650" y="76200"/>
                </a:lnTo>
                <a:arcTo hR="76200" wR="69850" stAng="0" swAng="-5400000"/>
                <a:close/>
              </a:path>
            </a:pathLst>
          </a:custGeom>
          <a:solidFill>
            <a:srgbClr val="E4DFD3"/>
          </a:solidFill>
          <a:ln/>
        </p:spPr>
      </p:sp>
      <p:sp>
        <p:nvSpPr>
          <p:cNvPr id="5" name="Shape 3"/>
          <p:cNvSpPr/>
          <p:nvPr/>
        </p:nvSpPr>
        <p:spPr>
          <a:xfrm>
            <a:off x="812800" y="1884685"/>
            <a:ext cx="6096000" cy="1799590"/>
          </a:xfrm>
          <a:custGeom>
            <a:avLst/>
            <a:gdLst/>
            <a:ahLst/>
            <a:cxnLst/>
            <a:rect l="l" t="t" r="r" b="b"/>
            <a:pathLst>
              <a:path w="6096000" h="1799590">
                <a:moveTo>
                  <a:pt x="76200" y="1799590"/>
                </a:moveTo>
                <a:lnTo>
                  <a:pt x="76200" y="1799590"/>
                </a:lnTo>
                <a:arcTo hR="76200" wR="76200" stAng="5400000" swAng="5400000"/>
                <a:lnTo>
                  <a:pt x="0" y="76200"/>
                </a:lnTo>
                <a:arcTo hR="76200" wR="76200" stAng="10800000" swAng="5400000"/>
                <a:lnTo>
                  <a:pt x="6019800" y="0"/>
                </a:lnTo>
                <a:arcTo hR="76200" wR="76200" stAng="16200000" swAng="5400000"/>
                <a:lnTo>
                  <a:pt x="6096000" y="76200"/>
                </a:lnTo>
                <a:arcTo hR="66040" wR="76200" stAng="0" swAng="-5400000"/>
                <a:lnTo>
                  <a:pt x="76200" y="10160"/>
                </a:lnTo>
                <a:arcTo hR="66040" wR="66040" stAng="16200000" swAng="-5400000"/>
                <a:lnTo>
                  <a:pt x="10160" y="1723390"/>
                </a:lnTo>
                <a:arcTo hR="76200" wR="6604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94845"/>
          <a:ext cx="6080760" cy="1784350"/>
        </p:xfrm>
        <a:graphic>
          <a:graphicData uri="http://schemas.openxmlformats.org/drawingml/2006/table">
            <a:tbl>
              <a:tblPr/>
              <a:tblGrid>
                <a:gridCol w="1580998"/>
                <a:gridCol w="1702613"/>
                <a:gridCol w="2797150"/>
              </a:tblGrid>
              <a:tr h="356870">
                <a:tc>
                  <a:txBody>
                    <a:bodyPr/>
                    <a:lstStyle/>
                    <a:p>
                      <a:pPr indent="0" marL="0">
                        <a:lnSpc>
                          <a:spcPts val="1820"/>
                        </a:lnSpc>
                        <a:buNone/>
                      </a:pPr>
                      <a:r>
                        <a:rPr lang="en-US" sz="1300" b="1" dirty="0">
                          <a:solidFill>
                            <a:srgbClr val="F7F5EF"/>
                          </a:solidFill>
                          <a:latin typeface="Space Grotesk" pitchFamily="34" charset="0"/>
                          <a:ea typeface="Space Grotesk" pitchFamily="34" charset="-122"/>
                          <a:cs typeface="Space Grotesk" pitchFamily="34" charset="-120"/>
                        </a:rPr>
                        <a:t>Lector</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c>
                  <a:txBody>
                    <a:bodyPr/>
                    <a:lstStyle/>
                    <a:p>
                      <a:pPr indent="0" marL="0">
                        <a:lnSpc>
                          <a:spcPts val="1820"/>
                        </a:lnSpc>
                        <a:buNone/>
                      </a:pPr>
                      <a:r>
                        <a:rPr lang="en-US" sz="1300" b="1" dirty="0">
                          <a:solidFill>
                            <a:srgbClr val="F7F5EF"/>
                          </a:solidFill>
                          <a:latin typeface="Space Grotesk" pitchFamily="34" charset="0"/>
                          <a:ea typeface="Space Grotesk" pitchFamily="34" charset="-122"/>
                          <a:cs typeface="Space Grotesk" pitchFamily="34" charset="-120"/>
                        </a:rPr>
                        <a:t>Sistema</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141726"/>
                      </a:solidFill>
                      <a:prstDash val="solid"/>
                      <a:round/>
                      <a:headEnd type="none" w="med" len="med"/>
                      <a:tailEnd type="none" w="med" len="med"/>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c>
                  <a:txBody>
                    <a:bodyPr/>
                    <a:lstStyle/>
                    <a:p>
                      <a:pPr indent="0" marL="0">
                        <a:lnSpc>
                          <a:spcPts val="1820"/>
                        </a:lnSpc>
                        <a:buNone/>
                      </a:pPr>
                      <a:r>
                        <a:rPr lang="en-US" sz="1300" b="1" dirty="0">
                          <a:solidFill>
                            <a:srgbClr val="F7F5EF"/>
                          </a:solidFill>
                          <a:latin typeface="Space Grotesk" pitchFamily="34" charset="0"/>
                          <a:ea typeface="Space Grotesk" pitchFamily="34" charset="-122"/>
                          <a:cs typeface="Space Grotesk" pitchFamily="34" charset="-120"/>
                        </a:rPr>
                        <a:t>Cómo se activa</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141726"/>
                      </a:solidFill>
                      <a:prstDash val="solid"/>
                      <a:round/>
                      <a:headEnd type="none" w="med" len="med"/>
                      <a:tailEnd type="none" w="med" len="med"/>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r>
              <a:tr h="356870">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Narrador</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Windows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Ctrl + Windows + Enter</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6870">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NVDA</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Windows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Gratis, desde nvaccess.org</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r h="356870">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VoiceOver</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macOS e iPhone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Cmd + F5 en el Mac</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6870">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TalkBack</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Android</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Ajustes › Accesibilidad</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bl>
          </a:graphicData>
        </a:graphic>
      </p:graphicFrame>
      <p:sp>
        <p:nvSpPr>
          <p:cNvPr id="7" name="Text 4"/>
          <p:cNvSpPr/>
          <p:nvPr/>
        </p:nvSpPr>
        <p:spPr>
          <a:xfrm>
            <a:off x="7213600" y="1884685"/>
            <a:ext cx="429056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Muévete como lo hacen sus usuarios</a:t>
            </a:r>
            <a:endParaRPr lang="en-US" sz="1600" dirty="0"/>
          </a:p>
        </p:txBody>
      </p:sp>
      <p:sp>
        <p:nvSpPr>
          <p:cNvPr id="8" name="Text 5"/>
          <p:cNvSpPr/>
          <p:nvPr/>
        </p:nvSpPr>
        <p:spPr>
          <a:xfrm>
            <a:off x="7213600" y="2230127"/>
            <a:ext cx="508000" cy="299720"/>
          </a:xfrm>
          <a:custGeom>
            <a:avLst/>
            <a:gdLst/>
            <a:ahLst/>
            <a:cxnLst/>
            <a:rect l="l" t="t" r="r" b="b"/>
            <a:pathLst>
              <a:path w="508000" h="299720">
                <a:moveTo>
                  <a:pt x="50800" y="0"/>
                </a:moveTo>
                <a:lnTo>
                  <a:pt x="457200" y="0"/>
                </a:lnTo>
                <a:arcTo hR="50800" wR="50800" stAng="16200000" swAng="5400000"/>
                <a:lnTo>
                  <a:pt x="508000" y="248920"/>
                </a:lnTo>
                <a:arcTo hR="50800" wR="50800" stAng="0" swAng="5400000"/>
                <a:lnTo>
                  <a:pt x="50800" y="299720"/>
                </a:lnTo>
                <a:arcTo hR="50800" wR="50800" stAng="5400000" swAng="5400000"/>
                <a:lnTo>
                  <a:pt x="0" y="50800"/>
                </a:lnTo>
                <a:arcTo hR="50800" wR="50800" stAng="10800000" swAng="5400000"/>
                <a:close/>
              </a:path>
            </a:pathLst>
          </a:custGeom>
          <a:solidFill>
            <a:srgbClr val="EDE9DF"/>
          </a:solidFill>
          <a:ln/>
        </p:spPr>
        <p:txBody>
          <a:bodyPr wrap="square" lIns="0" tIns="25400" rIns="0" bIns="0" rtlCol="0" anchor="t">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H</a:t>
            </a:r>
            <a:endParaRPr lang="en-US" sz="1400" dirty="0"/>
          </a:p>
        </p:txBody>
      </p:sp>
      <p:sp>
        <p:nvSpPr>
          <p:cNvPr id="9" name="Text 6"/>
          <p:cNvSpPr/>
          <p:nvPr/>
        </p:nvSpPr>
        <p:spPr>
          <a:xfrm>
            <a:off x="7848600" y="2264408"/>
            <a:ext cx="363651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045"/>
                </a:solidFill>
                <a:latin typeface="Space Grotesk" pitchFamily="34" charset="0"/>
                <a:ea typeface="Space Grotesk" pitchFamily="34" charset="-122"/>
                <a:cs typeface="Space Grotesk" pitchFamily="34" charset="-120"/>
              </a:rPr>
              <a:t>Siguiente encabezado</a:t>
            </a:r>
            <a:endParaRPr lang="en-US" sz="1300" dirty="0"/>
          </a:p>
        </p:txBody>
      </p:sp>
      <p:sp>
        <p:nvSpPr>
          <p:cNvPr id="10" name="Text 7"/>
          <p:cNvSpPr/>
          <p:nvPr/>
        </p:nvSpPr>
        <p:spPr>
          <a:xfrm>
            <a:off x="7213600" y="2606042"/>
            <a:ext cx="508000" cy="299720"/>
          </a:xfrm>
          <a:custGeom>
            <a:avLst/>
            <a:gdLst/>
            <a:ahLst/>
            <a:cxnLst/>
            <a:rect l="l" t="t" r="r" b="b"/>
            <a:pathLst>
              <a:path w="508000" h="299720">
                <a:moveTo>
                  <a:pt x="50800" y="0"/>
                </a:moveTo>
                <a:lnTo>
                  <a:pt x="457200" y="0"/>
                </a:lnTo>
                <a:arcTo hR="50800" wR="50800" stAng="16200000" swAng="5400000"/>
                <a:lnTo>
                  <a:pt x="508000" y="248920"/>
                </a:lnTo>
                <a:arcTo hR="50800" wR="50800" stAng="0" swAng="5400000"/>
                <a:lnTo>
                  <a:pt x="50800" y="299720"/>
                </a:lnTo>
                <a:arcTo hR="50800" wR="50800" stAng="5400000" swAng="5400000"/>
                <a:lnTo>
                  <a:pt x="0" y="50800"/>
                </a:lnTo>
                <a:arcTo hR="50800" wR="50800" stAng="10800000" swAng="5400000"/>
                <a:close/>
              </a:path>
            </a:pathLst>
          </a:custGeom>
          <a:solidFill>
            <a:srgbClr val="EDE9DF"/>
          </a:solidFill>
          <a:ln/>
        </p:spPr>
        <p:txBody>
          <a:bodyPr wrap="square" lIns="0" tIns="25400" rIns="0" bIns="0" rtlCol="0" anchor="t">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D</a:t>
            </a:r>
            <a:endParaRPr lang="en-US" sz="1400" dirty="0"/>
          </a:p>
        </p:txBody>
      </p:sp>
      <p:sp>
        <p:nvSpPr>
          <p:cNvPr id="11" name="Text 8"/>
          <p:cNvSpPr/>
          <p:nvPr/>
        </p:nvSpPr>
        <p:spPr>
          <a:xfrm>
            <a:off x="7848600" y="2640335"/>
            <a:ext cx="363651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045"/>
                </a:solidFill>
                <a:latin typeface="Space Grotesk" pitchFamily="34" charset="0"/>
                <a:ea typeface="Space Grotesk" pitchFamily="34" charset="-122"/>
                <a:cs typeface="Space Grotesk" pitchFamily="34" charset="-120"/>
              </a:rPr>
              <a:t>Siguiente landmark</a:t>
            </a:r>
            <a:endParaRPr lang="en-US" sz="1300" dirty="0"/>
          </a:p>
        </p:txBody>
      </p:sp>
      <p:sp>
        <p:nvSpPr>
          <p:cNvPr id="12" name="Text 9"/>
          <p:cNvSpPr/>
          <p:nvPr/>
        </p:nvSpPr>
        <p:spPr>
          <a:xfrm>
            <a:off x="7213600" y="2981958"/>
            <a:ext cx="508000" cy="299720"/>
          </a:xfrm>
          <a:custGeom>
            <a:avLst/>
            <a:gdLst/>
            <a:ahLst/>
            <a:cxnLst/>
            <a:rect l="l" t="t" r="r" b="b"/>
            <a:pathLst>
              <a:path w="508000" h="299720">
                <a:moveTo>
                  <a:pt x="50800" y="0"/>
                </a:moveTo>
                <a:lnTo>
                  <a:pt x="457200" y="0"/>
                </a:lnTo>
                <a:arcTo hR="50800" wR="50800" stAng="16200000" swAng="5400000"/>
                <a:lnTo>
                  <a:pt x="508000" y="248920"/>
                </a:lnTo>
                <a:arcTo hR="50800" wR="50800" stAng="0" swAng="5400000"/>
                <a:lnTo>
                  <a:pt x="50800" y="299720"/>
                </a:lnTo>
                <a:arcTo hR="50800" wR="50800" stAng="5400000" swAng="5400000"/>
                <a:lnTo>
                  <a:pt x="0" y="50800"/>
                </a:lnTo>
                <a:arcTo hR="50800" wR="50800" stAng="10800000" swAng="5400000"/>
                <a:close/>
              </a:path>
            </a:pathLst>
          </a:custGeom>
          <a:solidFill>
            <a:srgbClr val="EDE9DF"/>
          </a:solidFill>
          <a:ln/>
        </p:spPr>
        <p:txBody>
          <a:bodyPr wrap="square" lIns="0" tIns="25400" rIns="0" bIns="0" rtlCol="0" anchor="t">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K</a:t>
            </a:r>
            <a:endParaRPr lang="en-US" sz="1400" dirty="0"/>
          </a:p>
        </p:txBody>
      </p:sp>
      <p:sp>
        <p:nvSpPr>
          <p:cNvPr id="13" name="Text 10"/>
          <p:cNvSpPr/>
          <p:nvPr/>
        </p:nvSpPr>
        <p:spPr>
          <a:xfrm>
            <a:off x="7848600" y="3016250"/>
            <a:ext cx="363651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045"/>
                </a:solidFill>
                <a:latin typeface="Space Grotesk" pitchFamily="34" charset="0"/>
                <a:ea typeface="Space Grotesk" pitchFamily="34" charset="-122"/>
                <a:cs typeface="Space Grotesk" pitchFamily="34" charset="-120"/>
              </a:rPr>
              <a:t>Siguiente enlace</a:t>
            </a:r>
            <a:endParaRPr lang="en-US" sz="1300" dirty="0"/>
          </a:p>
        </p:txBody>
      </p:sp>
      <p:sp>
        <p:nvSpPr>
          <p:cNvPr id="14" name="Text 11"/>
          <p:cNvSpPr/>
          <p:nvPr/>
        </p:nvSpPr>
        <p:spPr>
          <a:xfrm>
            <a:off x="7213600" y="3357885"/>
            <a:ext cx="508000" cy="299720"/>
          </a:xfrm>
          <a:custGeom>
            <a:avLst/>
            <a:gdLst/>
            <a:ahLst/>
            <a:cxnLst/>
            <a:rect l="l" t="t" r="r" b="b"/>
            <a:pathLst>
              <a:path w="508000" h="299720">
                <a:moveTo>
                  <a:pt x="50800" y="0"/>
                </a:moveTo>
                <a:lnTo>
                  <a:pt x="457200" y="0"/>
                </a:lnTo>
                <a:arcTo hR="50800" wR="50800" stAng="16200000" swAng="5400000"/>
                <a:lnTo>
                  <a:pt x="508000" y="248920"/>
                </a:lnTo>
                <a:arcTo hR="50800" wR="50800" stAng="0" swAng="5400000"/>
                <a:lnTo>
                  <a:pt x="50800" y="299720"/>
                </a:lnTo>
                <a:arcTo hR="50800" wR="50800" stAng="5400000" swAng="5400000"/>
                <a:lnTo>
                  <a:pt x="0" y="50800"/>
                </a:lnTo>
                <a:arcTo hR="50800" wR="50800" stAng="10800000" swAng="5400000"/>
                <a:close/>
              </a:path>
            </a:pathLst>
          </a:custGeom>
          <a:solidFill>
            <a:srgbClr val="EDE9DF"/>
          </a:solidFill>
          <a:ln/>
        </p:spPr>
        <p:txBody>
          <a:bodyPr wrap="square" lIns="0" tIns="25400" rIns="0" bIns="0" rtlCol="0" anchor="t">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F</a:t>
            </a:r>
            <a:endParaRPr lang="en-US" sz="1400" dirty="0"/>
          </a:p>
        </p:txBody>
      </p:sp>
      <p:sp>
        <p:nvSpPr>
          <p:cNvPr id="15" name="Text 12"/>
          <p:cNvSpPr/>
          <p:nvPr/>
        </p:nvSpPr>
        <p:spPr>
          <a:xfrm>
            <a:off x="7848600" y="3392177"/>
            <a:ext cx="363651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045"/>
                </a:solidFill>
                <a:latin typeface="Space Grotesk" pitchFamily="34" charset="0"/>
                <a:ea typeface="Space Grotesk" pitchFamily="34" charset="-122"/>
                <a:cs typeface="Space Grotesk" pitchFamily="34" charset="-120"/>
              </a:rPr>
              <a:t>Siguiente campo de formulario</a:t>
            </a:r>
            <a:endParaRPr lang="en-US" sz="1300" dirty="0"/>
          </a:p>
        </p:txBody>
      </p:sp>
      <p:sp>
        <p:nvSpPr>
          <p:cNvPr id="16" name="Text 13"/>
          <p:cNvSpPr/>
          <p:nvPr/>
        </p:nvSpPr>
        <p:spPr>
          <a:xfrm>
            <a:off x="7213600" y="3759200"/>
            <a:ext cx="429056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Space Grotesk" pitchFamily="34" charset="0"/>
                <a:ea typeface="Space Grotesk" pitchFamily="34" charset="-122"/>
                <a:cs typeface="Space Grotesk" pitchFamily="34" charset="-120"/>
              </a:rPr>
              <a:t>Funcionan en NVDA y en el modo de examen del Narrador (Narrador + Espacio).</a:t>
            </a:r>
            <a:endParaRPr lang="en-US" sz="1200" dirty="0"/>
          </a:p>
        </p:txBody>
      </p:sp>
      <p:sp>
        <p:nvSpPr>
          <p:cNvPr id="17" name="Text 1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02 · ACCESIBILIDAD</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Lo que el navegador le cuenta al lector</a:t>
            </a:r>
            <a:endParaRPr lang="en-US" sz="3600" dirty="0"/>
          </a:p>
        </p:txBody>
      </p:sp>
      <p:sp>
        <p:nvSpPr>
          <p:cNvPr id="4" name="Text 2"/>
          <p:cNvSpPr/>
          <p:nvPr/>
        </p:nvSpPr>
        <p:spPr>
          <a:xfrm>
            <a:off x="812800" y="188468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DevTools › Elements › pestaña </a:t>
            </a:r>
            <a:r>
              <a:rPr lang="en-US" sz="1400" b="1" dirty="0">
                <a:solidFill>
                  <a:srgbClr val="2B3045"/>
                </a:solidFill>
                <a:latin typeface="Space Grotesk" pitchFamily="34" charset="0"/>
                <a:ea typeface="Space Grotesk" pitchFamily="34" charset="-122"/>
                <a:cs typeface="Space Grotesk" pitchFamily="34" charset="-120"/>
              </a:rPr>
              <a:t>Accessibility</a:t>
            </a:r>
            <a:r>
              <a:rPr lang="en-US" sz="1400" dirty="0">
                <a:solidFill>
                  <a:srgbClr val="2B3045"/>
                </a:solidFill>
                <a:latin typeface="Space Grotesk" pitchFamily="34" charset="0"/>
                <a:ea typeface="Space Grotesk" pitchFamily="34" charset="-122"/>
                <a:cs typeface="Space Grotesk" pitchFamily="34" charset="-120"/>
              </a:rPr>
              <a:t>: cada elemento tiene un </a:t>
            </a:r>
            <a:r>
              <a:rPr lang="en-US" sz="1400" b="1" dirty="0">
                <a:solidFill>
                  <a:srgbClr val="2B3045"/>
                </a:solidFill>
                <a:latin typeface="Space Grotesk" pitchFamily="34" charset="0"/>
                <a:ea typeface="Space Grotesk" pitchFamily="34" charset="-122"/>
                <a:cs typeface="Space Grotesk" pitchFamily="34" charset="-120"/>
              </a:rPr>
              <a:t>rol</a:t>
            </a:r>
            <a:r>
              <a:rPr lang="en-US" sz="1400" dirty="0">
                <a:solidFill>
                  <a:srgbClr val="2B3045"/>
                </a:solidFill>
                <a:latin typeface="Space Grotesk" pitchFamily="34" charset="0"/>
                <a:ea typeface="Space Grotesk" pitchFamily="34" charset="-122"/>
                <a:cs typeface="Space Grotesk" pitchFamily="34" charset="-120"/>
              </a:rPr>
              <a:t> y un </a:t>
            </a:r>
            <a:r>
              <a:rPr lang="en-US" sz="1400" b="1" dirty="0">
                <a:solidFill>
                  <a:srgbClr val="2B3045"/>
                </a:solidFill>
                <a:latin typeface="Space Grotesk" pitchFamily="34" charset="0"/>
                <a:ea typeface="Space Grotesk" pitchFamily="34" charset="-122"/>
                <a:cs typeface="Space Grotesk" pitchFamily="34" charset="-120"/>
              </a:rPr>
              <a:t>nombre</a:t>
            </a:r>
            <a:r>
              <a:rPr lang="en-US" sz="1400" dirty="0">
                <a:solidFill>
                  <a:srgbClr val="2B3045"/>
                </a:solidFill>
                <a:latin typeface="Space Grotesk" pitchFamily="34" charset="0"/>
                <a:ea typeface="Space Grotesk" pitchFamily="34" charset="-122"/>
                <a:cs typeface="Space Grotesk" pitchFamily="34" charset="-120"/>
              </a:rPr>
              <a:t>.</a:t>
            </a:r>
            <a:endParaRPr lang="en-US" sz="1400" dirty="0"/>
          </a:p>
        </p:txBody>
      </p:sp>
      <p:sp>
        <p:nvSpPr>
          <p:cNvPr id="5" name="Text 3"/>
          <p:cNvSpPr/>
          <p:nvPr/>
        </p:nvSpPr>
        <p:spPr>
          <a:xfrm>
            <a:off x="812800" y="2387600"/>
            <a:ext cx="4826000" cy="416560"/>
          </a:xfrm>
          <a:prstGeom prst="roundRect">
            <a:avLst>
              <a:gd name="adj" fmla="val 18293"/>
            </a:avLst>
          </a:prstGeom>
          <a:solidFill>
            <a:srgbClr val="1C2137"/>
          </a:solidFill>
          <a:ln/>
        </p:spPr>
        <p:txBody>
          <a:bodyPr wrap="square" lIns="130082" tIns="79282" rIns="0" bIns="53882" rtlCol="0" anchor="t">
            <a:normAutofit/>
          </a:bodyPr>
          <a:lstStyle/>
          <a:p>
            <a:pPr algn="l" indent="0" marL="0">
              <a:lnSpc>
                <a:spcPts val="1680"/>
              </a:lnSpc>
              <a:buNone/>
            </a:pPr>
            <a:r>
              <a:rPr lang="en-US" sz="1200" dirty="0">
                <a:solidFill>
                  <a:srgbClr val="FF9466"/>
                </a:solidFill>
                <a:latin typeface="JetBrains Mono" pitchFamily="49" charset="0"/>
                <a:ea typeface="JetBrains Mono" pitchFamily="49" charset="-122"/>
                <a:cs typeface="JetBrains Mono" pitchFamily="49" charset="-120"/>
              </a:rPr>
              <a:t>&lt;button&gt;</a:t>
            </a:r>
            <a:r>
              <a:rPr lang="en-US" sz="1200" dirty="0">
                <a:solidFill>
                  <a:srgbClr val="E8E6E1"/>
                </a:solidFill>
                <a:latin typeface="JetBrains Mono" pitchFamily="49" charset="0"/>
                <a:ea typeface="JetBrains Mono" pitchFamily="49" charset="-122"/>
                <a:cs typeface="JetBrains Mono" pitchFamily="49" charset="-120"/>
              </a:rPr>
              <a:t>Enviar</a:t>
            </a:r>
            <a:r>
              <a:rPr lang="en-US" sz="1200" dirty="0">
                <a:solidFill>
                  <a:srgbClr val="FF9466"/>
                </a:solidFill>
                <a:latin typeface="JetBrains Mono" pitchFamily="49" charset="0"/>
                <a:ea typeface="JetBrains Mono" pitchFamily="49" charset="-122"/>
                <a:cs typeface="JetBrains Mono" pitchFamily="49" charset="-120"/>
              </a:rPr>
              <a:t>&lt;/button&gt;</a:t>
            </a:r>
            <a:endParaRPr lang="en-US" sz="1200" dirty="0"/>
          </a:p>
        </p:txBody>
      </p:sp>
      <p:pic>
        <p:nvPicPr>
          <p:cNvPr id="6" name="Image 0" descr="arrow-right">    </p:cNvPr>
          <p:cNvPicPr>
            <a:picLocks noChangeAspect="1"/>
          </p:cNvPicPr>
          <p:nvPr/>
        </p:nvPicPr>
        <p:blipFill>
          <a:blip r:embed="rId1"/>
          <a:srcRect l="0" r="0" t="0" b="0"/>
          <a:stretch/>
        </p:blipFill>
        <p:spPr>
          <a:xfrm>
            <a:off x="5791200" y="2513335"/>
            <a:ext cx="304800" cy="165100"/>
          </a:xfrm>
          <a:prstGeom prst="rect">
            <a:avLst/>
          </a:prstGeom>
        </p:spPr>
      </p:pic>
      <p:sp>
        <p:nvSpPr>
          <p:cNvPr id="7" name="Text 4"/>
          <p:cNvSpPr/>
          <p:nvPr/>
        </p:nvSpPr>
        <p:spPr>
          <a:xfrm>
            <a:off x="6248400" y="2480308"/>
            <a:ext cx="528472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182B"/>
                </a:solidFill>
                <a:latin typeface="Space Grotesk" pitchFamily="34" charset="0"/>
                <a:ea typeface="Space Grotesk" pitchFamily="34" charset="-122"/>
                <a:cs typeface="Space Grotesk" pitchFamily="34" charset="-120"/>
              </a:rPr>
              <a:t>Rol </a:t>
            </a:r>
            <a:r>
              <a:rPr lang="en-US" sz="1400" b="1" dirty="0">
                <a:solidFill>
                  <a:srgbClr val="14182B"/>
                </a:solidFill>
                <a:latin typeface="Space Grotesk" pitchFamily="34" charset="0"/>
                <a:ea typeface="Space Grotesk" pitchFamily="34" charset="-122"/>
                <a:cs typeface="Space Grotesk" pitchFamily="34" charset="-120"/>
              </a:rPr>
              <a:t>button</a:t>
            </a:r>
            <a:r>
              <a:rPr lang="en-US" sz="1400" dirty="0">
                <a:solidFill>
                  <a:srgbClr val="14182B"/>
                </a:solidFill>
                <a:latin typeface="Space Grotesk" pitchFamily="34" charset="0"/>
                <a:ea typeface="Space Grotesk" pitchFamily="34" charset="-122"/>
                <a:cs typeface="Space Grotesk" pitchFamily="34" charset="-120"/>
              </a:rPr>
              <a:t> · nombre “Enviar” · recibe foco</a:t>
            </a:r>
            <a:endParaRPr lang="en-US" sz="1400" dirty="0"/>
          </a:p>
        </p:txBody>
      </p:sp>
      <p:sp>
        <p:nvSpPr>
          <p:cNvPr id="8" name="Text 5"/>
          <p:cNvSpPr/>
          <p:nvPr/>
        </p:nvSpPr>
        <p:spPr>
          <a:xfrm>
            <a:off x="812800" y="2905758"/>
            <a:ext cx="4826000" cy="416560"/>
          </a:xfrm>
          <a:prstGeom prst="roundRect">
            <a:avLst>
              <a:gd name="adj" fmla="val 18293"/>
            </a:avLst>
          </a:prstGeom>
          <a:solidFill>
            <a:srgbClr val="1C2137"/>
          </a:solidFill>
          <a:ln/>
        </p:spPr>
        <p:txBody>
          <a:bodyPr wrap="square" lIns="130082" tIns="79282" rIns="0" bIns="53882" rtlCol="0" anchor="t">
            <a:normAutofit/>
          </a:bodyPr>
          <a:lstStyle/>
          <a:p>
            <a:pPr algn="l" indent="0" marL="0">
              <a:lnSpc>
                <a:spcPts val="1680"/>
              </a:lnSpc>
              <a:buNone/>
            </a:pPr>
            <a:r>
              <a:rPr lang="en-US" sz="1200" dirty="0">
                <a:solidFill>
                  <a:srgbClr val="FF9466"/>
                </a:solidFill>
                <a:latin typeface="JetBrains Mono" pitchFamily="49" charset="0"/>
                <a:ea typeface="JetBrains Mono" pitchFamily="49" charset="-122"/>
                <a:cs typeface="JetBrains Mono" pitchFamily="49" charset="-120"/>
              </a:rPr>
              <a:t>&lt;div&gt;</a:t>
            </a:r>
            <a:r>
              <a:rPr lang="en-US" sz="1200" dirty="0">
                <a:solidFill>
                  <a:srgbClr val="E8E6E1"/>
                </a:solidFill>
                <a:latin typeface="JetBrains Mono" pitchFamily="49" charset="0"/>
                <a:ea typeface="JetBrains Mono" pitchFamily="49" charset="-122"/>
                <a:cs typeface="JetBrains Mono" pitchFamily="49" charset="-120"/>
              </a:rPr>
              <a:t>Enviar</a:t>
            </a:r>
            <a:r>
              <a:rPr lang="en-US" sz="1200" dirty="0">
                <a:solidFill>
                  <a:srgbClr val="FF9466"/>
                </a:solidFill>
                <a:latin typeface="JetBrains Mono" pitchFamily="49" charset="0"/>
                <a:ea typeface="JetBrains Mono" pitchFamily="49" charset="-122"/>
                <a:cs typeface="JetBrains Mono" pitchFamily="49" charset="-120"/>
              </a:rPr>
              <a:t>&lt;/div&gt;</a:t>
            </a:r>
            <a:endParaRPr lang="en-US" sz="1200" dirty="0"/>
          </a:p>
        </p:txBody>
      </p:sp>
      <p:pic>
        <p:nvPicPr>
          <p:cNvPr id="9" name="Image 1" descr="arrow-right">    </p:cNvPr>
          <p:cNvPicPr>
            <a:picLocks noChangeAspect="1"/>
          </p:cNvPicPr>
          <p:nvPr/>
        </p:nvPicPr>
        <p:blipFill>
          <a:blip r:embed="rId2"/>
          <a:srcRect l="0" r="0" t="0" b="0"/>
          <a:stretch/>
        </p:blipFill>
        <p:spPr>
          <a:xfrm>
            <a:off x="5791200" y="3031492"/>
            <a:ext cx="304800" cy="165100"/>
          </a:xfrm>
          <a:prstGeom prst="rect">
            <a:avLst/>
          </a:prstGeom>
        </p:spPr>
      </p:pic>
      <p:sp>
        <p:nvSpPr>
          <p:cNvPr id="10" name="Text 6"/>
          <p:cNvSpPr/>
          <p:nvPr/>
        </p:nvSpPr>
        <p:spPr>
          <a:xfrm>
            <a:off x="6248400" y="2998477"/>
            <a:ext cx="528472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182B"/>
                </a:solidFill>
                <a:latin typeface="Space Grotesk" pitchFamily="34" charset="0"/>
                <a:ea typeface="Space Grotesk" pitchFamily="34" charset="-122"/>
                <a:cs typeface="Space Grotesk" pitchFamily="34" charset="-120"/>
              </a:rPr>
              <a:t>Rol </a:t>
            </a:r>
            <a:r>
              <a:rPr lang="en-US" sz="1400" b="1" dirty="0">
                <a:solidFill>
                  <a:srgbClr val="14182B"/>
                </a:solidFill>
                <a:latin typeface="Space Grotesk" pitchFamily="34" charset="0"/>
                <a:ea typeface="Space Grotesk" pitchFamily="34" charset="-122"/>
                <a:cs typeface="Space Grotesk" pitchFamily="34" charset="-120"/>
              </a:rPr>
              <a:t>generic</a:t>
            </a:r>
            <a:r>
              <a:rPr lang="en-US" sz="1400" dirty="0">
                <a:solidFill>
                  <a:srgbClr val="14182B"/>
                </a:solidFill>
                <a:latin typeface="Space Grotesk" pitchFamily="34" charset="0"/>
                <a:ea typeface="Space Grotesk" pitchFamily="34" charset="-122"/>
                <a:cs typeface="Space Grotesk" pitchFamily="34" charset="-120"/>
              </a:rPr>
              <a:t> · sin nombre · no recibe foco</a:t>
            </a:r>
            <a:endParaRPr lang="en-US" sz="1400" dirty="0"/>
          </a:p>
        </p:txBody>
      </p:sp>
      <p:sp>
        <p:nvSpPr>
          <p:cNvPr id="11" name="Text 7"/>
          <p:cNvSpPr/>
          <p:nvPr/>
        </p:nvSpPr>
        <p:spPr>
          <a:xfrm>
            <a:off x="812800" y="3423927"/>
            <a:ext cx="4826000" cy="416560"/>
          </a:xfrm>
          <a:prstGeom prst="roundRect">
            <a:avLst>
              <a:gd name="adj" fmla="val 18293"/>
            </a:avLst>
          </a:prstGeom>
          <a:solidFill>
            <a:srgbClr val="1C2137"/>
          </a:solidFill>
          <a:ln/>
        </p:spPr>
        <p:txBody>
          <a:bodyPr wrap="square" lIns="130082" tIns="79282" rIns="0" bIns="53882" rtlCol="0" anchor="t">
            <a:normAutofit/>
          </a:bodyPr>
          <a:lstStyle/>
          <a:p>
            <a:pPr algn="l" indent="0" marL="0">
              <a:lnSpc>
                <a:spcPts val="1680"/>
              </a:lnSpc>
              <a:buNone/>
            </a:pPr>
            <a:r>
              <a:rPr lang="en-US" sz="1200" dirty="0">
                <a:solidFill>
                  <a:srgbClr val="FF9466"/>
                </a:solidFill>
                <a:latin typeface="JetBrains Mono" pitchFamily="49" charset="0"/>
                <a:ea typeface="JetBrains Mono" pitchFamily="49" charset="-122"/>
                <a:cs typeface="JetBrains Mono" pitchFamily="49" charset="-120"/>
              </a:rPr>
              <a:t>&lt;a</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href</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a:t>
            </a:r>
            <a:r>
              <a:rPr lang="en-US" sz="1200" dirty="0">
                <a:solidFill>
                  <a:srgbClr val="FF9466"/>
                </a:solidFill>
                <a:latin typeface="JetBrains Mono" pitchFamily="49" charset="0"/>
                <a:ea typeface="JetBrains Mono" pitchFamily="49" charset="-122"/>
                <a:cs typeface="JetBrains Mono" pitchFamily="49" charset="-120"/>
              </a:rPr>
              <a:t>&gt;&lt;img</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src</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"logo.png"</a:t>
            </a:r>
            <a:r>
              <a:rPr lang="en-US" sz="1200" dirty="0">
                <a:solidFill>
                  <a:srgbClr val="FF9466"/>
                </a:solidFill>
                <a:latin typeface="JetBrains Mono" pitchFamily="49" charset="0"/>
                <a:ea typeface="JetBrains Mono" pitchFamily="49" charset="-122"/>
                <a:cs typeface="JetBrains Mono" pitchFamily="49" charset="-120"/>
              </a:rPr>
              <a:t>&gt;&lt;/a&gt;</a:t>
            </a:r>
            <a:endParaRPr lang="en-US" sz="1200" dirty="0"/>
          </a:p>
        </p:txBody>
      </p:sp>
      <p:pic>
        <p:nvPicPr>
          <p:cNvPr id="12" name="Image 2" descr="arrow-right">    </p:cNvPr>
          <p:cNvPicPr>
            <a:picLocks noChangeAspect="1"/>
          </p:cNvPicPr>
          <p:nvPr/>
        </p:nvPicPr>
        <p:blipFill>
          <a:blip r:embed="rId3"/>
          <a:srcRect l="0" r="0" t="0" b="0"/>
          <a:stretch/>
        </p:blipFill>
        <p:spPr>
          <a:xfrm>
            <a:off x="5791200" y="3549650"/>
            <a:ext cx="304800" cy="165100"/>
          </a:xfrm>
          <a:prstGeom prst="rect">
            <a:avLst/>
          </a:prstGeom>
        </p:spPr>
      </p:pic>
      <p:sp>
        <p:nvSpPr>
          <p:cNvPr id="13" name="Text 8"/>
          <p:cNvSpPr/>
          <p:nvPr/>
        </p:nvSpPr>
        <p:spPr>
          <a:xfrm>
            <a:off x="6248400" y="3516635"/>
            <a:ext cx="528472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182B"/>
                </a:solidFill>
                <a:latin typeface="Space Grotesk" pitchFamily="34" charset="0"/>
                <a:ea typeface="Space Grotesk" pitchFamily="34" charset="-122"/>
                <a:cs typeface="Space Grotesk" pitchFamily="34" charset="-120"/>
              </a:rPr>
              <a:t>Rol </a:t>
            </a:r>
            <a:r>
              <a:rPr lang="en-US" sz="1400" b="1" dirty="0">
                <a:solidFill>
                  <a:srgbClr val="14182B"/>
                </a:solidFill>
                <a:latin typeface="Space Grotesk" pitchFamily="34" charset="0"/>
                <a:ea typeface="Space Grotesk" pitchFamily="34" charset="-122"/>
                <a:cs typeface="Space Grotesk" pitchFamily="34" charset="-120"/>
              </a:rPr>
              <a:t>link</a:t>
            </a:r>
            <a:r>
              <a:rPr lang="en-US" sz="1400" dirty="0">
                <a:solidFill>
                  <a:srgbClr val="14182B"/>
                </a:solidFill>
                <a:latin typeface="Space Grotesk" pitchFamily="34" charset="0"/>
                <a:ea typeface="Space Grotesk" pitchFamily="34" charset="-122"/>
                <a:cs typeface="Space Grotesk" pitchFamily="34" charset="-120"/>
              </a:rPr>
              <a:t> · nombre vacío: “enlace” y nada más</a:t>
            </a:r>
            <a:endParaRPr lang="en-US" sz="1400" dirty="0"/>
          </a:p>
        </p:txBody>
      </p:sp>
      <p:sp>
        <p:nvSpPr>
          <p:cNvPr id="14" name="Text 9"/>
          <p:cNvSpPr/>
          <p:nvPr/>
        </p:nvSpPr>
        <p:spPr>
          <a:xfrm>
            <a:off x="812800" y="3942085"/>
            <a:ext cx="4826000" cy="416560"/>
          </a:xfrm>
          <a:prstGeom prst="roundRect">
            <a:avLst>
              <a:gd name="adj" fmla="val 18293"/>
            </a:avLst>
          </a:prstGeom>
          <a:solidFill>
            <a:srgbClr val="1C2137"/>
          </a:solidFill>
          <a:ln/>
        </p:spPr>
        <p:txBody>
          <a:bodyPr wrap="square" lIns="130082" tIns="79282" rIns="0" bIns="53882" rtlCol="0" anchor="t">
            <a:normAutofit/>
          </a:bodyPr>
          <a:lstStyle/>
          <a:p>
            <a:pPr algn="l" indent="0" marL="0">
              <a:lnSpc>
                <a:spcPts val="1680"/>
              </a:lnSpc>
              <a:buNone/>
            </a:pPr>
            <a:r>
              <a:rPr lang="en-US" sz="1200" dirty="0">
                <a:solidFill>
                  <a:srgbClr val="FF9466"/>
                </a:solidFill>
                <a:latin typeface="JetBrains Mono" pitchFamily="49" charset="0"/>
                <a:ea typeface="JetBrains Mono" pitchFamily="49" charset="-122"/>
                <a:cs typeface="JetBrains Mono" pitchFamily="49" charset="-120"/>
              </a:rPr>
              <a:t>&lt;input</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placeholder</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"Correo"</a:t>
            </a:r>
            <a:r>
              <a:rPr lang="en-US" sz="1200" dirty="0">
                <a:solidFill>
                  <a:srgbClr val="FF9466"/>
                </a:solidFill>
                <a:latin typeface="JetBrains Mono" pitchFamily="49" charset="0"/>
                <a:ea typeface="JetBrains Mono" pitchFamily="49" charset="-122"/>
                <a:cs typeface="JetBrains Mono" pitchFamily="49" charset="-120"/>
              </a:rPr>
              <a:t>&gt;</a:t>
            </a:r>
            <a:endParaRPr lang="en-US" sz="1200" dirty="0"/>
          </a:p>
        </p:txBody>
      </p:sp>
      <p:pic>
        <p:nvPicPr>
          <p:cNvPr id="15" name="Image 3" descr="arrow-right">    </p:cNvPr>
          <p:cNvPicPr>
            <a:picLocks noChangeAspect="1"/>
          </p:cNvPicPr>
          <p:nvPr/>
        </p:nvPicPr>
        <p:blipFill>
          <a:blip r:embed="rId4"/>
          <a:srcRect l="0" r="0" t="0" b="0"/>
          <a:stretch/>
        </p:blipFill>
        <p:spPr>
          <a:xfrm>
            <a:off x="5791200" y="4067808"/>
            <a:ext cx="304800" cy="165100"/>
          </a:xfrm>
          <a:prstGeom prst="rect">
            <a:avLst/>
          </a:prstGeom>
        </p:spPr>
      </p:pic>
      <p:sp>
        <p:nvSpPr>
          <p:cNvPr id="16" name="Text 10"/>
          <p:cNvSpPr/>
          <p:nvPr/>
        </p:nvSpPr>
        <p:spPr>
          <a:xfrm>
            <a:off x="6248400" y="4034792"/>
            <a:ext cx="528472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182B"/>
                </a:solidFill>
                <a:latin typeface="Space Grotesk" pitchFamily="34" charset="0"/>
                <a:ea typeface="Space Grotesk" pitchFamily="34" charset="-122"/>
                <a:cs typeface="Space Grotesk" pitchFamily="34" charset="-120"/>
              </a:rPr>
              <a:t>Nombre “Correo”… que desaparece al escribir</a:t>
            </a:r>
            <a:endParaRPr lang="en-US" sz="1400" dirty="0"/>
          </a:p>
        </p:txBody>
      </p:sp>
      <p:sp>
        <p:nvSpPr>
          <p:cNvPr id="17" name="Text 1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02 · ACCESIBILIDAD</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ARIA: poca y bien usada</a:t>
            </a:r>
            <a:endParaRPr lang="en-US" sz="3600" dirty="0"/>
          </a:p>
        </p:txBody>
      </p:sp>
      <p:sp>
        <p:nvSpPr>
          <p:cNvPr id="4" name="Shape 2"/>
          <p:cNvSpPr/>
          <p:nvPr/>
        </p:nvSpPr>
        <p:spPr>
          <a:xfrm>
            <a:off x="812800" y="1884685"/>
            <a:ext cx="4826000" cy="2030730"/>
          </a:xfrm>
          <a:prstGeom prst="roundRect">
            <a:avLst>
              <a:gd name="adj" fmla="val 5003"/>
            </a:avLst>
          </a:prstGeom>
          <a:solidFill>
            <a:srgbClr val="14182B"/>
          </a:solidFill>
          <a:ln/>
        </p:spPr>
      </p:sp>
      <p:sp>
        <p:nvSpPr>
          <p:cNvPr id="5" name="Text 3"/>
          <p:cNvSpPr/>
          <p:nvPr/>
        </p:nvSpPr>
        <p:spPr>
          <a:xfrm>
            <a:off x="1066800" y="2113285"/>
            <a:ext cx="44475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A5C"/>
                </a:solidFill>
                <a:latin typeface="JetBrains Mono" pitchFamily="49" charset="0"/>
                <a:ea typeface="JetBrains Mono" pitchFamily="49" charset="-122"/>
                <a:cs typeface="JetBrains Mono" pitchFamily="49" charset="-120"/>
              </a:rPr>
              <a:t>PRIMERA REGLA DE ARIA</a:t>
            </a:r>
            <a:endParaRPr lang="en-US" sz="1200" dirty="0"/>
          </a:p>
        </p:txBody>
      </p:sp>
      <p:sp>
        <p:nvSpPr>
          <p:cNvPr id="6" name="Text 4"/>
          <p:cNvSpPr/>
          <p:nvPr/>
        </p:nvSpPr>
        <p:spPr>
          <a:xfrm>
            <a:off x="1066800" y="2453642"/>
            <a:ext cx="4447540" cy="5867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7F5EF"/>
                </a:solidFill>
                <a:latin typeface="Space Grotesk" pitchFamily="34" charset="0"/>
                <a:ea typeface="Space Grotesk" pitchFamily="34" charset="-122"/>
                <a:cs typeface="Space Grotesk" pitchFamily="34" charset="-120"/>
              </a:rPr>
              <a:t>Si existe un elemento HTML que ya hace lo que necesitas, usa ese elemento.</a:t>
            </a:r>
            <a:endParaRPr lang="en-US" sz="1700" dirty="0"/>
          </a:p>
        </p:txBody>
      </p:sp>
      <p:sp>
        <p:nvSpPr>
          <p:cNvPr id="7" name="Text 5"/>
          <p:cNvSpPr/>
          <p:nvPr/>
        </p:nvSpPr>
        <p:spPr>
          <a:xfrm>
            <a:off x="1066800" y="3141985"/>
            <a:ext cx="444754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CD8"/>
                </a:solidFill>
                <a:latin typeface="Space Grotesk" pitchFamily="34" charset="0"/>
                <a:ea typeface="Space Grotesk" pitchFamily="34" charset="-122"/>
                <a:cs typeface="Space Grotesk" pitchFamily="34" charset="-120"/>
              </a:rPr>
              <a:t>Las páginas con ARIA tienen en promedio 59,1 errores; las que no la usan, 42.</a:t>
            </a:r>
            <a:endParaRPr lang="en-US" sz="1300" dirty="0"/>
          </a:p>
        </p:txBody>
      </p:sp>
      <p:sp>
        <p:nvSpPr>
          <p:cNvPr id="8" name="Shape 6"/>
          <p:cNvSpPr/>
          <p:nvPr/>
        </p:nvSpPr>
        <p:spPr>
          <a:xfrm>
            <a:off x="5892800" y="1884685"/>
            <a:ext cx="5486400" cy="2030730"/>
          </a:xfrm>
          <a:custGeom>
            <a:avLst/>
            <a:gdLst/>
            <a:ahLst/>
            <a:cxnLst/>
            <a:rect l="l" t="t" r="r" b="b"/>
            <a:pathLst>
              <a:path w="5486400" h="2030730">
                <a:moveTo>
                  <a:pt x="5410200" y="0"/>
                </a:moveTo>
                <a:lnTo>
                  <a:pt x="5410200" y="0"/>
                </a:lnTo>
                <a:arcTo hR="76200" wR="76200" stAng="16200000" swAng="5400000"/>
                <a:lnTo>
                  <a:pt x="5486400" y="1954530"/>
                </a:lnTo>
                <a:arcTo hR="76200" wR="76200" stAng="0" swAng="5400000"/>
                <a:lnTo>
                  <a:pt x="76200" y="2030730"/>
                </a:lnTo>
                <a:arcTo hR="76200" wR="76200" stAng="5400000" swAng="5400000"/>
                <a:lnTo>
                  <a:pt x="0" y="1954530"/>
                </a:lnTo>
                <a:arcTo hR="69850" wR="76200" stAng="10800000" swAng="-5400000"/>
                <a:lnTo>
                  <a:pt x="5410200" y="2024380"/>
                </a:lnTo>
                <a:arcTo hR="69850" wR="69850" stAng="5400000" swAng="-5400000"/>
                <a:lnTo>
                  <a:pt x="5480050" y="76200"/>
                </a:lnTo>
                <a:arcTo hR="76200" wR="69850" stAng="0" swAng="-5400000"/>
                <a:close/>
              </a:path>
            </a:pathLst>
          </a:custGeom>
          <a:solidFill>
            <a:srgbClr val="E4DFD3"/>
          </a:solidFill>
          <a:ln/>
        </p:spPr>
      </p:sp>
      <p:sp>
        <p:nvSpPr>
          <p:cNvPr id="9" name="Shape 7"/>
          <p:cNvSpPr/>
          <p:nvPr/>
        </p:nvSpPr>
        <p:spPr>
          <a:xfrm>
            <a:off x="5892800" y="1884685"/>
            <a:ext cx="5486400" cy="2030730"/>
          </a:xfrm>
          <a:custGeom>
            <a:avLst/>
            <a:gdLst/>
            <a:ahLst/>
            <a:cxnLst/>
            <a:rect l="l" t="t" r="r" b="b"/>
            <a:pathLst>
              <a:path w="5486400" h="2030730">
                <a:moveTo>
                  <a:pt x="76200" y="2030730"/>
                </a:moveTo>
                <a:lnTo>
                  <a:pt x="76200" y="2030730"/>
                </a:lnTo>
                <a:arcTo hR="76200" wR="76200" stAng="5400000" swAng="5400000"/>
                <a:lnTo>
                  <a:pt x="0" y="76200"/>
                </a:lnTo>
                <a:arcTo hR="76200" wR="76200" stAng="10800000" swAng="5400000"/>
                <a:lnTo>
                  <a:pt x="5410200" y="0"/>
                </a:lnTo>
                <a:arcTo hR="76200" wR="76200" stAng="16200000" swAng="5400000"/>
                <a:lnTo>
                  <a:pt x="5486400" y="76200"/>
                </a:lnTo>
                <a:arcTo hR="66040" wR="76200" stAng="0" swAng="-5400000"/>
                <a:lnTo>
                  <a:pt x="76200" y="10160"/>
                </a:lnTo>
                <a:arcTo hR="66040" wR="66040" stAng="16200000" swAng="-5400000"/>
                <a:lnTo>
                  <a:pt x="10160" y="1954530"/>
                </a:lnTo>
                <a:arcTo hR="76200" wR="66040" stAng="10800000" swAng="-5400000"/>
                <a:close/>
              </a:path>
            </a:pathLst>
          </a:custGeom>
          <a:solidFill>
            <a:srgbClr val="141413">
              <a:alpha val="22000"/>
            </a:srgbClr>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02960" y="1894845"/>
          <a:ext cx="5471160" cy="2015490"/>
        </p:xfrm>
        <a:graphic>
          <a:graphicData uri="http://schemas.openxmlformats.org/drawingml/2006/table">
            <a:tbl>
              <a:tblPr/>
              <a:tblGrid>
                <a:gridCol w="2407310"/>
                <a:gridCol w="3063850"/>
              </a:tblGrid>
              <a:tr h="356870">
                <a:tc>
                  <a:txBody>
                    <a:bodyPr/>
                    <a:lstStyle/>
                    <a:p>
                      <a:pPr indent="0" marL="0">
                        <a:lnSpc>
                          <a:spcPts val="1820"/>
                        </a:lnSpc>
                        <a:buNone/>
                      </a:pPr>
                      <a:r>
                        <a:rPr lang="en-US" sz="1300" b="1" dirty="0">
                          <a:solidFill>
                            <a:srgbClr val="F7F5EF"/>
                          </a:solidFill>
                          <a:latin typeface="Space Grotesk" pitchFamily="34" charset="0"/>
                          <a:ea typeface="Space Grotesk" pitchFamily="34" charset="-122"/>
                          <a:cs typeface="Space Grotesk" pitchFamily="34" charset="-120"/>
                        </a:rPr>
                        <a:t>Atributo</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c>
                  <a:txBody>
                    <a:bodyPr/>
                    <a:lstStyle/>
                    <a:p>
                      <a:pPr indent="0" marL="0">
                        <a:lnSpc>
                          <a:spcPts val="1820"/>
                        </a:lnSpc>
                        <a:buNone/>
                      </a:pPr>
                      <a:r>
                        <a:rPr lang="en-US" sz="1300" b="1" dirty="0">
                          <a:solidFill>
                            <a:srgbClr val="F7F5EF"/>
                          </a:solidFill>
                          <a:latin typeface="Space Grotesk" pitchFamily="34" charset="0"/>
                          <a:ea typeface="Space Grotesk" pitchFamily="34" charset="-122"/>
                          <a:cs typeface="Space Grotesk" pitchFamily="34" charset="-120"/>
                        </a:rPr>
                        <a:t>Para qué</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141726"/>
                      </a:solidFill>
                      <a:prstDash val="solid"/>
                      <a:round/>
                      <a:headEnd type="none" w="med" len="med"/>
                      <a:tailEnd type="none" w="med" len="med"/>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r>
              <a:tr h="588010">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aria-label</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Da nombre cuando no hay texto visible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6870">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aria-describedby</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Conecta una ayuda con su campo</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r h="356870">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aria-current</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Marca la página actual del menú</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6870">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aria-hidden</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Oculta al lector un ícono decorativo</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bl>
          </a:graphicData>
        </a:graphic>
      </p:graphicFrame>
      <p:sp>
        <p:nvSpPr>
          <p:cNvPr id="11" name="Text 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Fuente de los promedios: WebAIM Million 2026</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8572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182B"/>
                </a:solidFill>
                <a:latin typeface="JetBrains Mono" pitchFamily="49" charset="0"/>
                <a:ea typeface="JetBrains Mono" pitchFamily="49" charset="-122"/>
                <a:cs typeface="JetBrains Mono" pitchFamily="49" charset="-120"/>
              </a:rPr>
              <a:t>CHECKPOINT 2</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¿Qué alt le pondrías?</a:t>
            </a:r>
            <a:endParaRPr lang="en-US" sz="3600" dirty="0"/>
          </a:p>
        </p:txBody>
      </p:sp>
      <p:sp>
        <p:nvSpPr>
          <p:cNvPr id="4" name="Shape 2"/>
          <p:cNvSpPr/>
          <p:nvPr/>
        </p:nvSpPr>
        <p:spPr>
          <a:xfrm>
            <a:off x="812800" y="1884685"/>
            <a:ext cx="3403600" cy="1206500"/>
          </a:xfrm>
          <a:prstGeom prst="roundRect">
            <a:avLst>
              <a:gd name="adj" fmla="val 8421"/>
            </a:avLst>
          </a:prstGeom>
          <a:solidFill>
            <a:srgbClr val="14182B"/>
          </a:solidFill>
          <a:ln/>
        </p:spPr>
      </p:sp>
      <p:sp>
        <p:nvSpPr>
          <p:cNvPr id="5" name="Text 3"/>
          <p:cNvSpPr/>
          <p:nvPr/>
        </p:nvSpPr>
        <p:spPr>
          <a:xfrm>
            <a:off x="1016000" y="2062485"/>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A</a:t>
            </a:r>
            <a:endParaRPr lang="en-US" sz="2200" dirty="0"/>
          </a:p>
        </p:txBody>
      </p:sp>
      <p:sp>
        <p:nvSpPr>
          <p:cNvPr id="6" name="Text 4"/>
          <p:cNvSpPr/>
          <p:nvPr/>
        </p:nvSpPr>
        <p:spPr>
          <a:xfrm>
            <a:off x="1016000" y="2433327"/>
            <a:ext cx="308711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El logo de la tienda, que enlaza al inicio</a:t>
            </a:r>
            <a:endParaRPr lang="en-US" sz="1400" dirty="0"/>
          </a:p>
        </p:txBody>
      </p:sp>
      <p:sp>
        <p:nvSpPr>
          <p:cNvPr id="7" name="Shape 5"/>
          <p:cNvSpPr/>
          <p:nvPr/>
        </p:nvSpPr>
        <p:spPr>
          <a:xfrm>
            <a:off x="4394200" y="1884685"/>
            <a:ext cx="3403600" cy="1206500"/>
          </a:xfrm>
          <a:prstGeom prst="roundRect">
            <a:avLst>
              <a:gd name="adj" fmla="val 8421"/>
            </a:avLst>
          </a:prstGeom>
          <a:solidFill>
            <a:srgbClr val="14182B"/>
          </a:solidFill>
          <a:ln/>
        </p:spPr>
      </p:sp>
      <p:sp>
        <p:nvSpPr>
          <p:cNvPr id="8" name="Text 6"/>
          <p:cNvSpPr/>
          <p:nvPr/>
        </p:nvSpPr>
        <p:spPr>
          <a:xfrm>
            <a:off x="4597400" y="2062485"/>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B</a:t>
            </a:r>
            <a:endParaRPr lang="en-US" sz="2200" dirty="0"/>
          </a:p>
        </p:txBody>
      </p:sp>
      <p:sp>
        <p:nvSpPr>
          <p:cNvPr id="9" name="Text 7"/>
          <p:cNvSpPr/>
          <p:nvPr/>
        </p:nvSpPr>
        <p:spPr>
          <a:xfrm>
            <a:off x="4597400" y="2433327"/>
            <a:ext cx="308711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La foto de unos tenis en el catálogo</a:t>
            </a:r>
            <a:endParaRPr lang="en-US" sz="1400" dirty="0"/>
          </a:p>
        </p:txBody>
      </p:sp>
      <p:sp>
        <p:nvSpPr>
          <p:cNvPr id="10" name="Shape 8"/>
          <p:cNvSpPr/>
          <p:nvPr/>
        </p:nvSpPr>
        <p:spPr>
          <a:xfrm>
            <a:off x="7975600" y="1884685"/>
            <a:ext cx="3403600" cy="1206500"/>
          </a:xfrm>
          <a:prstGeom prst="roundRect">
            <a:avLst>
              <a:gd name="adj" fmla="val 8421"/>
            </a:avLst>
          </a:prstGeom>
          <a:solidFill>
            <a:srgbClr val="14182B"/>
          </a:solidFill>
          <a:ln/>
        </p:spPr>
      </p:sp>
      <p:sp>
        <p:nvSpPr>
          <p:cNvPr id="11" name="Text 9"/>
          <p:cNvSpPr/>
          <p:nvPr/>
        </p:nvSpPr>
        <p:spPr>
          <a:xfrm>
            <a:off x="8178800" y="2062485"/>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C</a:t>
            </a:r>
            <a:endParaRPr lang="en-US" sz="2200" dirty="0"/>
          </a:p>
        </p:txBody>
      </p:sp>
      <p:sp>
        <p:nvSpPr>
          <p:cNvPr id="12" name="Text 10"/>
          <p:cNvSpPr/>
          <p:nvPr/>
        </p:nvSpPr>
        <p:spPr>
          <a:xfrm>
            <a:off x="8178800" y="2433327"/>
            <a:ext cx="308711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Una línea ondulada que solo adorna el fondo</a:t>
            </a:r>
            <a:endParaRPr lang="en-US" sz="1400" dirty="0"/>
          </a:p>
        </p:txBody>
      </p:sp>
      <p:sp>
        <p:nvSpPr>
          <p:cNvPr id="13" name="Shape 11"/>
          <p:cNvSpPr/>
          <p:nvPr/>
        </p:nvSpPr>
        <p:spPr>
          <a:xfrm>
            <a:off x="812800" y="3268985"/>
            <a:ext cx="3403600" cy="1206500"/>
          </a:xfrm>
          <a:prstGeom prst="roundRect">
            <a:avLst>
              <a:gd name="adj" fmla="val 8421"/>
            </a:avLst>
          </a:prstGeom>
          <a:solidFill>
            <a:srgbClr val="14182B"/>
          </a:solidFill>
          <a:ln/>
        </p:spPr>
      </p:sp>
      <p:sp>
        <p:nvSpPr>
          <p:cNvPr id="14" name="Text 12"/>
          <p:cNvSpPr/>
          <p:nvPr/>
        </p:nvSpPr>
        <p:spPr>
          <a:xfrm>
            <a:off x="1016000" y="3446785"/>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D</a:t>
            </a:r>
            <a:endParaRPr lang="en-US" sz="2200" dirty="0"/>
          </a:p>
        </p:txBody>
      </p:sp>
      <p:sp>
        <p:nvSpPr>
          <p:cNvPr id="15" name="Text 13"/>
          <p:cNvSpPr/>
          <p:nvPr/>
        </p:nvSpPr>
        <p:spPr>
          <a:xfrm>
            <a:off x="1016000" y="3817627"/>
            <a:ext cx="308711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Un botón que solo tiene un ícono de lupa</a:t>
            </a:r>
            <a:endParaRPr lang="en-US" sz="1400" dirty="0"/>
          </a:p>
        </p:txBody>
      </p:sp>
      <p:sp>
        <p:nvSpPr>
          <p:cNvPr id="16" name="Shape 14"/>
          <p:cNvSpPr/>
          <p:nvPr/>
        </p:nvSpPr>
        <p:spPr>
          <a:xfrm>
            <a:off x="4394200" y="3268985"/>
            <a:ext cx="3403600" cy="1206500"/>
          </a:xfrm>
          <a:prstGeom prst="roundRect">
            <a:avLst>
              <a:gd name="adj" fmla="val 8421"/>
            </a:avLst>
          </a:prstGeom>
          <a:solidFill>
            <a:srgbClr val="14182B"/>
          </a:solidFill>
          <a:ln/>
        </p:spPr>
      </p:sp>
      <p:sp>
        <p:nvSpPr>
          <p:cNvPr id="17" name="Text 15"/>
          <p:cNvSpPr/>
          <p:nvPr/>
        </p:nvSpPr>
        <p:spPr>
          <a:xfrm>
            <a:off x="4597400" y="3446785"/>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E</a:t>
            </a:r>
            <a:endParaRPr lang="en-US" sz="2200" dirty="0"/>
          </a:p>
        </p:txBody>
      </p:sp>
      <p:sp>
        <p:nvSpPr>
          <p:cNvPr id="18" name="Text 16"/>
          <p:cNvSpPr/>
          <p:nvPr/>
        </p:nvSpPr>
        <p:spPr>
          <a:xfrm>
            <a:off x="4597400" y="3817627"/>
            <a:ext cx="308711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Un gráfico de barras con las ventas del año</a:t>
            </a:r>
            <a:endParaRPr lang="en-US" sz="1400" dirty="0"/>
          </a:p>
        </p:txBody>
      </p:sp>
      <p:pic>
        <p:nvPicPr>
          <p:cNvPr id="19" name="Image 0" descr="Users">    </p:cNvPr>
          <p:cNvPicPr>
            <a:picLocks noChangeAspect="1"/>
          </p:cNvPicPr>
          <p:nvPr/>
        </p:nvPicPr>
        <p:blipFill>
          <a:blip r:embed="rId1"/>
          <a:srcRect l="0" r="0" t="0" b="0"/>
          <a:stretch/>
        </p:blipFill>
        <p:spPr>
          <a:xfrm>
            <a:off x="8026400" y="3441700"/>
            <a:ext cx="304800" cy="304800"/>
          </a:xfrm>
          <a:prstGeom prst="rect">
            <a:avLst/>
          </a:prstGeom>
        </p:spPr>
      </p:pic>
      <p:sp>
        <p:nvSpPr>
          <p:cNvPr id="20" name="Text 17"/>
          <p:cNvSpPr/>
          <p:nvPr/>
        </p:nvSpPr>
        <p:spPr>
          <a:xfrm>
            <a:off x="8026400" y="3822700"/>
            <a:ext cx="3401060"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182B"/>
                </a:solidFill>
                <a:latin typeface="Space Grotesk" pitchFamily="34" charset="0"/>
                <a:ea typeface="Space Grotesk" pitchFamily="34" charset="-122"/>
                <a:cs typeface="Space Grotesk" pitchFamily="34" charset="-120"/>
              </a:rPr>
              <a:t>En parejas:</a:t>
            </a:r>
            <a:r>
              <a:rPr lang="en-US" sz="1400" dirty="0">
                <a:solidFill>
                  <a:srgbClr val="14182B"/>
                </a:solidFill>
                <a:latin typeface="Space Grotesk" pitchFamily="34" charset="0"/>
                <a:ea typeface="Space Grotesk" pitchFamily="34" charset="-122"/>
                <a:cs typeface="Space Grotesk" pitchFamily="34" charset="-120"/>
              </a:rPr>
              <a:t> escriban el alt exacto, o expliquen por qué va vacío.</a:t>
            </a:r>
            <a:endParaRPr lang="en-US" sz="1400" dirty="0"/>
          </a:p>
        </p:txBody>
      </p:sp>
      <p:sp>
        <p:nvSpPr>
          <p:cNvPr id="21" name="Text 1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82B"/>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8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A5C"/>
                </a:solidFill>
                <a:latin typeface="JetBrains Mono" pitchFamily="49" charset="0"/>
                <a:ea typeface="JetBrains Mono" pitchFamily="49" charset="-122"/>
                <a:cs typeface="JetBrains Mono" pitchFamily="49" charset="-120"/>
              </a:rPr>
              <a:t>DINÁMICA · EJERCICIO 4</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7F5EF"/>
                </a:solidFill>
                <a:latin typeface="Space Grotesk" pitchFamily="34" charset="0"/>
                <a:ea typeface="Space Grotesk" pitchFamily="34" charset="-122"/>
                <a:cs typeface="Space Grotesk" pitchFamily="34" charset="-120"/>
              </a:rPr>
              <a:t>Auditoría a ciegas</a:t>
            </a:r>
            <a:endParaRPr lang="en-US" sz="3600" dirty="0"/>
          </a:p>
        </p:txBody>
      </p:sp>
      <p:sp>
        <p:nvSpPr>
          <p:cNvPr id="4" name="Shape 2"/>
          <p:cNvSpPr/>
          <p:nvPr/>
        </p:nvSpPr>
        <p:spPr>
          <a:xfrm>
            <a:off x="812800" y="1884685"/>
            <a:ext cx="5194300" cy="853440"/>
          </a:xfrm>
          <a:prstGeom prst="roundRect">
            <a:avLst>
              <a:gd name="adj" fmla="val 11905"/>
            </a:avLst>
          </a:prstGeom>
          <a:solidFill>
            <a:srgbClr val="1E2340"/>
          </a:solidFill>
          <a:ln/>
        </p:spPr>
      </p:sp>
      <p:sp>
        <p:nvSpPr>
          <p:cNvPr id="5" name="Text 3"/>
          <p:cNvSpPr/>
          <p:nvPr/>
        </p:nvSpPr>
        <p:spPr>
          <a:xfrm>
            <a:off x="1016000" y="2062485"/>
            <a:ext cx="284480" cy="299720"/>
          </a:xfrm>
          <a:prstGeom prst="roundRect">
            <a:avLst>
              <a:gd name="adj" fmla="val 17857"/>
            </a:avLst>
          </a:prstGeom>
          <a:solidFill>
            <a:srgbClr val="FF8A5C"/>
          </a:solidFill>
          <a:ln/>
        </p:spPr>
        <p:txBody>
          <a:bodyPr wrap="none" lIns="0" tIns="0" rIns="0" bIns="0" rtlCol="0" anchor="ctr">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1</a:t>
            </a:r>
            <a:endParaRPr lang="en-US" sz="1400" dirty="0"/>
          </a:p>
        </p:txBody>
      </p:sp>
      <p:sp>
        <p:nvSpPr>
          <p:cNvPr id="6" name="Text 4"/>
          <p:cNvSpPr/>
          <p:nvPr/>
        </p:nvSpPr>
        <p:spPr>
          <a:xfrm>
            <a:off x="1427480" y="2062485"/>
            <a:ext cx="45077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1E3EC"/>
                </a:solidFill>
                <a:latin typeface="Space Grotesk" pitchFamily="34" charset="0"/>
                <a:ea typeface="Space Grotesk" pitchFamily="34" charset="-122"/>
                <a:cs typeface="Space Grotesk" pitchFamily="34" charset="-120"/>
              </a:rPr>
              <a:t>Quien navega activa el lector de pantalla, se pone audífonos y cierra los ojos.</a:t>
            </a:r>
            <a:endParaRPr lang="en-US" sz="1400" dirty="0"/>
          </a:p>
        </p:txBody>
      </p:sp>
      <p:sp>
        <p:nvSpPr>
          <p:cNvPr id="7" name="Shape 5"/>
          <p:cNvSpPr/>
          <p:nvPr/>
        </p:nvSpPr>
        <p:spPr>
          <a:xfrm>
            <a:off x="6184900" y="1884685"/>
            <a:ext cx="5194300" cy="853440"/>
          </a:xfrm>
          <a:prstGeom prst="roundRect">
            <a:avLst>
              <a:gd name="adj" fmla="val 11905"/>
            </a:avLst>
          </a:prstGeom>
          <a:solidFill>
            <a:srgbClr val="1E2340"/>
          </a:solidFill>
          <a:ln/>
        </p:spPr>
      </p:sp>
      <p:sp>
        <p:nvSpPr>
          <p:cNvPr id="8" name="Text 6"/>
          <p:cNvSpPr/>
          <p:nvPr/>
        </p:nvSpPr>
        <p:spPr>
          <a:xfrm>
            <a:off x="6388100" y="2062485"/>
            <a:ext cx="284480" cy="299720"/>
          </a:xfrm>
          <a:prstGeom prst="roundRect">
            <a:avLst>
              <a:gd name="adj" fmla="val 17857"/>
            </a:avLst>
          </a:prstGeom>
          <a:solidFill>
            <a:srgbClr val="FF8A5C"/>
          </a:solidFill>
          <a:ln/>
        </p:spPr>
        <p:txBody>
          <a:bodyPr wrap="none" lIns="0" tIns="0" rIns="0" bIns="0" rtlCol="0" anchor="ctr">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2</a:t>
            </a:r>
            <a:endParaRPr lang="en-US" sz="1400" dirty="0"/>
          </a:p>
        </p:txBody>
      </p:sp>
      <p:sp>
        <p:nvSpPr>
          <p:cNvPr id="9" name="Text 7"/>
          <p:cNvSpPr/>
          <p:nvPr/>
        </p:nvSpPr>
        <p:spPr>
          <a:xfrm>
            <a:off x="6799580" y="2062485"/>
            <a:ext cx="45077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1E3EC"/>
                </a:solidFill>
                <a:latin typeface="Space Grotesk" pitchFamily="34" charset="0"/>
                <a:ea typeface="Space Grotesk" pitchFamily="34" charset="-122"/>
                <a:cs typeface="Space Grotesk" pitchFamily="34" charset="-120"/>
              </a:rPr>
              <a:t>Quien observa le da tareas: “ve al contenido principal”, “encuentra los servicios”, “suscríbete”.</a:t>
            </a:r>
            <a:endParaRPr lang="en-US" sz="1400" dirty="0"/>
          </a:p>
        </p:txBody>
      </p:sp>
      <p:sp>
        <p:nvSpPr>
          <p:cNvPr id="10" name="Shape 8"/>
          <p:cNvSpPr/>
          <p:nvPr/>
        </p:nvSpPr>
        <p:spPr>
          <a:xfrm>
            <a:off x="812800" y="2915927"/>
            <a:ext cx="5194300" cy="853440"/>
          </a:xfrm>
          <a:prstGeom prst="roundRect">
            <a:avLst>
              <a:gd name="adj" fmla="val 11905"/>
            </a:avLst>
          </a:prstGeom>
          <a:solidFill>
            <a:srgbClr val="1E2340"/>
          </a:solidFill>
          <a:ln/>
        </p:spPr>
      </p:sp>
      <p:sp>
        <p:nvSpPr>
          <p:cNvPr id="11" name="Text 9"/>
          <p:cNvSpPr/>
          <p:nvPr/>
        </p:nvSpPr>
        <p:spPr>
          <a:xfrm>
            <a:off x="1016000" y="3093727"/>
            <a:ext cx="284480" cy="299720"/>
          </a:xfrm>
          <a:prstGeom prst="roundRect">
            <a:avLst>
              <a:gd name="adj" fmla="val 17857"/>
            </a:avLst>
          </a:prstGeom>
          <a:solidFill>
            <a:srgbClr val="FF8A5C"/>
          </a:solidFill>
          <a:ln/>
        </p:spPr>
        <p:txBody>
          <a:bodyPr wrap="none" lIns="0" tIns="0" rIns="0" bIns="0" rtlCol="0" anchor="ctr">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3</a:t>
            </a:r>
            <a:endParaRPr lang="en-US" sz="1400" dirty="0"/>
          </a:p>
        </p:txBody>
      </p:sp>
      <p:sp>
        <p:nvSpPr>
          <p:cNvPr id="12" name="Text 10"/>
          <p:cNvSpPr/>
          <p:nvPr/>
        </p:nvSpPr>
        <p:spPr>
          <a:xfrm>
            <a:off x="1427480" y="3093727"/>
            <a:ext cx="45077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1E3EC"/>
                </a:solidFill>
                <a:latin typeface="Space Grotesk" pitchFamily="34" charset="0"/>
                <a:ea typeface="Space Grotesk" pitchFamily="34" charset="-122"/>
                <a:cs typeface="Space Grotesk" pitchFamily="34" charset="-120"/>
              </a:rPr>
              <a:t>Quien observa anota dónde se atascó y qué escuchó, sin ayudar.</a:t>
            </a:r>
            <a:endParaRPr lang="en-US" sz="1400" dirty="0"/>
          </a:p>
        </p:txBody>
      </p:sp>
      <p:sp>
        <p:nvSpPr>
          <p:cNvPr id="13" name="Shape 11"/>
          <p:cNvSpPr/>
          <p:nvPr/>
        </p:nvSpPr>
        <p:spPr>
          <a:xfrm>
            <a:off x="6184900" y="2915927"/>
            <a:ext cx="5194300" cy="853440"/>
          </a:xfrm>
          <a:prstGeom prst="roundRect">
            <a:avLst>
              <a:gd name="adj" fmla="val 11905"/>
            </a:avLst>
          </a:prstGeom>
          <a:solidFill>
            <a:srgbClr val="1E2340"/>
          </a:solidFill>
          <a:ln/>
        </p:spPr>
      </p:sp>
      <p:sp>
        <p:nvSpPr>
          <p:cNvPr id="14" name="Text 12"/>
          <p:cNvSpPr/>
          <p:nvPr/>
        </p:nvSpPr>
        <p:spPr>
          <a:xfrm>
            <a:off x="6388100" y="3093727"/>
            <a:ext cx="284480" cy="299720"/>
          </a:xfrm>
          <a:prstGeom prst="roundRect">
            <a:avLst>
              <a:gd name="adj" fmla="val 17857"/>
            </a:avLst>
          </a:prstGeom>
          <a:solidFill>
            <a:srgbClr val="FF8A5C"/>
          </a:solidFill>
          <a:ln/>
        </p:spPr>
        <p:txBody>
          <a:bodyPr wrap="none" lIns="0" tIns="0" rIns="0" bIns="0" rtlCol="0" anchor="ctr">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4</a:t>
            </a:r>
            <a:endParaRPr lang="en-US" sz="1400" dirty="0"/>
          </a:p>
        </p:txBody>
      </p:sp>
      <p:sp>
        <p:nvSpPr>
          <p:cNvPr id="15" name="Text 13"/>
          <p:cNvSpPr/>
          <p:nvPr/>
        </p:nvSpPr>
        <p:spPr>
          <a:xfrm>
            <a:off x="6799580" y="3093727"/>
            <a:ext cx="45077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1E3EC"/>
                </a:solidFill>
                <a:latin typeface="Space Grotesk" pitchFamily="34" charset="0"/>
                <a:ea typeface="Space Grotesk" pitchFamily="34" charset="-122"/>
                <a:cs typeface="Space Grotesk" pitchFamily="34" charset="-120"/>
              </a:rPr>
              <a:t>Cambien de rol con la versión corregida y comparen las notas.</a:t>
            </a:r>
            <a:endParaRPr lang="en-US" sz="1400" dirty="0"/>
          </a:p>
        </p:txBody>
      </p:sp>
      <p:pic>
        <p:nvPicPr>
          <p:cNvPr id="16" name="Image 0" descr="Search">    </p:cNvPr>
          <p:cNvPicPr>
            <a:picLocks noChangeAspect="1"/>
          </p:cNvPicPr>
          <p:nvPr/>
        </p:nvPicPr>
        <p:blipFill>
          <a:blip r:embed="rId1"/>
          <a:srcRect l="0" r="0" t="0" b="0"/>
          <a:stretch/>
        </p:blipFill>
        <p:spPr>
          <a:xfrm>
            <a:off x="812800" y="4023358"/>
            <a:ext cx="304800" cy="304800"/>
          </a:xfrm>
          <a:prstGeom prst="rect">
            <a:avLst/>
          </a:prstGeom>
        </p:spPr>
      </p:pic>
      <p:sp>
        <p:nvSpPr>
          <p:cNvPr id="17" name="Text 14"/>
          <p:cNvSpPr/>
          <p:nvPr/>
        </p:nvSpPr>
        <p:spPr>
          <a:xfrm>
            <a:off x="1270000" y="4051300"/>
            <a:ext cx="1031567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1E3EC"/>
                </a:solidFill>
                <a:latin typeface="Space Grotesk" pitchFamily="34" charset="0"/>
                <a:ea typeface="Space Grotesk" pitchFamily="34" charset="-122"/>
                <a:cs typeface="Space Grotesk" pitchFamily="34" charset="-120"/>
              </a:rPr>
              <a:t>Usen la página de la Veterinaria Patitas: primero la original y luego la que corrigieron en el ejercicio 2.</a:t>
            </a:r>
            <a:endParaRPr lang="en-US" sz="1400" dirty="0"/>
          </a:p>
        </p:txBody>
      </p:sp>
      <p:sp>
        <p:nvSpPr>
          <p:cNvPr id="18"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B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03 · FORMULARIOS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El tipo correcto cambia el teclado</a:t>
            </a:r>
            <a:endParaRPr lang="en-US" sz="3600" dirty="0"/>
          </a:p>
        </p:txBody>
      </p:sp>
      <p:sp>
        <p:nvSpPr>
          <p:cNvPr id="4" name="Shape 2"/>
          <p:cNvSpPr/>
          <p:nvPr/>
        </p:nvSpPr>
        <p:spPr>
          <a:xfrm>
            <a:off x="812800" y="1884685"/>
            <a:ext cx="10566400" cy="3083560"/>
          </a:xfrm>
          <a:custGeom>
            <a:avLst/>
            <a:gdLst/>
            <a:ahLst/>
            <a:cxnLst/>
            <a:rect l="l" t="t" r="r" b="b"/>
            <a:pathLst>
              <a:path w="10566400" h="3083560">
                <a:moveTo>
                  <a:pt x="10490200" y="0"/>
                </a:moveTo>
                <a:lnTo>
                  <a:pt x="10490200" y="0"/>
                </a:lnTo>
                <a:arcTo hR="76200" wR="76200" stAng="16200000" swAng="5400000"/>
                <a:lnTo>
                  <a:pt x="10566400" y="3007360"/>
                </a:lnTo>
                <a:arcTo hR="76200" wR="76200" stAng="0" swAng="5400000"/>
                <a:lnTo>
                  <a:pt x="76200" y="3083560"/>
                </a:lnTo>
                <a:arcTo hR="76200" wR="76200" stAng="5400000" swAng="5400000"/>
                <a:lnTo>
                  <a:pt x="0" y="3007360"/>
                </a:lnTo>
                <a:arcTo hR="69850" wR="76200" stAng="10800000" swAng="-5400000"/>
                <a:lnTo>
                  <a:pt x="10490200" y="3077210"/>
                </a:lnTo>
                <a:arcTo hR="69850" wR="69850" stAng="5400000" swAng="-5400000"/>
                <a:lnTo>
                  <a:pt x="10560050" y="76200"/>
                </a:lnTo>
                <a:arcTo hR="76200" wR="69850" stAng="0" swAng="-5400000"/>
                <a:close/>
              </a:path>
            </a:pathLst>
          </a:custGeom>
          <a:solidFill>
            <a:srgbClr val="E4DFD3"/>
          </a:solidFill>
          <a:ln/>
        </p:spPr>
      </p:sp>
      <p:sp>
        <p:nvSpPr>
          <p:cNvPr id="5" name="Shape 3"/>
          <p:cNvSpPr/>
          <p:nvPr/>
        </p:nvSpPr>
        <p:spPr>
          <a:xfrm>
            <a:off x="812800" y="1884685"/>
            <a:ext cx="10566400" cy="3083560"/>
          </a:xfrm>
          <a:custGeom>
            <a:avLst/>
            <a:gdLst/>
            <a:ahLst/>
            <a:cxnLst/>
            <a:rect l="l" t="t" r="r" b="b"/>
            <a:pathLst>
              <a:path w="10566400" h="3083560">
                <a:moveTo>
                  <a:pt x="76200" y="3083560"/>
                </a:moveTo>
                <a:lnTo>
                  <a:pt x="76200" y="3083560"/>
                </a:lnTo>
                <a:arcTo hR="76200" wR="76200" stAng="5400000" swAng="5400000"/>
                <a:lnTo>
                  <a:pt x="0" y="76200"/>
                </a:lnTo>
                <a:arcTo hR="76200" wR="76200" stAng="10800000" swAng="5400000"/>
                <a:lnTo>
                  <a:pt x="10490200" y="0"/>
                </a:lnTo>
                <a:arcTo hR="76200" wR="76200" stAng="16200000" swAng="5400000"/>
                <a:lnTo>
                  <a:pt x="10566400" y="76200"/>
                </a:lnTo>
                <a:arcTo hR="66040" wR="76200" stAng="0" swAng="-5400000"/>
                <a:lnTo>
                  <a:pt x="76200" y="10160"/>
                </a:lnTo>
                <a:arcTo hR="66040" wR="66040" stAng="16200000" swAng="-5400000"/>
                <a:lnTo>
                  <a:pt x="10160" y="3007360"/>
                </a:lnTo>
                <a:arcTo hR="76200" wR="6604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94845"/>
          <a:ext cx="10551160" cy="3068320"/>
        </p:xfrm>
        <a:graphic>
          <a:graphicData uri="http://schemas.openxmlformats.org/drawingml/2006/table">
            <a:tbl>
              <a:tblPr/>
              <a:tblGrid>
                <a:gridCol w="2321255"/>
                <a:gridCol w="4642510"/>
                <a:gridCol w="3587394"/>
              </a:tblGrid>
              <a:tr h="383540">
                <a:tc>
                  <a:txBody>
                    <a:bodyPr/>
                    <a:lstStyle/>
                    <a:p>
                      <a:pPr indent="0" marL="0">
                        <a:lnSpc>
                          <a:spcPts val="1960"/>
                        </a:lnSpc>
                        <a:buNone/>
                      </a:pPr>
                      <a:r>
                        <a:rPr lang="en-US" sz="1400" b="1" dirty="0">
                          <a:solidFill>
                            <a:srgbClr val="F7F5EF"/>
                          </a:solidFill>
                          <a:latin typeface="Space Grotesk" pitchFamily="34" charset="0"/>
                          <a:ea typeface="Space Grotesk" pitchFamily="34" charset="-122"/>
                          <a:cs typeface="Space Grotesk" pitchFamily="34" charset="-120"/>
                        </a:rPr>
                        <a:t>type</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c>
                  <a:txBody>
                    <a:bodyPr/>
                    <a:lstStyle/>
                    <a:p>
                      <a:pPr indent="0" marL="0">
                        <a:lnSpc>
                          <a:spcPts val="1960"/>
                        </a:lnSpc>
                        <a:buNone/>
                      </a:pPr>
                      <a:r>
                        <a:rPr lang="en-US" sz="1400" b="1" dirty="0">
                          <a:solidFill>
                            <a:srgbClr val="F7F5EF"/>
                          </a:solidFill>
                          <a:latin typeface="Space Grotesk" pitchFamily="34" charset="0"/>
                          <a:ea typeface="Space Grotesk" pitchFamily="34" charset="-122"/>
                          <a:cs typeface="Space Grotesk" pitchFamily="34" charset="-120"/>
                        </a:rPr>
                        <a:t>En el celular</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141726"/>
                      </a:solidFill>
                      <a:prstDash val="solid"/>
                      <a:round/>
                      <a:headEnd type="none" w="med" len="med"/>
                      <a:tailEnd type="none" w="med" len="med"/>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c>
                  <a:txBody>
                    <a:bodyPr/>
                    <a:lstStyle/>
                    <a:p>
                      <a:pPr indent="0" marL="0">
                        <a:lnSpc>
                          <a:spcPts val="1960"/>
                        </a:lnSpc>
                        <a:buNone/>
                      </a:pPr>
                      <a:r>
                        <a:rPr lang="en-US" sz="1400" b="1" dirty="0">
                          <a:solidFill>
                            <a:srgbClr val="F7F5EF"/>
                          </a:solidFill>
                          <a:latin typeface="Space Grotesk" pitchFamily="34" charset="0"/>
                          <a:ea typeface="Space Grotesk" pitchFamily="34" charset="-122"/>
                          <a:cs typeface="Space Grotesk" pitchFamily="34" charset="-120"/>
                        </a:rPr>
                        <a:t>Úsalo para</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141726"/>
                      </a:solidFill>
                      <a:prstDash val="solid"/>
                      <a:round/>
                      <a:headEnd type="none" w="med" len="med"/>
                      <a:tailEnd type="none" w="med" len="med"/>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email</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Teclado con @</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Correos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tel</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Teclado numérico</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Celulares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number</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Números, con min, max y step</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Cantidades y edades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url</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Teclado con / y .com</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Sitios web</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date</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Calendario</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Fechas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time</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Selector de hora</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Horas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search</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Botón “Buscar” en el teclado</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Buscadores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7" name="Text 4"/>
          <p:cNvSpPr/>
          <p:nvPr/>
        </p:nvSpPr>
        <p:spPr>
          <a:xfrm>
            <a:off x="812800" y="522224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Además valida el formato: con </a:t>
            </a:r>
            <a:r>
              <a:rPr lang="en-US" sz="1400" b="1" dirty="0">
                <a:solidFill>
                  <a:srgbClr val="2B3045"/>
                </a:solidFill>
                <a:latin typeface="Space Grotesk" pitchFamily="34" charset="0"/>
                <a:ea typeface="Space Grotesk" pitchFamily="34" charset="-122"/>
                <a:cs typeface="Space Grotesk" pitchFamily="34" charset="-120"/>
              </a:rPr>
              <a:t>type="email"</a:t>
            </a:r>
            <a:r>
              <a:rPr lang="en-US" sz="1400" dirty="0">
                <a:solidFill>
                  <a:srgbClr val="2B3045"/>
                </a:solidFill>
                <a:latin typeface="Space Grotesk" pitchFamily="34" charset="0"/>
                <a:ea typeface="Space Grotesk" pitchFamily="34" charset="-122"/>
                <a:cs typeface="Space Grotesk" pitchFamily="34" charset="-120"/>
              </a:rPr>
              <a:t>, el navegador no deja enviar “ana@”.</a:t>
            </a:r>
            <a:endParaRPr lang="en-US" sz="1400" dirty="0"/>
          </a:p>
        </p:txBody>
      </p:sp>
      <p:sp>
        <p:nvSpPr>
          <p:cNvPr id="8" name="Text 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03 · FORMULARIOS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¿radio, checkbox o select?</a:t>
            </a:r>
            <a:endParaRPr lang="en-US" sz="3600" dirty="0"/>
          </a:p>
        </p:txBody>
      </p:sp>
      <p:sp>
        <p:nvSpPr>
          <p:cNvPr id="4" name="Shape 2"/>
          <p:cNvSpPr/>
          <p:nvPr/>
        </p:nvSpPr>
        <p:spPr>
          <a:xfrm>
            <a:off x="815975" y="1887860"/>
            <a:ext cx="10560050" cy="532130"/>
          </a:xfrm>
          <a:prstGeom prst="roundRect">
            <a:avLst>
              <a:gd name="adj" fmla="val 16110"/>
            </a:avLst>
          </a:prstGeom>
          <a:solidFill>
            <a:srgbClr val="FFFDF8"/>
          </a:solidFill>
          <a:ln w="6350">
            <a:solidFill>
              <a:srgbClr val="E4DFD3"/>
            </a:solidFill>
            <a:prstDash val="solid"/>
          </a:ln>
        </p:spPr>
      </p:sp>
      <p:sp>
        <p:nvSpPr>
          <p:cNvPr id="5" name="Text 3"/>
          <p:cNvSpPr/>
          <p:nvPr/>
        </p:nvSpPr>
        <p:spPr>
          <a:xfrm>
            <a:off x="995680" y="2038350"/>
            <a:ext cx="7916621"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182B"/>
                </a:solidFill>
                <a:latin typeface="Space Grotesk" pitchFamily="34" charset="0"/>
                <a:ea typeface="Space Grotesk" pitchFamily="34" charset="-122"/>
                <a:cs typeface="Space Grotesk" pitchFamily="34" charset="-120"/>
              </a:rPr>
              <a:t>Una sola opción entre pocas (hasta 5)</a:t>
            </a:r>
            <a:endParaRPr lang="en-US" sz="1400" dirty="0"/>
          </a:p>
        </p:txBody>
      </p:sp>
      <p:pic>
        <p:nvPicPr>
          <p:cNvPr id="6" name="Image 0" descr="arrow-right">    </p:cNvPr>
          <p:cNvPicPr>
            <a:picLocks noChangeAspect="1"/>
          </p:cNvPicPr>
          <p:nvPr/>
        </p:nvPicPr>
        <p:blipFill>
          <a:blip r:embed="rId1"/>
          <a:srcRect l="0" r="0" t="0" b="0"/>
          <a:stretch/>
        </p:blipFill>
        <p:spPr>
          <a:xfrm>
            <a:off x="8834120" y="2071377"/>
            <a:ext cx="304800" cy="165100"/>
          </a:xfrm>
          <a:prstGeom prst="rect">
            <a:avLst/>
          </a:prstGeom>
        </p:spPr>
      </p:pic>
      <p:sp>
        <p:nvSpPr>
          <p:cNvPr id="7" name="Text 4"/>
          <p:cNvSpPr/>
          <p:nvPr/>
        </p:nvSpPr>
        <p:spPr>
          <a:xfrm>
            <a:off x="9291320" y="1991358"/>
            <a:ext cx="1905000" cy="325120"/>
          </a:xfrm>
          <a:custGeom>
            <a:avLst/>
            <a:gdLst/>
            <a:ahLst/>
            <a:cxnLst/>
            <a:rect l="l" t="t" r="r" b="b"/>
            <a:pathLst>
              <a:path w="1905000" h="325120">
                <a:moveTo>
                  <a:pt x="162560" y="0"/>
                </a:moveTo>
                <a:lnTo>
                  <a:pt x="1742440" y="0"/>
                </a:lnTo>
                <a:arcTo hR="162560" wR="162560" stAng="16200000" swAng="5400000"/>
                <a:lnTo>
                  <a:pt x="1905000" y="162560"/>
                </a:lnTo>
                <a:arcTo hR="162560" wR="162560" stAng="0" swAng="5400000"/>
                <a:lnTo>
                  <a:pt x="162560" y="325120"/>
                </a:lnTo>
                <a:arcTo hR="162560" wR="162560" stAng="5400000" swAng="5400000"/>
                <a:lnTo>
                  <a:pt x="0" y="162560"/>
                </a:lnTo>
                <a:arcTo hR="162560" wR="162560" stAng="10800000" swAng="5400000"/>
                <a:close/>
              </a:path>
            </a:pathLst>
          </a:custGeom>
          <a:solidFill>
            <a:srgbClr val="E8572A"/>
          </a:solidFill>
          <a:ln/>
        </p:spPr>
        <p:txBody>
          <a:bodyPr wrap="square" lIns="76073" tIns="38100" rIns="76073" bIns="12700" rtlCol="0" anchor="t">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radio</a:t>
            </a:r>
            <a:endParaRPr lang="en-US" sz="1400" dirty="0"/>
          </a:p>
        </p:txBody>
      </p:sp>
      <p:sp>
        <p:nvSpPr>
          <p:cNvPr id="8" name="Shape 5"/>
          <p:cNvSpPr/>
          <p:nvPr/>
        </p:nvSpPr>
        <p:spPr>
          <a:xfrm>
            <a:off x="815975" y="2515233"/>
            <a:ext cx="10560050" cy="532130"/>
          </a:xfrm>
          <a:prstGeom prst="roundRect">
            <a:avLst>
              <a:gd name="adj" fmla="val 16110"/>
            </a:avLst>
          </a:prstGeom>
          <a:solidFill>
            <a:srgbClr val="FFFDF8"/>
          </a:solidFill>
          <a:ln w="6350">
            <a:solidFill>
              <a:srgbClr val="E4DFD3"/>
            </a:solidFill>
            <a:prstDash val="solid"/>
          </a:ln>
        </p:spPr>
      </p:sp>
      <p:sp>
        <p:nvSpPr>
          <p:cNvPr id="9" name="Text 6"/>
          <p:cNvSpPr/>
          <p:nvPr/>
        </p:nvSpPr>
        <p:spPr>
          <a:xfrm>
            <a:off x="995680" y="2665735"/>
            <a:ext cx="7916621"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182B"/>
                </a:solidFill>
                <a:latin typeface="Space Grotesk" pitchFamily="34" charset="0"/>
                <a:ea typeface="Space Grotesk" pitchFamily="34" charset="-122"/>
                <a:cs typeface="Space Grotesk" pitchFamily="34" charset="-120"/>
              </a:rPr>
              <a:t>Una sola opción entre muchas</a:t>
            </a:r>
            <a:endParaRPr lang="en-US" sz="1400" dirty="0"/>
          </a:p>
        </p:txBody>
      </p:sp>
      <p:pic>
        <p:nvPicPr>
          <p:cNvPr id="10" name="Image 1" descr="arrow-right">    </p:cNvPr>
          <p:cNvPicPr>
            <a:picLocks noChangeAspect="1"/>
          </p:cNvPicPr>
          <p:nvPr/>
        </p:nvPicPr>
        <p:blipFill>
          <a:blip r:embed="rId2"/>
          <a:srcRect l="0" r="0" t="0" b="0"/>
          <a:stretch/>
        </p:blipFill>
        <p:spPr>
          <a:xfrm>
            <a:off x="8834120" y="2698750"/>
            <a:ext cx="304800" cy="165100"/>
          </a:xfrm>
          <a:prstGeom prst="rect">
            <a:avLst/>
          </a:prstGeom>
        </p:spPr>
      </p:pic>
      <p:sp>
        <p:nvSpPr>
          <p:cNvPr id="11" name="Text 7"/>
          <p:cNvSpPr/>
          <p:nvPr/>
        </p:nvSpPr>
        <p:spPr>
          <a:xfrm>
            <a:off x="9291320" y="2618742"/>
            <a:ext cx="1905000" cy="325120"/>
          </a:xfrm>
          <a:custGeom>
            <a:avLst/>
            <a:gdLst/>
            <a:ahLst/>
            <a:cxnLst/>
            <a:rect l="l" t="t" r="r" b="b"/>
            <a:pathLst>
              <a:path w="1905000" h="325120">
                <a:moveTo>
                  <a:pt x="162560" y="0"/>
                </a:moveTo>
                <a:lnTo>
                  <a:pt x="1742440" y="0"/>
                </a:lnTo>
                <a:arcTo hR="162560" wR="162560" stAng="16200000" swAng="5400000"/>
                <a:lnTo>
                  <a:pt x="1905000" y="162560"/>
                </a:lnTo>
                <a:arcTo hR="162560" wR="162560" stAng="0" swAng="5400000"/>
                <a:lnTo>
                  <a:pt x="162560" y="325120"/>
                </a:lnTo>
                <a:arcTo hR="162560" wR="162560" stAng="5400000" swAng="5400000"/>
                <a:lnTo>
                  <a:pt x="0" y="162560"/>
                </a:lnTo>
                <a:arcTo hR="162560" wR="162560" stAng="10800000" swAng="5400000"/>
                <a:close/>
              </a:path>
            </a:pathLst>
          </a:custGeom>
          <a:solidFill>
            <a:srgbClr val="E8572A"/>
          </a:solidFill>
          <a:ln/>
        </p:spPr>
        <p:txBody>
          <a:bodyPr wrap="square" lIns="76073" tIns="38100" rIns="76073" bIns="12700" rtlCol="0" anchor="t">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&lt;select&gt;</a:t>
            </a:r>
            <a:endParaRPr lang="en-US" sz="1400" dirty="0"/>
          </a:p>
        </p:txBody>
      </p:sp>
      <p:sp>
        <p:nvSpPr>
          <p:cNvPr id="12" name="Shape 8"/>
          <p:cNvSpPr/>
          <p:nvPr/>
        </p:nvSpPr>
        <p:spPr>
          <a:xfrm>
            <a:off x="815975" y="3142617"/>
            <a:ext cx="10560050" cy="532130"/>
          </a:xfrm>
          <a:prstGeom prst="roundRect">
            <a:avLst>
              <a:gd name="adj" fmla="val 16110"/>
            </a:avLst>
          </a:prstGeom>
          <a:solidFill>
            <a:srgbClr val="FFFDF8"/>
          </a:solidFill>
          <a:ln w="6350">
            <a:solidFill>
              <a:srgbClr val="E4DFD3"/>
            </a:solidFill>
            <a:prstDash val="solid"/>
          </a:ln>
        </p:spPr>
      </p:sp>
      <p:sp>
        <p:nvSpPr>
          <p:cNvPr id="13" name="Text 9"/>
          <p:cNvSpPr/>
          <p:nvPr/>
        </p:nvSpPr>
        <p:spPr>
          <a:xfrm>
            <a:off x="995680" y="3293108"/>
            <a:ext cx="7916621"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182B"/>
                </a:solidFill>
                <a:latin typeface="Space Grotesk" pitchFamily="34" charset="0"/>
                <a:ea typeface="Space Grotesk" pitchFamily="34" charset="-122"/>
                <a:cs typeface="Space Grotesk" pitchFamily="34" charset="-120"/>
              </a:rPr>
              <a:t>Varias opciones a la vez</a:t>
            </a:r>
            <a:endParaRPr lang="en-US" sz="1400" dirty="0"/>
          </a:p>
        </p:txBody>
      </p:sp>
      <p:pic>
        <p:nvPicPr>
          <p:cNvPr id="14" name="Image 2" descr="arrow-right">    </p:cNvPr>
          <p:cNvPicPr>
            <a:picLocks noChangeAspect="1"/>
          </p:cNvPicPr>
          <p:nvPr/>
        </p:nvPicPr>
        <p:blipFill>
          <a:blip r:embed="rId3"/>
          <a:srcRect l="0" r="0" t="0" b="0"/>
          <a:stretch/>
        </p:blipFill>
        <p:spPr>
          <a:xfrm>
            <a:off x="8834120" y="3326135"/>
            <a:ext cx="304800" cy="165100"/>
          </a:xfrm>
          <a:prstGeom prst="rect">
            <a:avLst/>
          </a:prstGeom>
        </p:spPr>
      </p:pic>
      <p:sp>
        <p:nvSpPr>
          <p:cNvPr id="15" name="Text 10"/>
          <p:cNvSpPr/>
          <p:nvPr/>
        </p:nvSpPr>
        <p:spPr>
          <a:xfrm>
            <a:off x="9291320" y="3246127"/>
            <a:ext cx="1905000" cy="325120"/>
          </a:xfrm>
          <a:custGeom>
            <a:avLst/>
            <a:gdLst/>
            <a:ahLst/>
            <a:cxnLst/>
            <a:rect l="l" t="t" r="r" b="b"/>
            <a:pathLst>
              <a:path w="1905000" h="325120">
                <a:moveTo>
                  <a:pt x="162560" y="0"/>
                </a:moveTo>
                <a:lnTo>
                  <a:pt x="1742440" y="0"/>
                </a:lnTo>
                <a:arcTo hR="162560" wR="162560" stAng="16200000" swAng="5400000"/>
                <a:lnTo>
                  <a:pt x="1905000" y="162560"/>
                </a:lnTo>
                <a:arcTo hR="162560" wR="162560" stAng="0" swAng="5400000"/>
                <a:lnTo>
                  <a:pt x="162560" y="325120"/>
                </a:lnTo>
                <a:arcTo hR="162560" wR="162560" stAng="5400000" swAng="5400000"/>
                <a:lnTo>
                  <a:pt x="0" y="162560"/>
                </a:lnTo>
                <a:arcTo hR="162560" wR="162560" stAng="10800000" swAng="5400000"/>
                <a:close/>
              </a:path>
            </a:pathLst>
          </a:custGeom>
          <a:solidFill>
            <a:srgbClr val="E8572A"/>
          </a:solidFill>
          <a:ln/>
        </p:spPr>
        <p:txBody>
          <a:bodyPr wrap="square" lIns="76073" tIns="38100" rIns="76073" bIns="12700" rtlCol="0" anchor="t">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checkbox</a:t>
            </a:r>
            <a:endParaRPr lang="en-US" sz="1400" dirty="0"/>
          </a:p>
        </p:txBody>
      </p:sp>
      <p:sp>
        <p:nvSpPr>
          <p:cNvPr id="16" name="Shape 11"/>
          <p:cNvSpPr/>
          <p:nvPr/>
        </p:nvSpPr>
        <p:spPr>
          <a:xfrm>
            <a:off x="815975" y="3770002"/>
            <a:ext cx="10560050" cy="532130"/>
          </a:xfrm>
          <a:prstGeom prst="roundRect">
            <a:avLst>
              <a:gd name="adj" fmla="val 16110"/>
            </a:avLst>
          </a:prstGeom>
          <a:solidFill>
            <a:srgbClr val="FFFDF8"/>
          </a:solidFill>
          <a:ln w="6350">
            <a:solidFill>
              <a:srgbClr val="E4DFD3"/>
            </a:solidFill>
            <a:prstDash val="solid"/>
          </a:ln>
        </p:spPr>
      </p:sp>
      <p:sp>
        <p:nvSpPr>
          <p:cNvPr id="17" name="Text 12"/>
          <p:cNvSpPr/>
          <p:nvPr/>
        </p:nvSpPr>
        <p:spPr>
          <a:xfrm>
            <a:off x="995680" y="3920492"/>
            <a:ext cx="7916621"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182B"/>
                </a:solidFill>
                <a:latin typeface="Space Grotesk" pitchFamily="34" charset="0"/>
                <a:ea typeface="Space Grotesk" pitchFamily="34" charset="-122"/>
                <a:cs typeface="Space Grotesk" pitchFamily="34" charset="-120"/>
              </a:rPr>
              <a:t>Sugerencias, pero se puede escribir otra cosa</a:t>
            </a:r>
            <a:endParaRPr lang="en-US" sz="1400" dirty="0"/>
          </a:p>
        </p:txBody>
      </p:sp>
      <p:pic>
        <p:nvPicPr>
          <p:cNvPr id="18" name="Image 3" descr="arrow-right">    </p:cNvPr>
          <p:cNvPicPr>
            <a:picLocks noChangeAspect="1"/>
          </p:cNvPicPr>
          <p:nvPr/>
        </p:nvPicPr>
        <p:blipFill>
          <a:blip r:embed="rId4"/>
          <a:srcRect l="0" r="0" t="0" b="0"/>
          <a:stretch/>
        </p:blipFill>
        <p:spPr>
          <a:xfrm>
            <a:off x="8834120" y="3953508"/>
            <a:ext cx="304800" cy="165100"/>
          </a:xfrm>
          <a:prstGeom prst="rect">
            <a:avLst/>
          </a:prstGeom>
        </p:spPr>
      </p:pic>
      <p:sp>
        <p:nvSpPr>
          <p:cNvPr id="19" name="Text 13"/>
          <p:cNvSpPr/>
          <p:nvPr/>
        </p:nvSpPr>
        <p:spPr>
          <a:xfrm>
            <a:off x="9291320" y="3873500"/>
            <a:ext cx="1905000" cy="325120"/>
          </a:xfrm>
          <a:custGeom>
            <a:avLst/>
            <a:gdLst/>
            <a:ahLst/>
            <a:cxnLst/>
            <a:rect l="l" t="t" r="r" b="b"/>
            <a:pathLst>
              <a:path w="1905000" h="325120">
                <a:moveTo>
                  <a:pt x="162560" y="0"/>
                </a:moveTo>
                <a:lnTo>
                  <a:pt x="1742440" y="0"/>
                </a:lnTo>
                <a:arcTo hR="162560" wR="162560" stAng="16200000" swAng="5400000"/>
                <a:lnTo>
                  <a:pt x="1905000" y="162560"/>
                </a:lnTo>
                <a:arcTo hR="162560" wR="162560" stAng="0" swAng="5400000"/>
                <a:lnTo>
                  <a:pt x="162560" y="325120"/>
                </a:lnTo>
                <a:arcTo hR="162560" wR="162560" stAng="5400000" swAng="5400000"/>
                <a:lnTo>
                  <a:pt x="0" y="162560"/>
                </a:lnTo>
                <a:arcTo hR="162560" wR="162560" stAng="10800000" swAng="5400000"/>
                <a:close/>
              </a:path>
            </a:pathLst>
          </a:custGeom>
          <a:solidFill>
            <a:srgbClr val="E8572A"/>
          </a:solidFill>
          <a:ln/>
        </p:spPr>
        <p:txBody>
          <a:bodyPr wrap="square" lIns="76073" tIns="38100" rIns="76073" bIns="12700" rtlCol="0" anchor="t">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&lt;datalist&gt;</a:t>
            </a:r>
            <a:endParaRPr lang="en-US" sz="1400" dirty="0"/>
          </a:p>
        </p:txBody>
      </p:sp>
      <p:sp>
        <p:nvSpPr>
          <p:cNvPr id="20" name="Shape 14"/>
          <p:cNvSpPr/>
          <p:nvPr/>
        </p:nvSpPr>
        <p:spPr>
          <a:xfrm>
            <a:off x="815975" y="4397375"/>
            <a:ext cx="10560050" cy="532130"/>
          </a:xfrm>
          <a:prstGeom prst="roundRect">
            <a:avLst>
              <a:gd name="adj" fmla="val 16110"/>
            </a:avLst>
          </a:prstGeom>
          <a:solidFill>
            <a:srgbClr val="FFFDF8"/>
          </a:solidFill>
          <a:ln w="6350">
            <a:solidFill>
              <a:srgbClr val="E4DFD3"/>
            </a:solidFill>
            <a:prstDash val="solid"/>
          </a:ln>
        </p:spPr>
      </p:sp>
      <p:sp>
        <p:nvSpPr>
          <p:cNvPr id="21" name="Text 15"/>
          <p:cNvSpPr/>
          <p:nvPr/>
        </p:nvSpPr>
        <p:spPr>
          <a:xfrm>
            <a:off x="995680" y="4547877"/>
            <a:ext cx="7916621"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182B"/>
                </a:solidFill>
                <a:latin typeface="Space Grotesk" pitchFamily="34" charset="0"/>
                <a:ea typeface="Space Grotesk" pitchFamily="34" charset="-122"/>
                <a:cs typeface="Space Grotesk" pitchFamily="34" charset="-120"/>
              </a:rPr>
              <a:t>Un texto largo, como un mensaje</a:t>
            </a:r>
            <a:endParaRPr lang="en-US" sz="1400" dirty="0"/>
          </a:p>
        </p:txBody>
      </p:sp>
      <p:pic>
        <p:nvPicPr>
          <p:cNvPr id="22" name="Image 4" descr="arrow-right">    </p:cNvPr>
          <p:cNvPicPr>
            <a:picLocks noChangeAspect="1"/>
          </p:cNvPicPr>
          <p:nvPr/>
        </p:nvPicPr>
        <p:blipFill>
          <a:blip r:embed="rId5"/>
          <a:srcRect l="0" r="0" t="0" b="0"/>
          <a:stretch/>
        </p:blipFill>
        <p:spPr>
          <a:xfrm>
            <a:off x="8834120" y="4580892"/>
            <a:ext cx="304800" cy="165100"/>
          </a:xfrm>
          <a:prstGeom prst="rect">
            <a:avLst/>
          </a:prstGeom>
        </p:spPr>
      </p:pic>
      <p:sp>
        <p:nvSpPr>
          <p:cNvPr id="23" name="Text 16"/>
          <p:cNvSpPr/>
          <p:nvPr/>
        </p:nvSpPr>
        <p:spPr>
          <a:xfrm>
            <a:off x="9291320" y="4500885"/>
            <a:ext cx="1905000" cy="325120"/>
          </a:xfrm>
          <a:custGeom>
            <a:avLst/>
            <a:gdLst/>
            <a:ahLst/>
            <a:cxnLst/>
            <a:rect l="l" t="t" r="r" b="b"/>
            <a:pathLst>
              <a:path w="1905000" h="325120">
                <a:moveTo>
                  <a:pt x="162560" y="0"/>
                </a:moveTo>
                <a:lnTo>
                  <a:pt x="1742440" y="0"/>
                </a:lnTo>
                <a:arcTo hR="162560" wR="162560" stAng="16200000" swAng="5400000"/>
                <a:lnTo>
                  <a:pt x="1905000" y="162560"/>
                </a:lnTo>
                <a:arcTo hR="162560" wR="162560" stAng="0" swAng="5400000"/>
                <a:lnTo>
                  <a:pt x="162560" y="325120"/>
                </a:lnTo>
                <a:arcTo hR="162560" wR="162560" stAng="5400000" swAng="5400000"/>
                <a:lnTo>
                  <a:pt x="0" y="162560"/>
                </a:lnTo>
                <a:arcTo hR="162560" wR="162560" stAng="10800000" swAng="5400000"/>
                <a:close/>
              </a:path>
            </a:pathLst>
          </a:custGeom>
          <a:solidFill>
            <a:srgbClr val="E8572A"/>
          </a:solidFill>
          <a:ln/>
        </p:spPr>
        <p:txBody>
          <a:bodyPr wrap="square" lIns="76073" tIns="38100" rIns="76073" bIns="12700" rtlCol="0" anchor="t">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&lt;textarea&gt;</a:t>
            </a:r>
            <a:endParaRPr lang="en-US" sz="1400" dirty="0"/>
          </a:p>
        </p:txBody>
      </p:sp>
      <p:sp>
        <p:nvSpPr>
          <p:cNvPr id="24" name="Shape 17"/>
          <p:cNvSpPr/>
          <p:nvPr/>
        </p:nvSpPr>
        <p:spPr>
          <a:xfrm>
            <a:off x="812800" y="5021585"/>
            <a:ext cx="10566400" cy="528320"/>
          </a:xfrm>
          <a:prstGeom prst="roundRect">
            <a:avLst>
              <a:gd name="adj" fmla="val 16827"/>
            </a:avLst>
          </a:prstGeom>
          <a:solidFill>
            <a:srgbClr val="14182B"/>
          </a:solidFill>
          <a:ln/>
        </p:spPr>
      </p:sp>
      <p:sp>
        <p:nvSpPr>
          <p:cNvPr id="25" name="Text 18"/>
          <p:cNvSpPr/>
          <p:nvPr/>
        </p:nvSpPr>
        <p:spPr>
          <a:xfrm>
            <a:off x="990600" y="5170177"/>
            <a:ext cx="7927086"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7F5EF"/>
                </a:solidFill>
                <a:latin typeface="Space Grotesk" pitchFamily="34" charset="0"/>
                <a:ea typeface="Space Grotesk" pitchFamily="34" charset="-122"/>
                <a:cs typeface="Space Grotesk" pitchFamily="34" charset="-120"/>
              </a:rPr>
              <a:t>Un sí o no, como aceptar condiciones</a:t>
            </a:r>
            <a:endParaRPr lang="en-US" sz="1400" dirty="0"/>
          </a:p>
        </p:txBody>
      </p:sp>
      <p:pic>
        <p:nvPicPr>
          <p:cNvPr id="26" name="Image 5" descr="arrow-right">    </p:cNvPr>
          <p:cNvPicPr>
            <a:picLocks noChangeAspect="1"/>
          </p:cNvPicPr>
          <p:nvPr/>
        </p:nvPicPr>
        <p:blipFill>
          <a:blip r:embed="rId6"/>
          <a:srcRect l="0" r="0" t="0" b="0"/>
          <a:stretch/>
        </p:blipFill>
        <p:spPr>
          <a:xfrm>
            <a:off x="8839200" y="5203192"/>
            <a:ext cx="304800" cy="165100"/>
          </a:xfrm>
          <a:prstGeom prst="rect">
            <a:avLst/>
          </a:prstGeom>
        </p:spPr>
      </p:pic>
      <p:sp>
        <p:nvSpPr>
          <p:cNvPr id="27" name="Text 19"/>
          <p:cNvSpPr/>
          <p:nvPr/>
        </p:nvSpPr>
        <p:spPr>
          <a:xfrm>
            <a:off x="9296400" y="5123185"/>
            <a:ext cx="1905000" cy="325120"/>
          </a:xfrm>
          <a:custGeom>
            <a:avLst/>
            <a:gdLst/>
            <a:ahLst/>
            <a:cxnLst/>
            <a:rect l="l" t="t" r="r" b="b"/>
            <a:pathLst>
              <a:path w="1905000" h="325120">
                <a:moveTo>
                  <a:pt x="162560" y="0"/>
                </a:moveTo>
                <a:lnTo>
                  <a:pt x="1742440" y="0"/>
                </a:lnTo>
                <a:arcTo hR="162560" wR="162560" stAng="16200000" swAng="5400000"/>
                <a:lnTo>
                  <a:pt x="1905000" y="162560"/>
                </a:lnTo>
                <a:arcTo hR="162560" wR="162560" stAng="0" swAng="5400000"/>
                <a:lnTo>
                  <a:pt x="162560" y="325120"/>
                </a:lnTo>
                <a:arcTo hR="162560" wR="162560" stAng="5400000" swAng="5400000"/>
                <a:lnTo>
                  <a:pt x="0" y="162560"/>
                </a:lnTo>
                <a:arcTo hR="162560" wR="162560" stAng="10800000" swAng="5400000"/>
                <a:close/>
              </a:path>
            </a:pathLst>
          </a:custGeom>
          <a:solidFill>
            <a:srgbClr val="F7F5EF"/>
          </a:solidFill>
          <a:ln/>
        </p:spPr>
        <p:txBody>
          <a:bodyPr wrap="square" lIns="76073" tIns="38100" rIns="76073" bIns="12700" rtlCol="0" anchor="t">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un checkbox</a:t>
            </a:r>
            <a:endParaRPr lang="en-US" sz="1400" dirty="0"/>
          </a:p>
        </p:txBody>
      </p:sp>
      <p:sp>
        <p:nvSpPr>
          <p:cNvPr id="28" name="Text 2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03 · FORMULARIOS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Validación nativa: sin JavaScript</a:t>
            </a:r>
            <a:endParaRPr lang="en-US" sz="3600" dirty="0"/>
          </a:p>
        </p:txBody>
      </p:sp>
      <p:sp>
        <p:nvSpPr>
          <p:cNvPr id="4" name="Shape 2"/>
          <p:cNvSpPr/>
          <p:nvPr/>
        </p:nvSpPr>
        <p:spPr>
          <a:xfrm>
            <a:off x="812800" y="1884685"/>
            <a:ext cx="10566400" cy="2700020"/>
          </a:xfrm>
          <a:custGeom>
            <a:avLst/>
            <a:gdLst/>
            <a:ahLst/>
            <a:cxnLst/>
            <a:rect l="l" t="t" r="r" b="b"/>
            <a:pathLst>
              <a:path w="10566400" h="2700020">
                <a:moveTo>
                  <a:pt x="10490200" y="0"/>
                </a:moveTo>
                <a:lnTo>
                  <a:pt x="10490200" y="0"/>
                </a:lnTo>
                <a:arcTo hR="76200" wR="76200" stAng="16200000" swAng="5400000"/>
                <a:lnTo>
                  <a:pt x="10566400" y="2623820"/>
                </a:lnTo>
                <a:arcTo hR="76200" wR="76200" stAng="0" swAng="5400000"/>
                <a:lnTo>
                  <a:pt x="76200" y="2700020"/>
                </a:lnTo>
                <a:arcTo hR="76200" wR="76200" stAng="5400000" swAng="5400000"/>
                <a:lnTo>
                  <a:pt x="0" y="2623820"/>
                </a:lnTo>
                <a:arcTo hR="69850" wR="76200" stAng="10800000" swAng="-5400000"/>
                <a:lnTo>
                  <a:pt x="10490200" y="2693670"/>
                </a:lnTo>
                <a:arcTo hR="69850" wR="69850" stAng="5400000" swAng="-5400000"/>
                <a:lnTo>
                  <a:pt x="10560050" y="76200"/>
                </a:lnTo>
                <a:arcTo hR="76200" wR="69850" stAng="0" swAng="-5400000"/>
                <a:close/>
              </a:path>
            </a:pathLst>
          </a:custGeom>
          <a:solidFill>
            <a:srgbClr val="E4DFD3"/>
          </a:solidFill>
          <a:ln/>
        </p:spPr>
      </p:sp>
      <p:sp>
        <p:nvSpPr>
          <p:cNvPr id="5" name="Shape 3"/>
          <p:cNvSpPr/>
          <p:nvPr/>
        </p:nvSpPr>
        <p:spPr>
          <a:xfrm>
            <a:off x="812800" y="1884685"/>
            <a:ext cx="10566400" cy="2700020"/>
          </a:xfrm>
          <a:custGeom>
            <a:avLst/>
            <a:gdLst/>
            <a:ahLst/>
            <a:cxnLst/>
            <a:rect l="l" t="t" r="r" b="b"/>
            <a:pathLst>
              <a:path w="10566400" h="2700020">
                <a:moveTo>
                  <a:pt x="76200" y="2700020"/>
                </a:moveTo>
                <a:lnTo>
                  <a:pt x="76200" y="2700020"/>
                </a:lnTo>
                <a:arcTo hR="76200" wR="76200" stAng="5400000" swAng="5400000"/>
                <a:lnTo>
                  <a:pt x="0" y="76200"/>
                </a:lnTo>
                <a:arcTo hR="76200" wR="76200" stAng="10800000" swAng="5400000"/>
                <a:lnTo>
                  <a:pt x="10490200" y="0"/>
                </a:lnTo>
                <a:arcTo hR="76200" wR="76200" stAng="16200000" swAng="5400000"/>
                <a:lnTo>
                  <a:pt x="10566400" y="76200"/>
                </a:lnTo>
                <a:arcTo hR="66040" wR="76200" stAng="0" swAng="-5400000"/>
                <a:lnTo>
                  <a:pt x="76200" y="10160"/>
                </a:lnTo>
                <a:arcTo hR="66040" wR="66040" stAng="16200000" swAng="-5400000"/>
                <a:lnTo>
                  <a:pt x="10160" y="2623820"/>
                </a:lnTo>
                <a:arcTo hR="76200" wR="6604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94845"/>
          <a:ext cx="10551160" cy="2684780"/>
        </p:xfrm>
        <a:graphic>
          <a:graphicData uri="http://schemas.openxmlformats.org/drawingml/2006/table">
            <a:tbl>
              <a:tblPr/>
              <a:tblGrid>
                <a:gridCol w="3165348"/>
                <a:gridCol w="3798418"/>
                <a:gridCol w="3587394"/>
              </a:tblGrid>
              <a:tr h="383540">
                <a:tc>
                  <a:txBody>
                    <a:bodyPr/>
                    <a:lstStyle/>
                    <a:p>
                      <a:pPr indent="0" marL="0">
                        <a:lnSpc>
                          <a:spcPts val="1960"/>
                        </a:lnSpc>
                        <a:buNone/>
                      </a:pPr>
                      <a:r>
                        <a:rPr lang="en-US" sz="1400" b="1" dirty="0">
                          <a:solidFill>
                            <a:srgbClr val="F7F5EF"/>
                          </a:solidFill>
                          <a:latin typeface="Space Grotesk" pitchFamily="34" charset="0"/>
                          <a:ea typeface="Space Grotesk" pitchFamily="34" charset="-122"/>
                          <a:cs typeface="Space Grotesk" pitchFamily="34" charset="-120"/>
                        </a:rPr>
                        <a:t>Atributo</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c>
                  <a:txBody>
                    <a:bodyPr/>
                    <a:lstStyle/>
                    <a:p>
                      <a:pPr indent="0" marL="0">
                        <a:lnSpc>
                          <a:spcPts val="1960"/>
                        </a:lnSpc>
                        <a:buNone/>
                      </a:pPr>
                      <a:r>
                        <a:rPr lang="en-US" sz="1400" b="1" dirty="0">
                          <a:solidFill>
                            <a:srgbClr val="F7F5EF"/>
                          </a:solidFill>
                          <a:latin typeface="Space Grotesk" pitchFamily="34" charset="0"/>
                          <a:ea typeface="Space Grotesk" pitchFamily="34" charset="-122"/>
                          <a:cs typeface="Space Grotesk" pitchFamily="34" charset="-120"/>
                        </a:rPr>
                        <a:t>Qué controla</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141726"/>
                      </a:solidFill>
                      <a:prstDash val="solid"/>
                      <a:round/>
                      <a:headEnd type="none" w="med" len="med"/>
                      <a:tailEnd type="none" w="med" len="med"/>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c>
                  <a:txBody>
                    <a:bodyPr/>
                    <a:lstStyle/>
                    <a:p>
                      <a:pPr indent="0" marL="0">
                        <a:lnSpc>
                          <a:spcPts val="1960"/>
                        </a:lnSpc>
                        <a:buNone/>
                      </a:pPr>
                      <a:r>
                        <a:rPr lang="en-US" sz="1400" b="1" dirty="0">
                          <a:solidFill>
                            <a:srgbClr val="F7F5EF"/>
                          </a:solidFill>
                          <a:latin typeface="Space Grotesk" pitchFamily="34" charset="0"/>
                          <a:ea typeface="Space Grotesk" pitchFamily="34" charset="-122"/>
                          <a:cs typeface="Space Grotesk" pitchFamily="34" charset="-120"/>
                        </a:rPr>
                        <a:t>Ejemplo</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141726"/>
                      </a:solidFill>
                      <a:prstDash val="solid"/>
                      <a:round/>
                      <a:headEnd type="none" w="med" len="med"/>
                      <a:tailEnd type="none" w="med" len="med"/>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required</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Que no quede vacío</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required</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minlength · maxlength</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El largo del texto</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minlength="3"</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min · max</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El rango de números y fechas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min="1" max="6"</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step</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Los intervalos permitidos</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step="0.1" · step="1800"</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pattern + title</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Un formato con expresión regular</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pattern="3[0-9]{9}"</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83540">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type</a:t>
                      </a:r>
                      <a:endParaRPr lang="en-US" sz="1400" dirty="0">
                        <a:latin typeface="Space Grotesk" charset="0"/>
                        <a:ea typeface="Space Grotesk" charset="0"/>
                        <a:cs typeface="Space Grotesk" charset="0"/>
                      </a:endParaRPr>
                    </a:p>
                  </a:txBody>
                  <a:tcPr marL="62230" marR="62230" marT="62230" marB="62230"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Formato de correo, URL o número</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960"/>
                        </a:lnSpc>
                        <a:buNone/>
                      </a:pPr>
                      <a:r>
                        <a:rPr lang="en-US" sz="1400" dirty="0">
                          <a:solidFill>
                            <a:srgbClr val="14182B"/>
                          </a:solidFill>
                          <a:latin typeface="Space Grotesk" pitchFamily="34" charset="0"/>
                          <a:ea typeface="Space Grotesk" pitchFamily="34" charset="-122"/>
                          <a:cs typeface="Space Grotesk" pitchFamily="34" charset="-120"/>
                        </a:rPr>
                        <a:t>type="email"</a:t>
                      </a:r>
                      <a:endParaRPr lang="en-US" sz="1400" dirty="0">
                        <a:latin typeface="Space Grotesk" charset="0"/>
                        <a:ea typeface="Space Grotesk" charset="0"/>
                        <a:cs typeface="Space Grotesk" charset="0"/>
                      </a:endParaRPr>
                    </a:p>
                  </a:txBody>
                  <a:tcPr marL="62230" marR="62230" marT="62230" marB="62230"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bl>
          </a:graphicData>
        </a:graphic>
      </p:graphicFrame>
      <p:sp>
        <p:nvSpPr>
          <p:cNvPr id="7" name="Shape 4"/>
          <p:cNvSpPr/>
          <p:nvPr/>
        </p:nvSpPr>
        <p:spPr>
          <a:xfrm>
            <a:off x="812800" y="4838700"/>
            <a:ext cx="10566400" cy="660400"/>
          </a:xfrm>
          <a:prstGeom prst="roundRect">
            <a:avLst>
              <a:gd name="adj" fmla="val 15385"/>
            </a:avLst>
          </a:prstGeom>
          <a:solidFill>
            <a:srgbClr val="14182B"/>
          </a:solidFill>
          <a:ln/>
        </p:spPr>
      </p:sp>
      <p:pic>
        <p:nvPicPr>
          <p:cNvPr id="8" name="Image 0" descr="Lightbulb">    </p:cNvPr>
          <p:cNvPicPr>
            <a:picLocks noChangeAspect="1"/>
          </p:cNvPicPr>
          <p:nvPr/>
        </p:nvPicPr>
        <p:blipFill>
          <a:blip r:embed="rId1"/>
          <a:srcRect l="0" r="0" t="0" b="0"/>
          <a:stretch/>
        </p:blipFill>
        <p:spPr>
          <a:xfrm>
            <a:off x="1041400" y="5016500"/>
            <a:ext cx="304800" cy="304800"/>
          </a:xfrm>
          <a:prstGeom prst="rect">
            <a:avLst/>
          </a:prstGeom>
        </p:spPr>
      </p:pic>
      <p:sp>
        <p:nvSpPr>
          <p:cNvPr id="9" name="Text 5"/>
          <p:cNvSpPr/>
          <p:nvPr/>
        </p:nvSpPr>
        <p:spPr>
          <a:xfrm>
            <a:off x="1498600" y="5044442"/>
            <a:ext cx="894349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5EF"/>
                </a:solidFill>
                <a:latin typeface="Space Grotesk" pitchFamily="34" charset="0"/>
                <a:ea typeface="Space Grotesk" pitchFamily="34" charset="-122"/>
                <a:cs typeface="Space Grotesk" pitchFamily="34" charset="-120"/>
              </a:rPr>
              <a:t>¿Quieres ver qué llegaría sin validación? Agrega </a:t>
            </a:r>
            <a:r>
              <a:rPr lang="en-US" sz="1400" b="1" dirty="0">
                <a:solidFill>
                  <a:srgbClr val="F7F5EF"/>
                </a:solidFill>
                <a:latin typeface="Space Grotesk" pitchFamily="34" charset="0"/>
                <a:ea typeface="Space Grotesk" pitchFamily="34" charset="-122"/>
                <a:cs typeface="Space Grotesk" pitchFamily="34" charset="-120"/>
              </a:rPr>
              <a:t>novalidate</a:t>
            </a:r>
            <a:r>
              <a:rPr lang="en-US" sz="1400" dirty="0">
                <a:solidFill>
                  <a:srgbClr val="F7F5EF"/>
                </a:solidFill>
                <a:latin typeface="Space Grotesk" pitchFamily="34" charset="0"/>
                <a:ea typeface="Space Grotesk" pitchFamily="34" charset="-122"/>
                <a:cs typeface="Space Grotesk" pitchFamily="34" charset="-120"/>
              </a:rPr>
              <a:t> al &lt;form&gt; mientras pruebas.</a:t>
            </a:r>
            <a:endParaRPr lang="en-US" sz="1400" dirty="0"/>
          </a:p>
        </p:txBody>
      </p:sp>
      <p:sp>
        <p:nvSpPr>
          <p:cNvPr id="10" name="Text 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03 · FORMULARIOS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Formularios que todos pueden llenar</a:t>
            </a:r>
            <a:endParaRPr lang="en-US" sz="3600" dirty="0"/>
          </a:p>
        </p:txBody>
      </p:sp>
      <p:sp>
        <p:nvSpPr>
          <p:cNvPr id="4" name="Shape 2"/>
          <p:cNvSpPr/>
          <p:nvPr/>
        </p:nvSpPr>
        <p:spPr>
          <a:xfrm>
            <a:off x="831850" y="1884685"/>
            <a:ext cx="0" cy="548640"/>
          </a:xfrm>
          <a:prstGeom prst="line">
            <a:avLst/>
          </a:prstGeom>
          <a:noFill/>
          <a:ln w="38100">
            <a:solidFill>
              <a:srgbClr val="E8572A"/>
            </a:solidFill>
            <a:prstDash val="solid"/>
          </a:ln>
        </p:spPr>
      </p:sp>
      <p:sp>
        <p:nvSpPr>
          <p:cNvPr id="5" name="Text 3"/>
          <p:cNvSpPr/>
          <p:nvPr/>
        </p:nvSpPr>
        <p:spPr>
          <a:xfrm>
            <a:off x="1000760" y="1910085"/>
            <a:ext cx="4907991"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045"/>
                </a:solidFill>
                <a:latin typeface="Space Grotesk" pitchFamily="34" charset="0"/>
                <a:ea typeface="Space Grotesk" pitchFamily="34" charset="-122"/>
                <a:cs typeface="Space Grotesk" pitchFamily="34" charset="-120"/>
              </a:rPr>
              <a:t>Label visible siempre:</a:t>
            </a:r>
            <a:r>
              <a:rPr lang="en-US" sz="1400" dirty="0">
                <a:solidFill>
                  <a:srgbClr val="2B3045"/>
                </a:solidFill>
                <a:latin typeface="Space Grotesk" pitchFamily="34" charset="0"/>
                <a:ea typeface="Space Grotesk" pitchFamily="34" charset="-122"/>
                <a:cs typeface="Space Grotesk" pitchFamily="34" charset="-120"/>
              </a:rPr>
              <a:t> el placeholder desaparece cuando escribes.</a:t>
            </a:r>
            <a:endParaRPr lang="en-US" sz="1400" dirty="0"/>
          </a:p>
        </p:txBody>
      </p:sp>
      <p:sp>
        <p:nvSpPr>
          <p:cNvPr id="6" name="Shape 4"/>
          <p:cNvSpPr/>
          <p:nvPr/>
        </p:nvSpPr>
        <p:spPr>
          <a:xfrm>
            <a:off x="831850" y="2560327"/>
            <a:ext cx="0" cy="299720"/>
          </a:xfrm>
          <a:prstGeom prst="line">
            <a:avLst/>
          </a:prstGeom>
          <a:noFill/>
          <a:ln w="38100">
            <a:solidFill>
              <a:srgbClr val="E8572A"/>
            </a:solidFill>
            <a:prstDash val="solid"/>
          </a:ln>
        </p:spPr>
      </p:sp>
      <p:sp>
        <p:nvSpPr>
          <p:cNvPr id="7" name="Text 5"/>
          <p:cNvSpPr/>
          <p:nvPr/>
        </p:nvSpPr>
        <p:spPr>
          <a:xfrm>
            <a:off x="1000760" y="2585727"/>
            <a:ext cx="49079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Di qué es obligatorio </a:t>
            </a:r>
            <a:r>
              <a:rPr lang="en-US" sz="1400" b="1" dirty="0">
                <a:solidFill>
                  <a:srgbClr val="2B3045"/>
                </a:solidFill>
                <a:latin typeface="Space Grotesk" pitchFamily="34" charset="0"/>
                <a:ea typeface="Space Grotesk" pitchFamily="34" charset="-122"/>
                <a:cs typeface="Space Grotesk" pitchFamily="34" charset="-120"/>
              </a:rPr>
              <a:t>con texto</a:t>
            </a:r>
            <a:r>
              <a:rPr lang="en-US" sz="1400" dirty="0">
                <a:solidFill>
                  <a:srgbClr val="2B3045"/>
                </a:solidFill>
                <a:latin typeface="Space Grotesk" pitchFamily="34" charset="0"/>
                <a:ea typeface="Space Grotesk" pitchFamily="34" charset="-122"/>
                <a:cs typeface="Space Grotesk" pitchFamily="34" charset="-120"/>
              </a:rPr>
              <a:t>, no solo con color.</a:t>
            </a:r>
            <a:endParaRPr lang="en-US" sz="1400" dirty="0"/>
          </a:p>
        </p:txBody>
      </p:sp>
      <p:sp>
        <p:nvSpPr>
          <p:cNvPr id="8" name="Shape 6"/>
          <p:cNvSpPr/>
          <p:nvPr/>
        </p:nvSpPr>
        <p:spPr>
          <a:xfrm>
            <a:off x="831850" y="2987042"/>
            <a:ext cx="0" cy="299720"/>
          </a:xfrm>
          <a:prstGeom prst="line">
            <a:avLst/>
          </a:prstGeom>
          <a:noFill/>
          <a:ln w="38100">
            <a:solidFill>
              <a:srgbClr val="E8572A"/>
            </a:solidFill>
            <a:prstDash val="solid"/>
          </a:ln>
        </p:spPr>
      </p:sp>
      <p:sp>
        <p:nvSpPr>
          <p:cNvPr id="9" name="Text 7"/>
          <p:cNvSpPr/>
          <p:nvPr/>
        </p:nvSpPr>
        <p:spPr>
          <a:xfrm>
            <a:off x="1000760" y="3012442"/>
            <a:ext cx="49079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Agrupa las opciones con </a:t>
            </a:r>
            <a:r>
              <a:rPr lang="en-US" sz="1400" b="1" dirty="0">
                <a:solidFill>
                  <a:srgbClr val="2B3045"/>
                </a:solidFill>
                <a:latin typeface="Space Grotesk" pitchFamily="34" charset="0"/>
                <a:ea typeface="Space Grotesk" pitchFamily="34" charset="-122"/>
                <a:cs typeface="Space Grotesk" pitchFamily="34" charset="-120"/>
              </a:rPr>
              <a:t>fieldset</a:t>
            </a:r>
            <a:r>
              <a:rPr lang="en-US" sz="1400" dirty="0">
                <a:solidFill>
                  <a:srgbClr val="2B3045"/>
                </a:solidFill>
                <a:latin typeface="Space Grotesk" pitchFamily="34" charset="0"/>
                <a:ea typeface="Space Grotesk" pitchFamily="34" charset="-122"/>
                <a:cs typeface="Space Grotesk" pitchFamily="34" charset="-120"/>
              </a:rPr>
              <a:t> y </a:t>
            </a:r>
            <a:r>
              <a:rPr lang="en-US" sz="1400" b="1" dirty="0">
                <a:solidFill>
                  <a:srgbClr val="2B3045"/>
                </a:solidFill>
                <a:latin typeface="Space Grotesk" pitchFamily="34" charset="0"/>
                <a:ea typeface="Space Grotesk" pitchFamily="34" charset="-122"/>
                <a:cs typeface="Space Grotesk" pitchFamily="34" charset="-120"/>
              </a:rPr>
              <a:t>legend</a:t>
            </a:r>
            <a:r>
              <a:rPr lang="en-US" sz="1400" dirty="0">
                <a:solidFill>
                  <a:srgbClr val="2B3045"/>
                </a:solidFill>
                <a:latin typeface="Space Grotesk" pitchFamily="34" charset="0"/>
                <a:ea typeface="Space Grotesk" pitchFamily="34" charset="-122"/>
                <a:cs typeface="Space Grotesk" pitchFamily="34" charset="-120"/>
              </a:rPr>
              <a:t>.</a:t>
            </a:r>
            <a:endParaRPr lang="en-US" sz="1400" dirty="0"/>
          </a:p>
        </p:txBody>
      </p:sp>
      <p:sp>
        <p:nvSpPr>
          <p:cNvPr id="10" name="Shape 8"/>
          <p:cNvSpPr/>
          <p:nvPr/>
        </p:nvSpPr>
        <p:spPr>
          <a:xfrm>
            <a:off x="831850" y="3413758"/>
            <a:ext cx="0" cy="299720"/>
          </a:xfrm>
          <a:prstGeom prst="line">
            <a:avLst/>
          </a:prstGeom>
          <a:noFill/>
          <a:ln w="38100">
            <a:solidFill>
              <a:srgbClr val="E8572A"/>
            </a:solidFill>
            <a:prstDash val="solid"/>
          </a:ln>
        </p:spPr>
      </p:sp>
      <p:sp>
        <p:nvSpPr>
          <p:cNvPr id="11" name="Text 9"/>
          <p:cNvSpPr/>
          <p:nvPr/>
        </p:nvSpPr>
        <p:spPr>
          <a:xfrm>
            <a:off x="1000760" y="3439158"/>
            <a:ext cx="49079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Conecta las ayudas con </a:t>
            </a:r>
            <a:r>
              <a:rPr lang="en-US" sz="1400" b="1" dirty="0">
                <a:solidFill>
                  <a:srgbClr val="2B3045"/>
                </a:solidFill>
                <a:latin typeface="Space Grotesk" pitchFamily="34" charset="0"/>
                <a:ea typeface="Space Grotesk" pitchFamily="34" charset="-122"/>
                <a:cs typeface="Space Grotesk" pitchFamily="34" charset="-120"/>
              </a:rPr>
              <a:t>aria-describedby</a:t>
            </a:r>
            <a:r>
              <a:rPr lang="en-US" sz="1400" dirty="0">
                <a:solidFill>
                  <a:srgbClr val="2B3045"/>
                </a:solidFill>
                <a:latin typeface="Space Grotesk" pitchFamily="34" charset="0"/>
                <a:ea typeface="Space Grotesk" pitchFamily="34" charset="-122"/>
                <a:cs typeface="Space Grotesk" pitchFamily="34" charset="-120"/>
              </a:rPr>
              <a:t>.</a:t>
            </a:r>
            <a:endParaRPr lang="en-US" sz="1400" dirty="0"/>
          </a:p>
        </p:txBody>
      </p:sp>
      <p:sp>
        <p:nvSpPr>
          <p:cNvPr id="12" name="Shape 10"/>
          <p:cNvSpPr/>
          <p:nvPr/>
        </p:nvSpPr>
        <p:spPr>
          <a:xfrm>
            <a:off x="831850" y="3840485"/>
            <a:ext cx="0" cy="299720"/>
          </a:xfrm>
          <a:prstGeom prst="line">
            <a:avLst/>
          </a:prstGeom>
          <a:noFill/>
          <a:ln w="38100">
            <a:solidFill>
              <a:srgbClr val="E8572A"/>
            </a:solidFill>
            <a:prstDash val="solid"/>
          </a:ln>
        </p:spPr>
      </p:sp>
      <p:sp>
        <p:nvSpPr>
          <p:cNvPr id="13" name="Text 11"/>
          <p:cNvSpPr/>
          <p:nvPr/>
        </p:nvSpPr>
        <p:spPr>
          <a:xfrm>
            <a:off x="1000760" y="3865885"/>
            <a:ext cx="49079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Usa </a:t>
            </a:r>
            <a:r>
              <a:rPr lang="en-US" sz="1400" b="1" dirty="0">
                <a:solidFill>
                  <a:srgbClr val="2B3045"/>
                </a:solidFill>
                <a:latin typeface="Space Grotesk" pitchFamily="34" charset="0"/>
                <a:ea typeface="Space Grotesk" pitchFamily="34" charset="-122"/>
                <a:cs typeface="Space Grotesk" pitchFamily="34" charset="-120"/>
              </a:rPr>
              <a:t>autocomplete</a:t>
            </a:r>
            <a:r>
              <a:rPr lang="en-US" sz="1400" dirty="0">
                <a:solidFill>
                  <a:srgbClr val="2B3045"/>
                </a:solidFill>
                <a:latin typeface="Space Grotesk" pitchFamily="34" charset="0"/>
                <a:ea typeface="Space Grotesk" pitchFamily="34" charset="-122"/>
                <a:cs typeface="Space Grotesk" pitchFamily="34" charset="-120"/>
              </a:rPr>
              <a:t>: el celular llena los datos por ti.</a:t>
            </a:r>
            <a:endParaRPr lang="en-US" sz="1400" dirty="0"/>
          </a:p>
        </p:txBody>
      </p:sp>
      <p:sp>
        <p:nvSpPr>
          <p:cNvPr id="14" name="Text 12"/>
          <p:cNvSpPr/>
          <p:nvPr/>
        </p:nvSpPr>
        <p:spPr>
          <a:xfrm>
            <a:off x="6070600" y="1884685"/>
            <a:ext cx="5308600" cy="2768600"/>
          </a:xfrm>
          <a:prstGeom prst="roundRect">
            <a:avLst>
              <a:gd name="adj" fmla="val 3670"/>
            </a:avLst>
          </a:prstGeom>
          <a:solidFill>
            <a:srgbClr val="1C2137"/>
          </a:solidFill>
          <a:ln/>
        </p:spPr>
        <p:txBody>
          <a:bodyPr wrap="square" lIns="198842" tIns="173442" rIns="53300" bIns="148042" rtlCol="0" anchor="t">
            <a:normAutofit/>
          </a:bodyPr>
          <a:lstStyle/>
          <a:p>
            <a:pPr algn="l" indent="0" marL="0">
              <a:lnSpc>
                <a:spcPts val="1860"/>
              </a:lnSpc>
              <a:buNone/>
            </a:pPr>
            <a:r>
              <a:rPr lang="en-US" sz="1200" dirty="0">
                <a:solidFill>
                  <a:srgbClr val="FF9466"/>
                </a:solidFill>
                <a:latin typeface="JetBrains Mono" pitchFamily="49" charset="0"/>
                <a:ea typeface="JetBrains Mono" pitchFamily="49" charset="-122"/>
                <a:cs typeface="JetBrains Mono" pitchFamily="49" charset="-120"/>
              </a:rPr>
              <a:t>&lt;label</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for</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"celular"</a:t>
            </a:r>
            <a:r>
              <a:rPr lang="en-US" sz="1200" dirty="0">
                <a:solidFill>
                  <a:srgbClr val="FF9466"/>
                </a:solidFill>
                <a:latin typeface="JetBrains Mono" pitchFamily="49" charset="0"/>
                <a:ea typeface="JetBrains Mono" pitchFamily="49" charset="-122"/>
                <a:cs typeface="JetBrains Mono" pitchFamily="49" charset="-120"/>
              </a:rPr>
              <a:t>&gt;</a:t>
            </a:r>
            <a:r>
              <a:rPr lang="en-US" sz="1200" dirty="0">
                <a:solidFill>
                  <a:srgbClr val="E8E6E1"/>
                </a:solidFill>
                <a:latin typeface="JetBrains Mono" pitchFamily="49" charset="0"/>
                <a:ea typeface="JetBrains Mono" pitchFamily="49" charset="-122"/>
                <a:cs typeface="JetBrains Mono" pitchFamily="49" charset="-120"/>
              </a:rPr>
              <a:t>Celular *</a:t>
            </a:r>
            <a:r>
              <a:rPr lang="en-US" sz="1200" dirty="0">
                <a:solidFill>
                  <a:srgbClr val="FF9466"/>
                </a:solidFill>
                <a:latin typeface="JetBrains Mono" pitchFamily="49" charset="0"/>
                <a:ea typeface="JetBrains Mono" pitchFamily="49" charset="-122"/>
                <a:cs typeface="JetBrains Mono" pitchFamily="49" charset="-120"/>
              </a:rPr>
              <a:t>&lt;/label&gt;</a:t>
            </a:r>
            <a:endParaRPr lang="en-US" sz="1200" dirty="0"/>
          </a:p>
          <a:p>
            <a:pPr algn="l" indent="0" marL="0">
              <a:lnSpc>
                <a:spcPts val="1860"/>
              </a:lnSpc>
              <a:buNone/>
            </a:pPr>
            <a:r>
              <a:rPr lang="en-US" sz="1200" dirty="0">
                <a:solidFill>
                  <a:srgbClr val="FF9466"/>
                </a:solidFill>
                <a:latin typeface="JetBrains Mono" pitchFamily="49" charset="0"/>
                <a:ea typeface="JetBrains Mono" pitchFamily="49" charset="-122"/>
                <a:cs typeface="JetBrains Mono" pitchFamily="49" charset="-120"/>
              </a:rPr>
              <a:t>&lt;input</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type</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"tel"</a:t>
            </a:r>
            <a:endParaRPr lang="en-US" sz="1200" dirty="0"/>
          </a:p>
          <a:p>
            <a:pPr algn="l" indent="0" marL="0">
              <a:lnSpc>
                <a:spcPts val="1860"/>
              </a:lnSpc>
              <a:buNone/>
            </a:pP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id</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"celular"</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name</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"celular"</a:t>
            </a:r>
            <a:endParaRPr lang="en-US" sz="1200" dirty="0"/>
          </a:p>
          <a:p>
            <a:pPr algn="l" indent="0" marL="0">
              <a:lnSpc>
                <a:spcPts val="1860"/>
              </a:lnSpc>
              <a:buNone/>
            </a:pP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autocomplete</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"tel"</a:t>
            </a:r>
            <a:endParaRPr lang="en-US" sz="1200" dirty="0"/>
          </a:p>
          <a:p>
            <a:pPr algn="l" indent="0" marL="0">
              <a:lnSpc>
                <a:spcPts val="1860"/>
              </a:lnSpc>
              <a:buNone/>
            </a:pP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pattern</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"3[0-9]{9}"</a:t>
            </a:r>
            <a:endParaRPr lang="en-US" sz="1200" dirty="0"/>
          </a:p>
          <a:p>
            <a:pPr algn="l" indent="0" marL="0">
              <a:lnSpc>
                <a:spcPts val="1860"/>
              </a:lnSpc>
              <a:buNone/>
            </a:pP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aria-describedby</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"ayuda-celular"</a:t>
            </a:r>
            <a:endParaRPr lang="en-US" sz="1200" dirty="0"/>
          </a:p>
          <a:p>
            <a:pPr algn="l" indent="0" marL="0">
              <a:lnSpc>
                <a:spcPts val="1860"/>
              </a:lnSpc>
              <a:buNone/>
            </a:pP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required</a:t>
            </a:r>
            <a:r>
              <a:rPr lang="en-US" sz="1200" dirty="0">
                <a:solidFill>
                  <a:srgbClr val="FF9466"/>
                </a:solidFill>
                <a:latin typeface="JetBrains Mono" pitchFamily="49" charset="0"/>
                <a:ea typeface="JetBrains Mono" pitchFamily="49" charset="-122"/>
                <a:cs typeface="JetBrains Mono" pitchFamily="49" charset="-120"/>
              </a:rPr>
              <a:t>&gt;</a:t>
            </a:r>
            <a:endParaRPr lang="en-US" sz="1200" dirty="0"/>
          </a:p>
          <a:p>
            <a:pPr algn="l" indent="0" marL="0">
              <a:lnSpc>
                <a:spcPts val="1860"/>
              </a:lnSpc>
              <a:buNone/>
            </a:pPr>
            <a:r>
              <a:rPr lang="en-US" sz="1200" dirty="0">
                <a:solidFill>
                  <a:srgbClr val="FF9466"/>
                </a:solidFill>
                <a:latin typeface="JetBrains Mono" pitchFamily="49" charset="0"/>
                <a:ea typeface="JetBrains Mono" pitchFamily="49" charset="-122"/>
                <a:cs typeface="JetBrains Mono" pitchFamily="49" charset="-120"/>
              </a:rPr>
              <a:t>&lt;small</a:t>
            </a: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7FD4C1"/>
                </a:solidFill>
                <a:latin typeface="JetBrains Mono" pitchFamily="49" charset="0"/>
                <a:ea typeface="JetBrains Mono" pitchFamily="49" charset="-122"/>
                <a:cs typeface="JetBrains Mono" pitchFamily="49" charset="-120"/>
              </a:rPr>
              <a:t>id</a:t>
            </a:r>
            <a:r>
              <a:rPr lang="en-US" sz="1200" dirty="0">
                <a:solidFill>
                  <a:srgbClr val="E8E6E1"/>
                </a:solidFill>
                <a:latin typeface="JetBrains Mono" pitchFamily="49" charset="0"/>
                <a:ea typeface="JetBrains Mono" pitchFamily="49" charset="-122"/>
                <a:cs typeface="JetBrains Mono" pitchFamily="49" charset="-120"/>
              </a:rPr>
              <a:t>=</a:t>
            </a:r>
            <a:r>
              <a:rPr lang="en-US" sz="1200" dirty="0">
                <a:solidFill>
                  <a:srgbClr val="F2D27A"/>
                </a:solidFill>
                <a:latin typeface="JetBrains Mono" pitchFamily="49" charset="0"/>
                <a:ea typeface="JetBrains Mono" pitchFamily="49" charset="-122"/>
                <a:cs typeface="JetBrains Mono" pitchFamily="49" charset="-120"/>
              </a:rPr>
              <a:t>"ayuda-celular"</a:t>
            </a:r>
            <a:r>
              <a:rPr lang="en-US" sz="1200" dirty="0">
                <a:solidFill>
                  <a:srgbClr val="FF9466"/>
                </a:solidFill>
                <a:latin typeface="JetBrains Mono" pitchFamily="49" charset="0"/>
                <a:ea typeface="JetBrains Mono" pitchFamily="49" charset="-122"/>
                <a:cs typeface="JetBrains Mono" pitchFamily="49" charset="-120"/>
              </a:rPr>
              <a:t>&gt;</a:t>
            </a:r>
            <a:endParaRPr lang="en-US" sz="1200" dirty="0"/>
          </a:p>
          <a:p>
            <a:pPr algn="l" indent="0" marL="0">
              <a:lnSpc>
                <a:spcPts val="1860"/>
              </a:lnSpc>
              <a:buNone/>
            </a:pPr>
            <a:r>
              <a:rPr lang="en-US" sz="1200" dirty="0">
                <a:solidFill>
                  <a:srgbClr val="E8E6E1"/>
                </a:solidFill>
                <a:latin typeface="JetBrains Mono" pitchFamily="49" charset="0"/>
                <a:ea typeface="JetBrains Mono" pitchFamily="49" charset="-122"/>
                <a:cs typeface="JetBrains Mono" pitchFamily="49" charset="-120"/>
              </a:rPr>
              <a:t>  10 dígitos, sin espacios</a:t>
            </a:r>
            <a:endParaRPr lang="en-US" sz="1200" dirty="0"/>
          </a:p>
          <a:p>
            <a:pPr algn="l" indent="0" marL="0">
              <a:lnSpc>
                <a:spcPts val="1860"/>
              </a:lnSpc>
              <a:buNone/>
            </a:pPr>
            <a:r>
              <a:rPr lang="en-US" sz="1200" dirty="0">
                <a:solidFill>
                  <a:srgbClr val="FF9466"/>
                </a:solidFill>
                <a:latin typeface="JetBrains Mono" pitchFamily="49" charset="0"/>
                <a:ea typeface="JetBrains Mono" pitchFamily="49" charset="-122"/>
                <a:cs typeface="JetBrains Mono" pitchFamily="49" charset="-120"/>
              </a:rPr>
              <a:t>&lt;/small&gt;</a:t>
            </a:r>
            <a:endParaRPr lang="en-US" sz="1200" dirty="0"/>
          </a:p>
        </p:txBody>
      </p:sp>
      <p:sp>
        <p:nvSpPr>
          <p:cNvPr id="15" name="Text 1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03 · FORMULARIOS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¿A dónde van los datos?</a:t>
            </a:r>
            <a:endParaRPr lang="en-US" sz="3600" dirty="0"/>
          </a:p>
        </p:txBody>
      </p:sp>
      <p:sp>
        <p:nvSpPr>
          <p:cNvPr id="4" name="Shape 2"/>
          <p:cNvSpPr/>
          <p:nvPr/>
        </p:nvSpPr>
        <p:spPr>
          <a:xfrm>
            <a:off x="815975" y="1887860"/>
            <a:ext cx="5175250" cy="1268730"/>
          </a:xfrm>
          <a:prstGeom prst="roundRect">
            <a:avLst>
              <a:gd name="adj" fmla="val 7758"/>
            </a:avLst>
          </a:prstGeom>
          <a:solidFill>
            <a:srgbClr val="FFFDF8"/>
          </a:solidFill>
          <a:ln w="6350">
            <a:solidFill>
              <a:srgbClr val="E4DFD3"/>
            </a:solidFill>
            <a:prstDash val="solid"/>
          </a:ln>
        </p:spPr>
      </p:sp>
      <p:sp>
        <p:nvSpPr>
          <p:cNvPr id="5" name="Text 3"/>
          <p:cNvSpPr/>
          <p:nvPr/>
        </p:nvSpPr>
        <p:spPr>
          <a:xfrm>
            <a:off x="1046480" y="2092958"/>
            <a:ext cx="485566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410C"/>
                </a:solidFill>
                <a:latin typeface="JetBrains Mono" pitchFamily="49" charset="0"/>
                <a:ea typeface="JetBrains Mono" pitchFamily="49" charset="-122"/>
                <a:cs typeface="JetBrains Mono" pitchFamily="49" charset="-120"/>
              </a:rPr>
              <a:t>method="get"</a:t>
            </a:r>
            <a:endParaRPr lang="en-US" sz="1600" dirty="0"/>
          </a:p>
        </p:txBody>
      </p:sp>
      <p:sp>
        <p:nvSpPr>
          <p:cNvPr id="6" name="Text 4"/>
          <p:cNvSpPr/>
          <p:nvPr/>
        </p:nvSpPr>
        <p:spPr>
          <a:xfrm>
            <a:off x="1046480" y="2453642"/>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Los datos viajan en la URL y quedan en el historial. Para búsquedas y filtros.</a:t>
            </a:r>
            <a:endParaRPr lang="en-US" sz="1400" dirty="0"/>
          </a:p>
        </p:txBody>
      </p:sp>
      <p:sp>
        <p:nvSpPr>
          <p:cNvPr id="7" name="Shape 5"/>
          <p:cNvSpPr/>
          <p:nvPr/>
        </p:nvSpPr>
        <p:spPr>
          <a:xfrm>
            <a:off x="6200775" y="1887860"/>
            <a:ext cx="5175250" cy="1268730"/>
          </a:xfrm>
          <a:prstGeom prst="roundRect">
            <a:avLst>
              <a:gd name="adj" fmla="val 7758"/>
            </a:avLst>
          </a:prstGeom>
          <a:solidFill>
            <a:srgbClr val="FFFDF8"/>
          </a:solidFill>
          <a:ln w="6350">
            <a:solidFill>
              <a:srgbClr val="E4DFD3"/>
            </a:solidFill>
            <a:prstDash val="solid"/>
          </a:ln>
        </p:spPr>
      </p:sp>
      <p:sp>
        <p:nvSpPr>
          <p:cNvPr id="8" name="Text 6"/>
          <p:cNvSpPr/>
          <p:nvPr/>
        </p:nvSpPr>
        <p:spPr>
          <a:xfrm>
            <a:off x="6431280" y="2092958"/>
            <a:ext cx="485566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410C"/>
                </a:solidFill>
                <a:latin typeface="JetBrains Mono" pitchFamily="49" charset="0"/>
                <a:ea typeface="JetBrains Mono" pitchFamily="49" charset="-122"/>
                <a:cs typeface="JetBrains Mono" pitchFamily="49" charset="-120"/>
              </a:rPr>
              <a:t>method="post"</a:t>
            </a:r>
            <a:endParaRPr lang="en-US" sz="1600" dirty="0"/>
          </a:p>
        </p:txBody>
      </p:sp>
      <p:sp>
        <p:nvSpPr>
          <p:cNvPr id="9" name="Text 7"/>
          <p:cNvSpPr/>
          <p:nvPr/>
        </p:nvSpPr>
        <p:spPr>
          <a:xfrm>
            <a:off x="6431280" y="2453642"/>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045"/>
                </a:solidFill>
                <a:latin typeface="Space Grotesk" pitchFamily="34" charset="0"/>
                <a:ea typeface="Space Grotesk" pitchFamily="34" charset="-122"/>
                <a:cs typeface="Space Grotesk" pitchFamily="34" charset="-120"/>
              </a:rPr>
              <a:t>Los datos viajan dentro de la petición. Para datos personales y contraseñas, siempre con HTTPS.</a:t>
            </a:r>
            <a:endParaRPr lang="en-US" sz="1400" dirty="0"/>
          </a:p>
        </p:txBody>
      </p:sp>
      <p:sp>
        <p:nvSpPr>
          <p:cNvPr id="10" name="Shape 8"/>
          <p:cNvSpPr/>
          <p:nvPr/>
        </p:nvSpPr>
        <p:spPr>
          <a:xfrm>
            <a:off x="812800" y="3413758"/>
            <a:ext cx="10566400" cy="939800"/>
          </a:xfrm>
          <a:prstGeom prst="roundRect">
            <a:avLst>
              <a:gd name="adj" fmla="val 10811"/>
            </a:avLst>
          </a:prstGeom>
          <a:solidFill>
            <a:srgbClr val="14182B"/>
          </a:solidFill>
          <a:ln/>
        </p:spPr>
      </p:sp>
      <p:pic>
        <p:nvPicPr>
          <p:cNvPr id="11" name="Image 0" descr="Lock">    </p:cNvPr>
          <p:cNvPicPr>
            <a:picLocks noChangeAspect="1"/>
          </p:cNvPicPr>
          <p:nvPr/>
        </p:nvPicPr>
        <p:blipFill>
          <a:blip r:embed="rId1"/>
          <a:srcRect l="0" r="0" t="-360" b="-360"/>
          <a:stretch/>
        </p:blipFill>
        <p:spPr>
          <a:xfrm>
            <a:off x="1066800" y="3718558"/>
            <a:ext cx="264795" cy="330200"/>
          </a:xfrm>
          <a:prstGeom prst="rect">
            <a:avLst/>
          </a:prstGeom>
        </p:spPr>
      </p:pic>
      <p:sp>
        <p:nvSpPr>
          <p:cNvPr id="12" name="Text 9"/>
          <p:cNvSpPr/>
          <p:nvPr/>
        </p:nvSpPr>
        <p:spPr>
          <a:xfrm>
            <a:off x="1483995" y="3616958"/>
            <a:ext cx="9930441"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7F5EF"/>
                </a:solidFill>
                <a:latin typeface="Space Grotesk" pitchFamily="34" charset="0"/>
                <a:ea typeface="Space Grotesk" pitchFamily="34" charset="-122"/>
                <a:cs typeface="Space Grotesk" pitchFamily="34" charset="-120"/>
              </a:rPr>
              <a:t>La validación del navegador mejora la experiencia, pero no protege:</a:t>
            </a:r>
            <a:r>
              <a:rPr lang="en-US" sz="1500" dirty="0">
                <a:solidFill>
                  <a:srgbClr val="F7F5EF"/>
                </a:solidFill>
                <a:latin typeface="Space Grotesk" pitchFamily="34" charset="0"/>
                <a:ea typeface="Space Grotesk" pitchFamily="34" charset="-122"/>
                <a:cs typeface="Space Grotesk" pitchFamily="34" charset="-120"/>
              </a:rPr>
              <a:t> cualquiera puede saltársela. El servidor siempre valida otra vez.</a:t>
            </a:r>
            <a:endParaRPr lang="en-US" sz="1500" dirty="0"/>
          </a:p>
        </p:txBody>
      </p:sp>
      <p:sp>
        <p:nvSpPr>
          <p:cNvPr id="13" name="Text 10"/>
          <p:cNvSpPr/>
          <p:nvPr/>
        </p:nvSpPr>
        <p:spPr>
          <a:xfrm>
            <a:off x="812800" y="4607558"/>
            <a:ext cx="108833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475"/>
                </a:solidFill>
                <a:latin typeface="Space Grotesk" pitchFamily="34" charset="0"/>
                <a:ea typeface="Space Grotesk" pitchFamily="34" charset="-122"/>
                <a:cs typeface="Space Grotesk" pitchFamily="34" charset="-120"/>
              </a:rPr>
              <a:t>En Colombia, la Ley 1581 de 2012 exige la autorización previa e informada de la persona para tratar sus datos personales. Por eso tu formulario la pide.</a:t>
            </a:r>
            <a:endParaRPr lang="en-US" sz="1300" dirty="0"/>
          </a:p>
        </p:txBody>
      </p:sp>
      <p:sp>
        <p:nvSpPr>
          <p:cNvPr id="14" name="Text 1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8572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182B"/>
                </a:solidFill>
                <a:latin typeface="JetBrains Mono" pitchFamily="49" charset="0"/>
                <a:ea typeface="JetBrains Mono" pitchFamily="49" charset="-122"/>
                <a:cs typeface="JetBrains Mono" pitchFamily="49" charset="-120"/>
              </a:rPr>
              <a:t>CHECKPOINT 3</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¿Qué control usarías?</a:t>
            </a:r>
            <a:endParaRPr lang="en-US" sz="3600" dirty="0"/>
          </a:p>
        </p:txBody>
      </p:sp>
      <p:pic>
        <p:nvPicPr>
          <p:cNvPr id="4" name="Image 0" descr="Users">    </p:cNvPr>
          <p:cNvPicPr>
            <a:picLocks noChangeAspect="1"/>
          </p:cNvPicPr>
          <p:nvPr/>
        </p:nvPicPr>
        <p:blipFill>
          <a:blip r:embed="rId1"/>
          <a:srcRect l="0" r="0" t="0" b="0"/>
          <a:stretch/>
        </p:blipFill>
        <p:spPr>
          <a:xfrm>
            <a:off x="812800" y="1884685"/>
            <a:ext cx="304800" cy="304800"/>
          </a:xfrm>
          <a:prstGeom prst="rect">
            <a:avLst/>
          </a:prstGeom>
        </p:spPr>
      </p:pic>
      <p:sp>
        <p:nvSpPr>
          <p:cNvPr id="5" name="Text 2"/>
          <p:cNvSpPr/>
          <p:nvPr/>
        </p:nvSpPr>
        <p:spPr>
          <a:xfrm>
            <a:off x="1244600" y="1903735"/>
            <a:ext cx="70664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82B"/>
                </a:solidFill>
                <a:latin typeface="Space Grotesk" pitchFamily="34" charset="0"/>
                <a:ea typeface="Space Grotesk" pitchFamily="34" charset="-122"/>
                <a:cs typeface="Space Grotesk" pitchFamily="34" charset="-120"/>
              </a:rPr>
              <a:t>En parejas:</a:t>
            </a:r>
            <a:r>
              <a:rPr lang="en-US" sz="1500" dirty="0">
                <a:solidFill>
                  <a:srgbClr val="14182B"/>
                </a:solidFill>
                <a:latin typeface="Space Grotesk" pitchFamily="34" charset="0"/>
                <a:ea typeface="Space Grotesk" pitchFamily="34" charset="-122"/>
                <a:cs typeface="Space Grotesk" pitchFamily="34" charset="-120"/>
              </a:rPr>
              <a:t> el control y los atributos de validación de cada caso.</a:t>
            </a:r>
            <a:endParaRPr lang="en-US" sz="1500" dirty="0"/>
          </a:p>
        </p:txBody>
      </p:sp>
      <p:sp>
        <p:nvSpPr>
          <p:cNvPr id="6" name="Shape 3"/>
          <p:cNvSpPr/>
          <p:nvPr/>
        </p:nvSpPr>
        <p:spPr>
          <a:xfrm>
            <a:off x="812800" y="2443485"/>
            <a:ext cx="3403600" cy="1206500"/>
          </a:xfrm>
          <a:prstGeom prst="roundRect">
            <a:avLst>
              <a:gd name="adj" fmla="val 8421"/>
            </a:avLst>
          </a:prstGeom>
          <a:solidFill>
            <a:srgbClr val="14182B"/>
          </a:solidFill>
          <a:ln/>
        </p:spPr>
      </p:sp>
      <p:sp>
        <p:nvSpPr>
          <p:cNvPr id="7" name="Text 4"/>
          <p:cNvSpPr/>
          <p:nvPr/>
        </p:nvSpPr>
        <p:spPr>
          <a:xfrm>
            <a:off x="1016000" y="2621285"/>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A</a:t>
            </a:r>
            <a:endParaRPr lang="en-US" sz="2200" dirty="0"/>
          </a:p>
        </p:txBody>
      </p:sp>
      <p:sp>
        <p:nvSpPr>
          <p:cNvPr id="8" name="Text 5"/>
          <p:cNvSpPr/>
          <p:nvPr/>
        </p:nvSpPr>
        <p:spPr>
          <a:xfrm>
            <a:off x="1016000" y="2992127"/>
            <a:ext cx="308711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Fecha de la reserva, solo en diciembre</a:t>
            </a:r>
            <a:endParaRPr lang="en-US" sz="1400" dirty="0"/>
          </a:p>
        </p:txBody>
      </p:sp>
      <p:sp>
        <p:nvSpPr>
          <p:cNvPr id="9" name="Shape 6"/>
          <p:cNvSpPr/>
          <p:nvPr/>
        </p:nvSpPr>
        <p:spPr>
          <a:xfrm>
            <a:off x="4394200" y="2443485"/>
            <a:ext cx="3403600" cy="1206500"/>
          </a:xfrm>
          <a:prstGeom prst="roundRect">
            <a:avLst>
              <a:gd name="adj" fmla="val 8421"/>
            </a:avLst>
          </a:prstGeom>
          <a:solidFill>
            <a:srgbClr val="14182B"/>
          </a:solidFill>
          <a:ln/>
        </p:spPr>
      </p:sp>
      <p:sp>
        <p:nvSpPr>
          <p:cNvPr id="10" name="Text 7"/>
          <p:cNvSpPr/>
          <p:nvPr/>
        </p:nvSpPr>
        <p:spPr>
          <a:xfrm>
            <a:off x="4597400" y="2621285"/>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B</a:t>
            </a:r>
            <a:endParaRPr lang="en-US" sz="2200" dirty="0"/>
          </a:p>
        </p:txBody>
      </p:sp>
      <p:sp>
        <p:nvSpPr>
          <p:cNvPr id="11" name="Text 8"/>
          <p:cNvSpPr/>
          <p:nvPr/>
        </p:nvSpPr>
        <p:spPr>
          <a:xfrm>
            <a:off x="4597400" y="2992127"/>
            <a:ext cx="308711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Número de entradas, de 1 a 6</a:t>
            </a:r>
            <a:endParaRPr lang="en-US" sz="1400" dirty="0"/>
          </a:p>
        </p:txBody>
      </p:sp>
      <p:sp>
        <p:nvSpPr>
          <p:cNvPr id="12" name="Shape 9"/>
          <p:cNvSpPr/>
          <p:nvPr/>
        </p:nvSpPr>
        <p:spPr>
          <a:xfrm>
            <a:off x="7975600" y="2443485"/>
            <a:ext cx="3403600" cy="1206500"/>
          </a:xfrm>
          <a:prstGeom prst="roundRect">
            <a:avLst>
              <a:gd name="adj" fmla="val 8421"/>
            </a:avLst>
          </a:prstGeom>
          <a:solidFill>
            <a:srgbClr val="14182B"/>
          </a:solidFill>
          <a:ln/>
        </p:spPr>
      </p:sp>
      <p:sp>
        <p:nvSpPr>
          <p:cNvPr id="13" name="Text 10"/>
          <p:cNvSpPr/>
          <p:nvPr/>
        </p:nvSpPr>
        <p:spPr>
          <a:xfrm>
            <a:off x="8178800" y="2621285"/>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C</a:t>
            </a:r>
            <a:endParaRPr lang="en-US" sz="2200" dirty="0"/>
          </a:p>
        </p:txBody>
      </p:sp>
      <p:sp>
        <p:nvSpPr>
          <p:cNvPr id="14" name="Text 11"/>
          <p:cNvSpPr/>
          <p:nvPr/>
        </p:nvSpPr>
        <p:spPr>
          <a:xfrm>
            <a:off x="8178800" y="2992127"/>
            <a:ext cx="308711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Medio de pago: efectivo, tarjeta o transferencia</a:t>
            </a:r>
            <a:endParaRPr lang="en-US" sz="1400" dirty="0"/>
          </a:p>
        </p:txBody>
      </p:sp>
      <p:sp>
        <p:nvSpPr>
          <p:cNvPr id="15" name="Shape 12"/>
          <p:cNvSpPr/>
          <p:nvPr/>
        </p:nvSpPr>
        <p:spPr>
          <a:xfrm>
            <a:off x="812800" y="3827785"/>
            <a:ext cx="3403600" cy="1206500"/>
          </a:xfrm>
          <a:prstGeom prst="roundRect">
            <a:avLst>
              <a:gd name="adj" fmla="val 8421"/>
            </a:avLst>
          </a:prstGeom>
          <a:solidFill>
            <a:srgbClr val="14182B"/>
          </a:solidFill>
          <a:ln/>
        </p:spPr>
      </p:sp>
      <p:sp>
        <p:nvSpPr>
          <p:cNvPr id="16" name="Text 13"/>
          <p:cNvSpPr/>
          <p:nvPr/>
        </p:nvSpPr>
        <p:spPr>
          <a:xfrm>
            <a:off x="1016000" y="4005585"/>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D</a:t>
            </a:r>
            <a:endParaRPr lang="en-US" sz="2200" dirty="0"/>
          </a:p>
        </p:txBody>
      </p:sp>
      <p:sp>
        <p:nvSpPr>
          <p:cNvPr id="17" name="Text 14"/>
          <p:cNvSpPr/>
          <p:nvPr/>
        </p:nvSpPr>
        <p:spPr>
          <a:xfrm>
            <a:off x="1016000" y="4376427"/>
            <a:ext cx="308711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Municipio de Colombia, entre más de mil</a:t>
            </a:r>
            <a:endParaRPr lang="en-US" sz="1400" dirty="0"/>
          </a:p>
        </p:txBody>
      </p:sp>
      <p:sp>
        <p:nvSpPr>
          <p:cNvPr id="18" name="Shape 15"/>
          <p:cNvSpPr/>
          <p:nvPr/>
        </p:nvSpPr>
        <p:spPr>
          <a:xfrm>
            <a:off x="4394200" y="3827785"/>
            <a:ext cx="3403600" cy="1206500"/>
          </a:xfrm>
          <a:prstGeom prst="roundRect">
            <a:avLst>
              <a:gd name="adj" fmla="val 8421"/>
            </a:avLst>
          </a:prstGeom>
          <a:solidFill>
            <a:srgbClr val="14182B"/>
          </a:solidFill>
          <a:ln/>
        </p:spPr>
      </p:sp>
      <p:sp>
        <p:nvSpPr>
          <p:cNvPr id="19" name="Text 16"/>
          <p:cNvSpPr/>
          <p:nvPr/>
        </p:nvSpPr>
        <p:spPr>
          <a:xfrm>
            <a:off x="4597400" y="4005585"/>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E</a:t>
            </a:r>
            <a:endParaRPr lang="en-US" sz="2200" dirty="0"/>
          </a:p>
        </p:txBody>
      </p:sp>
      <p:sp>
        <p:nvSpPr>
          <p:cNvPr id="20" name="Text 17"/>
          <p:cNvSpPr/>
          <p:nvPr/>
        </p:nvSpPr>
        <p:spPr>
          <a:xfrm>
            <a:off x="4597400" y="4376427"/>
            <a:ext cx="32004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Temas que te interesan del evento</a:t>
            </a:r>
            <a:endParaRPr lang="en-US" sz="1400" dirty="0"/>
          </a:p>
        </p:txBody>
      </p:sp>
      <p:sp>
        <p:nvSpPr>
          <p:cNvPr id="21" name="Shape 18"/>
          <p:cNvSpPr/>
          <p:nvPr/>
        </p:nvSpPr>
        <p:spPr>
          <a:xfrm>
            <a:off x="7975600" y="3827785"/>
            <a:ext cx="3403600" cy="1206500"/>
          </a:xfrm>
          <a:prstGeom prst="roundRect">
            <a:avLst>
              <a:gd name="adj" fmla="val 8421"/>
            </a:avLst>
          </a:prstGeom>
          <a:solidFill>
            <a:srgbClr val="14182B"/>
          </a:solidFill>
          <a:ln/>
        </p:spPr>
      </p:sp>
      <p:sp>
        <p:nvSpPr>
          <p:cNvPr id="22" name="Text 19"/>
          <p:cNvSpPr/>
          <p:nvPr/>
        </p:nvSpPr>
        <p:spPr>
          <a:xfrm>
            <a:off x="8178800" y="4005585"/>
            <a:ext cx="308711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8A5C"/>
                </a:solidFill>
                <a:latin typeface="JetBrains Mono" pitchFamily="49" charset="0"/>
                <a:ea typeface="JetBrains Mono" pitchFamily="49" charset="-122"/>
                <a:cs typeface="JetBrains Mono" pitchFamily="49" charset="-120"/>
              </a:rPr>
              <a:t>F</a:t>
            </a:r>
            <a:endParaRPr lang="en-US" sz="2200" dirty="0"/>
          </a:p>
        </p:txBody>
      </p:sp>
      <p:sp>
        <p:nvSpPr>
          <p:cNvPr id="23" name="Text 20"/>
          <p:cNvSpPr/>
          <p:nvPr/>
        </p:nvSpPr>
        <p:spPr>
          <a:xfrm>
            <a:off x="8178800" y="4376427"/>
            <a:ext cx="308711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5EF"/>
                </a:solidFill>
                <a:latin typeface="Space Grotesk" pitchFamily="34" charset="0"/>
                <a:ea typeface="Space Grotesk" pitchFamily="34" charset="-122"/>
                <a:cs typeface="Space Grotesk" pitchFamily="34" charset="-120"/>
              </a:rPr>
              <a:t>Un mensaje de hasta 500 caracteres</a:t>
            </a:r>
            <a:endParaRPr lang="en-US" sz="1400" dirty="0"/>
          </a:p>
        </p:txBody>
      </p:sp>
      <p:sp>
        <p:nvSpPr>
          <p:cNvPr id="24" name="Text 2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82B"/>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18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A5C"/>
                </a:solidFill>
                <a:latin typeface="JetBrains Mono" pitchFamily="49" charset="0"/>
                <a:ea typeface="JetBrains Mono" pitchFamily="49" charset="-122"/>
                <a:cs typeface="JetBrains Mono" pitchFamily="49" charset="-120"/>
              </a:rPr>
              <a:t>DINÁMICA · EJERCICIO 5</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7F5EF"/>
                </a:solidFill>
                <a:latin typeface="Space Grotesk" pitchFamily="34" charset="0"/>
                <a:ea typeface="Space Grotesk" pitchFamily="34" charset="-122"/>
                <a:cs typeface="Space Grotesk" pitchFamily="34" charset="-120"/>
              </a:rPr>
              <a:t>Rompe el formulario</a:t>
            </a:r>
            <a:endParaRPr lang="en-US" sz="3600" dirty="0"/>
          </a:p>
        </p:txBody>
      </p:sp>
      <p:sp>
        <p:nvSpPr>
          <p:cNvPr id="4" name="Shape 2"/>
          <p:cNvSpPr/>
          <p:nvPr/>
        </p:nvSpPr>
        <p:spPr>
          <a:xfrm>
            <a:off x="812800" y="1884685"/>
            <a:ext cx="5194300" cy="853440"/>
          </a:xfrm>
          <a:prstGeom prst="roundRect">
            <a:avLst>
              <a:gd name="adj" fmla="val 11905"/>
            </a:avLst>
          </a:prstGeom>
          <a:solidFill>
            <a:srgbClr val="1E2340"/>
          </a:solidFill>
          <a:ln/>
        </p:spPr>
      </p:sp>
      <p:sp>
        <p:nvSpPr>
          <p:cNvPr id="5" name="Text 3"/>
          <p:cNvSpPr/>
          <p:nvPr/>
        </p:nvSpPr>
        <p:spPr>
          <a:xfrm>
            <a:off x="1016000" y="2062485"/>
            <a:ext cx="284480" cy="299720"/>
          </a:xfrm>
          <a:prstGeom prst="roundRect">
            <a:avLst>
              <a:gd name="adj" fmla="val 17857"/>
            </a:avLst>
          </a:prstGeom>
          <a:solidFill>
            <a:srgbClr val="FF8A5C"/>
          </a:solidFill>
          <a:ln/>
        </p:spPr>
        <p:txBody>
          <a:bodyPr wrap="none" lIns="0" tIns="0" rIns="0" bIns="0" rtlCol="0" anchor="ctr">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1</a:t>
            </a:r>
            <a:endParaRPr lang="en-US" sz="1400" dirty="0"/>
          </a:p>
        </p:txBody>
      </p:sp>
      <p:sp>
        <p:nvSpPr>
          <p:cNvPr id="6" name="Text 4"/>
          <p:cNvSpPr/>
          <p:nvPr/>
        </p:nvSpPr>
        <p:spPr>
          <a:xfrm>
            <a:off x="1427480" y="2062485"/>
            <a:ext cx="450771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1E3EC"/>
                </a:solidFill>
                <a:latin typeface="Space Grotesk" pitchFamily="34" charset="0"/>
                <a:ea typeface="Space Grotesk" pitchFamily="34" charset="-122"/>
                <a:cs typeface="Space Grotesk" pitchFamily="34" charset="-120"/>
              </a:rPr>
              <a:t>Construye el formulario de cita del ejercicio 5.</a:t>
            </a:r>
            <a:endParaRPr lang="en-US" sz="1400" dirty="0"/>
          </a:p>
        </p:txBody>
      </p:sp>
      <p:sp>
        <p:nvSpPr>
          <p:cNvPr id="7" name="Shape 5"/>
          <p:cNvSpPr/>
          <p:nvPr/>
        </p:nvSpPr>
        <p:spPr>
          <a:xfrm>
            <a:off x="6184900" y="1884685"/>
            <a:ext cx="5194300" cy="853440"/>
          </a:xfrm>
          <a:prstGeom prst="roundRect">
            <a:avLst>
              <a:gd name="adj" fmla="val 11905"/>
            </a:avLst>
          </a:prstGeom>
          <a:solidFill>
            <a:srgbClr val="1E2340"/>
          </a:solidFill>
          <a:ln/>
        </p:spPr>
      </p:sp>
      <p:sp>
        <p:nvSpPr>
          <p:cNvPr id="8" name="Text 6"/>
          <p:cNvSpPr/>
          <p:nvPr/>
        </p:nvSpPr>
        <p:spPr>
          <a:xfrm>
            <a:off x="6388100" y="2062485"/>
            <a:ext cx="284480" cy="299720"/>
          </a:xfrm>
          <a:prstGeom prst="roundRect">
            <a:avLst>
              <a:gd name="adj" fmla="val 17857"/>
            </a:avLst>
          </a:prstGeom>
          <a:solidFill>
            <a:srgbClr val="FF8A5C"/>
          </a:solidFill>
          <a:ln/>
        </p:spPr>
        <p:txBody>
          <a:bodyPr wrap="none" lIns="0" tIns="0" rIns="0" bIns="0" rtlCol="0" anchor="ctr">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2</a:t>
            </a:r>
            <a:endParaRPr lang="en-US" sz="1400" dirty="0"/>
          </a:p>
        </p:txBody>
      </p:sp>
      <p:sp>
        <p:nvSpPr>
          <p:cNvPr id="9" name="Text 7"/>
          <p:cNvSpPr/>
          <p:nvPr/>
        </p:nvSpPr>
        <p:spPr>
          <a:xfrm>
            <a:off x="6799580" y="2062485"/>
            <a:ext cx="45077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1E3EC"/>
                </a:solidFill>
                <a:latin typeface="Space Grotesk" pitchFamily="34" charset="0"/>
                <a:ea typeface="Space Grotesk" pitchFamily="34" charset="-122"/>
                <a:cs typeface="Space Grotesk" pitchFamily="34" charset="-120"/>
              </a:rPr>
              <a:t>Cambia de puesto con tu pareja: ahora haces QA de su formulario.</a:t>
            </a:r>
            <a:endParaRPr lang="en-US" sz="1400" dirty="0"/>
          </a:p>
        </p:txBody>
      </p:sp>
      <p:sp>
        <p:nvSpPr>
          <p:cNvPr id="10" name="Shape 8"/>
          <p:cNvSpPr/>
          <p:nvPr/>
        </p:nvSpPr>
        <p:spPr>
          <a:xfrm>
            <a:off x="812800" y="2915927"/>
            <a:ext cx="5194300" cy="853440"/>
          </a:xfrm>
          <a:prstGeom prst="roundRect">
            <a:avLst>
              <a:gd name="adj" fmla="val 11905"/>
            </a:avLst>
          </a:prstGeom>
          <a:solidFill>
            <a:srgbClr val="1E2340"/>
          </a:solidFill>
          <a:ln/>
        </p:spPr>
      </p:sp>
      <p:sp>
        <p:nvSpPr>
          <p:cNvPr id="11" name="Text 9"/>
          <p:cNvSpPr/>
          <p:nvPr/>
        </p:nvSpPr>
        <p:spPr>
          <a:xfrm>
            <a:off x="1016000" y="3093727"/>
            <a:ext cx="284480" cy="299720"/>
          </a:xfrm>
          <a:prstGeom prst="roundRect">
            <a:avLst>
              <a:gd name="adj" fmla="val 17857"/>
            </a:avLst>
          </a:prstGeom>
          <a:solidFill>
            <a:srgbClr val="FF8A5C"/>
          </a:solidFill>
          <a:ln/>
        </p:spPr>
        <p:txBody>
          <a:bodyPr wrap="none" lIns="0" tIns="0" rIns="0" bIns="0" rtlCol="0" anchor="ctr">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3</a:t>
            </a:r>
            <a:endParaRPr lang="en-US" sz="1400" dirty="0"/>
          </a:p>
        </p:txBody>
      </p:sp>
      <p:sp>
        <p:nvSpPr>
          <p:cNvPr id="12" name="Text 10"/>
          <p:cNvSpPr/>
          <p:nvPr/>
        </p:nvSpPr>
        <p:spPr>
          <a:xfrm>
            <a:off x="1427480" y="3093727"/>
            <a:ext cx="45077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1E3EC"/>
                </a:solidFill>
                <a:latin typeface="Space Grotesk" pitchFamily="34" charset="0"/>
                <a:ea typeface="Space Grotesk" pitchFamily="34" charset="-122"/>
                <a:cs typeface="Space Grotesk" pitchFamily="34" charset="-120"/>
              </a:rPr>
              <a:t>Intenta romperlo: campos vacíos, formatos malos, límites, textos largos, espacios.</a:t>
            </a:r>
            <a:endParaRPr lang="en-US" sz="1400" dirty="0"/>
          </a:p>
        </p:txBody>
      </p:sp>
      <p:sp>
        <p:nvSpPr>
          <p:cNvPr id="13" name="Shape 11"/>
          <p:cNvSpPr/>
          <p:nvPr/>
        </p:nvSpPr>
        <p:spPr>
          <a:xfrm>
            <a:off x="6184900" y="2915927"/>
            <a:ext cx="5194300" cy="853440"/>
          </a:xfrm>
          <a:prstGeom prst="roundRect">
            <a:avLst>
              <a:gd name="adj" fmla="val 11905"/>
            </a:avLst>
          </a:prstGeom>
          <a:solidFill>
            <a:srgbClr val="1E2340"/>
          </a:solidFill>
          <a:ln/>
        </p:spPr>
      </p:sp>
      <p:sp>
        <p:nvSpPr>
          <p:cNvPr id="14" name="Text 12"/>
          <p:cNvSpPr/>
          <p:nvPr/>
        </p:nvSpPr>
        <p:spPr>
          <a:xfrm>
            <a:off x="6388100" y="3093727"/>
            <a:ext cx="284480" cy="299720"/>
          </a:xfrm>
          <a:prstGeom prst="roundRect">
            <a:avLst>
              <a:gd name="adj" fmla="val 17857"/>
            </a:avLst>
          </a:prstGeom>
          <a:solidFill>
            <a:srgbClr val="FF8A5C"/>
          </a:solidFill>
          <a:ln/>
        </p:spPr>
        <p:txBody>
          <a:bodyPr wrap="none" lIns="0" tIns="0" rIns="0" bIns="0" rtlCol="0" anchor="ctr">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4</a:t>
            </a:r>
            <a:endParaRPr lang="en-US" sz="1400" dirty="0"/>
          </a:p>
        </p:txBody>
      </p:sp>
      <p:sp>
        <p:nvSpPr>
          <p:cNvPr id="15" name="Text 13"/>
          <p:cNvSpPr/>
          <p:nvPr/>
        </p:nvSpPr>
        <p:spPr>
          <a:xfrm>
            <a:off x="6799580" y="3093727"/>
            <a:ext cx="45077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1E3EC"/>
                </a:solidFill>
                <a:latin typeface="Space Grotesk" pitchFamily="34" charset="0"/>
                <a:ea typeface="Space Grotesk" pitchFamily="34" charset="-122"/>
                <a:cs typeface="Space Grotesk" pitchFamily="34" charset="-120"/>
              </a:rPr>
              <a:t>Registra cada caso: qué probaste, qué esperabas y qué pasó.</a:t>
            </a:r>
            <a:endParaRPr lang="en-US" sz="1400" dirty="0"/>
          </a:p>
        </p:txBody>
      </p:sp>
      <p:sp>
        <p:nvSpPr>
          <p:cNvPr id="16" name="Shape 14"/>
          <p:cNvSpPr/>
          <p:nvPr/>
        </p:nvSpPr>
        <p:spPr>
          <a:xfrm>
            <a:off x="812800" y="4023358"/>
            <a:ext cx="10566400" cy="728980"/>
          </a:xfrm>
          <a:custGeom>
            <a:avLst/>
            <a:gdLst/>
            <a:ahLst/>
            <a:cxnLst/>
            <a:rect l="l" t="t" r="r" b="b"/>
            <a:pathLst>
              <a:path w="10566400" h="728980">
                <a:moveTo>
                  <a:pt x="10490200" y="0"/>
                </a:moveTo>
                <a:lnTo>
                  <a:pt x="10490200" y="0"/>
                </a:lnTo>
                <a:arcTo hR="76200" wR="76200" stAng="16200000" swAng="5400000"/>
                <a:lnTo>
                  <a:pt x="10566400" y="652780"/>
                </a:lnTo>
                <a:arcTo hR="76200" wR="76200" stAng="0" swAng="5400000"/>
                <a:lnTo>
                  <a:pt x="76200" y="728980"/>
                </a:lnTo>
                <a:arcTo hR="76200" wR="76200" stAng="5400000" swAng="5400000"/>
                <a:lnTo>
                  <a:pt x="0" y="652780"/>
                </a:lnTo>
                <a:arcTo hR="69850" wR="76200" stAng="10800000" swAng="-5400000"/>
                <a:lnTo>
                  <a:pt x="10490200" y="722630"/>
                </a:lnTo>
                <a:arcTo hR="69850" wR="69850" stAng="5400000" swAng="-5400000"/>
                <a:lnTo>
                  <a:pt x="10560050" y="76200"/>
                </a:lnTo>
                <a:arcTo hR="76200" wR="69850" stAng="0" swAng="-5400000"/>
                <a:close/>
              </a:path>
            </a:pathLst>
          </a:custGeom>
          <a:solidFill>
            <a:srgbClr val="2A3150"/>
          </a:solidFill>
          <a:ln/>
        </p:spPr>
      </p:sp>
      <p:sp>
        <p:nvSpPr>
          <p:cNvPr id="17" name="Shape 15"/>
          <p:cNvSpPr/>
          <p:nvPr/>
        </p:nvSpPr>
        <p:spPr>
          <a:xfrm>
            <a:off x="812800" y="4023358"/>
            <a:ext cx="10566400" cy="728980"/>
          </a:xfrm>
          <a:custGeom>
            <a:avLst/>
            <a:gdLst/>
            <a:ahLst/>
            <a:cxnLst/>
            <a:rect l="l" t="t" r="r" b="b"/>
            <a:pathLst>
              <a:path w="10566400" h="728980">
                <a:moveTo>
                  <a:pt x="76200" y="728980"/>
                </a:moveTo>
                <a:lnTo>
                  <a:pt x="76200" y="728980"/>
                </a:lnTo>
                <a:arcTo hR="76200" wR="76200" stAng="5400000" swAng="5400000"/>
                <a:lnTo>
                  <a:pt x="0" y="76200"/>
                </a:lnTo>
                <a:arcTo hR="76200" wR="76200" stAng="10800000" swAng="5400000"/>
                <a:lnTo>
                  <a:pt x="10490200" y="0"/>
                </a:lnTo>
                <a:arcTo hR="76200" wR="76200" stAng="16200000" swAng="5400000"/>
                <a:lnTo>
                  <a:pt x="10566400" y="76200"/>
                </a:lnTo>
                <a:arcTo hR="66040" wR="76200" stAng="0" swAng="-5400000"/>
                <a:lnTo>
                  <a:pt x="76200" y="10160"/>
                </a:lnTo>
                <a:arcTo hR="66040" wR="66040" stAng="16200000" swAng="-5400000"/>
                <a:lnTo>
                  <a:pt x="10160" y="652780"/>
                </a:lnTo>
                <a:arcTo hR="76200" wR="66040" stAng="10800000" swAng="-5400000"/>
                <a:close/>
              </a:path>
            </a:pathLst>
          </a:custGeom>
          <a:solidFill>
            <a:srgbClr val="FAF9F5">
              <a:alpha val="22000"/>
            </a:srgbClr>
          </a:solidFill>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2960" y="4033518"/>
          <a:ext cx="10551160" cy="713740"/>
        </p:xfrm>
        <a:graphic>
          <a:graphicData uri="http://schemas.openxmlformats.org/drawingml/2006/table">
            <a:tbl>
              <a:tblPr/>
              <a:tblGrid>
                <a:gridCol w="1899209"/>
                <a:gridCol w="2110232"/>
                <a:gridCol w="2743302"/>
                <a:gridCol w="2532278"/>
                <a:gridCol w="1266139"/>
              </a:tblGrid>
              <a:tr h="356870">
                <a:tc>
                  <a:txBody>
                    <a:bodyPr/>
                    <a:lstStyle/>
                    <a:p>
                      <a:pPr indent="0" marL="0">
                        <a:lnSpc>
                          <a:spcPts val="1820"/>
                        </a:lnSpc>
                        <a:buNone/>
                      </a:pPr>
                      <a:r>
                        <a:rPr lang="en-US" sz="1300" b="1" dirty="0">
                          <a:solidFill>
                            <a:srgbClr val="F7F5EF"/>
                          </a:solidFill>
                          <a:latin typeface="Space Grotesk" pitchFamily="34" charset="0"/>
                          <a:ea typeface="Space Grotesk" pitchFamily="34" charset="-122"/>
                          <a:cs typeface="Space Grotesk" pitchFamily="34" charset="-120"/>
                        </a:rPr>
                        <a:t>Campo</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585D74"/>
                      </a:solidFill>
                      <a:prstDash val="solid"/>
                      <a:round/>
                      <a:headEnd type="none" w="med" len="med"/>
                      <a:tailEnd type="none" w="med" len="med"/>
                    </a:lnR>
                    <a:lnT w="0" cap="flat" cmpd="sng" algn="ctr">
                      <a:noFill/>
                    </a:lnT>
                    <a:lnB w="12700" cap="flat" cmpd="sng" algn="ctr">
                      <a:solidFill>
                        <a:srgbClr val="585D74"/>
                      </a:solidFill>
                      <a:prstDash val="solid"/>
                      <a:round/>
                      <a:headEnd type="none" w="med" len="med"/>
                      <a:tailEnd type="none" w="med" len="med"/>
                    </a:lnB>
                    <a:solidFill>
                      <a:srgbClr val="2A3150"/>
                    </a:solidFill>
                  </a:tcPr>
                </a:tc>
                <a:tc>
                  <a:txBody>
                    <a:bodyPr/>
                    <a:lstStyle/>
                    <a:p>
                      <a:pPr indent="0" marL="0">
                        <a:lnSpc>
                          <a:spcPts val="1820"/>
                        </a:lnSpc>
                        <a:buNone/>
                      </a:pPr>
                      <a:r>
                        <a:rPr lang="en-US" sz="1300" b="1" dirty="0">
                          <a:solidFill>
                            <a:srgbClr val="F7F5EF"/>
                          </a:solidFill>
                          <a:latin typeface="Space Grotesk" pitchFamily="34" charset="0"/>
                          <a:ea typeface="Space Grotesk" pitchFamily="34" charset="-122"/>
                          <a:cs typeface="Space Grotesk" pitchFamily="34" charset="-120"/>
                        </a:rPr>
                        <a:t>Dato</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585D74"/>
                      </a:solidFill>
                      <a:prstDash val="solid"/>
                      <a:round/>
                      <a:headEnd type="none" w="med" len="med"/>
                      <a:tailEnd type="none" w="med" len="med"/>
                    </a:lnL>
                    <a:lnR w="12700" cap="flat" cmpd="sng" algn="ctr">
                      <a:solidFill>
                        <a:srgbClr val="585D74"/>
                      </a:solidFill>
                      <a:prstDash val="solid"/>
                      <a:round/>
                      <a:headEnd type="none" w="med" len="med"/>
                      <a:tailEnd type="none" w="med" len="med"/>
                    </a:lnR>
                    <a:lnT w="0" cap="flat" cmpd="sng" algn="ctr">
                      <a:noFill/>
                    </a:lnT>
                    <a:lnB w="12700" cap="flat" cmpd="sng" algn="ctr">
                      <a:solidFill>
                        <a:srgbClr val="585D74"/>
                      </a:solidFill>
                      <a:prstDash val="solid"/>
                      <a:round/>
                      <a:headEnd type="none" w="med" len="med"/>
                      <a:tailEnd type="none" w="med" len="med"/>
                    </a:lnB>
                    <a:solidFill>
                      <a:srgbClr val="2A3150"/>
                    </a:solidFill>
                  </a:tcPr>
                </a:tc>
                <a:tc>
                  <a:txBody>
                    <a:bodyPr/>
                    <a:lstStyle/>
                    <a:p>
                      <a:pPr indent="0" marL="0">
                        <a:lnSpc>
                          <a:spcPts val="1820"/>
                        </a:lnSpc>
                        <a:buNone/>
                      </a:pPr>
                      <a:r>
                        <a:rPr lang="en-US" sz="1300" b="1" dirty="0">
                          <a:solidFill>
                            <a:srgbClr val="F7F5EF"/>
                          </a:solidFill>
                          <a:latin typeface="Space Grotesk" pitchFamily="34" charset="0"/>
                          <a:ea typeface="Space Grotesk" pitchFamily="34" charset="-122"/>
                          <a:cs typeface="Space Grotesk" pitchFamily="34" charset="-120"/>
                        </a:rPr>
                        <a:t>Esperado</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585D74"/>
                      </a:solidFill>
                      <a:prstDash val="solid"/>
                      <a:round/>
                      <a:headEnd type="none" w="med" len="med"/>
                      <a:tailEnd type="none" w="med" len="med"/>
                    </a:lnL>
                    <a:lnR w="12700" cap="flat" cmpd="sng" algn="ctr">
                      <a:solidFill>
                        <a:srgbClr val="585D74"/>
                      </a:solidFill>
                      <a:prstDash val="solid"/>
                      <a:round/>
                      <a:headEnd type="none" w="med" len="med"/>
                      <a:tailEnd type="none" w="med" len="med"/>
                    </a:lnR>
                    <a:lnT w="0" cap="flat" cmpd="sng" algn="ctr">
                      <a:noFill/>
                    </a:lnT>
                    <a:lnB w="12700" cap="flat" cmpd="sng" algn="ctr">
                      <a:solidFill>
                        <a:srgbClr val="585D74"/>
                      </a:solidFill>
                      <a:prstDash val="solid"/>
                      <a:round/>
                      <a:headEnd type="none" w="med" len="med"/>
                      <a:tailEnd type="none" w="med" len="med"/>
                    </a:lnB>
                    <a:solidFill>
                      <a:srgbClr val="2A3150"/>
                    </a:solidFill>
                  </a:tcPr>
                </a:tc>
                <a:tc>
                  <a:txBody>
                    <a:bodyPr/>
                    <a:lstStyle/>
                    <a:p>
                      <a:pPr indent="0" marL="0">
                        <a:lnSpc>
                          <a:spcPts val="1820"/>
                        </a:lnSpc>
                        <a:buNone/>
                      </a:pPr>
                      <a:r>
                        <a:rPr lang="en-US" sz="1300" b="1" dirty="0">
                          <a:solidFill>
                            <a:srgbClr val="F7F5EF"/>
                          </a:solidFill>
                          <a:latin typeface="Space Grotesk" pitchFamily="34" charset="0"/>
                          <a:ea typeface="Space Grotesk" pitchFamily="34" charset="-122"/>
                          <a:cs typeface="Space Grotesk" pitchFamily="34" charset="-120"/>
                        </a:rPr>
                        <a:t>Obtenido</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585D74"/>
                      </a:solidFill>
                      <a:prstDash val="solid"/>
                      <a:round/>
                      <a:headEnd type="none" w="med" len="med"/>
                      <a:tailEnd type="none" w="med" len="med"/>
                    </a:lnL>
                    <a:lnR w="12700" cap="flat" cmpd="sng" algn="ctr">
                      <a:solidFill>
                        <a:srgbClr val="585D74"/>
                      </a:solidFill>
                      <a:prstDash val="solid"/>
                      <a:round/>
                      <a:headEnd type="none" w="med" len="med"/>
                      <a:tailEnd type="none" w="med" len="med"/>
                    </a:lnR>
                    <a:lnT w="0" cap="flat" cmpd="sng" algn="ctr">
                      <a:noFill/>
                    </a:lnT>
                    <a:lnB w="12700" cap="flat" cmpd="sng" algn="ctr">
                      <a:solidFill>
                        <a:srgbClr val="585D74"/>
                      </a:solidFill>
                      <a:prstDash val="solid"/>
                      <a:round/>
                      <a:headEnd type="none" w="med" len="med"/>
                      <a:tailEnd type="none" w="med" len="med"/>
                    </a:lnB>
                    <a:solidFill>
                      <a:srgbClr val="2A3150"/>
                    </a:solidFill>
                  </a:tcPr>
                </a:tc>
                <a:tc>
                  <a:txBody>
                    <a:bodyPr/>
                    <a:lstStyle/>
                    <a:p>
                      <a:pPr indent="0" marL="0">
                        <a:lnSpc>
                          <a:spcPts val="1820"/>
                        </a:lnSpc>
                        <a:buNone/>
                      </a:pPr>
                      <a:r>
                        <a:rPr lang="en-US" sz="1300" b="1" dirty="0">
                          <a:solidFill>
                            <a:srgbClr val="F7F5EF"/>
                          </a:solidFill>
                          <a:latin typeface="Space Grotesk" pitchFamily="34" charset="0"/>
                          <a:ea typeface="Space Grotesk" pitchFamily="34" charset="-122"/>
                          <a:cs typeface="Space Grotesk" pitchFamily="34" charset="-120"/>
                        </a:rPr>
                        <a:t>¿Pasa?</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585D74"/>
                      </a:solidFill>
                      <a:prstDash val="solid"/>
                      <a:round/>
                      <a:headEnd type="none" w="med" len="med"/>
                      <a:tailEnd type="none" w="med" len="med"/>
                    </a:lnL>
                    <a:lnR w="12700" cap="flat" cmpd="sng" algn="ctr">
                      <a:solidFill>
                        <a:srgbClr val="585D74"/>
                      </a:solidFill>
                      <a:prstDash val="solid"/>
                      <a:round/>
                      <a:headEnd type="none" w="med" len="med"/>
                      <a:tailEnd type="none" w="med" len="med"/>
                    </a:lnR>
                    <a:lnT w="0" cap="flat" cmpd="sng" algn="ctr">
                      <a:noFill/>
                    </a:lnT>
                    <a:lnB w="12700" cap="flat" cmpd="sng" algn="ctr">
                      <a:solidFill>
                        <a:srgbClr val="585D74"/>
                      </a:solidFill>
                      <a:prstDash val="solid"/>
                      <a:round/>
                      <a:headEnd type="none" w="med" len="med"/>
                      <a:tailEnd type="none" w="med" len="med"/>
                    </a:lnB>
                    <a:solidFill>
                      <a:srgbClr val="2A3150"/>
                    </a:solidFill>
                  </a:tcPr>
                </a:tc>
              </a:tr>
              <a:tr h="356870">
                <a:tc>
                  <a:txBody>
                    <a:bodyPr/>
                    <a:lstStyle/>
                    <a:p>
                      <a:pPr indent="0" marL="0">
                        <a:lnSpc>
                          <a:spcPts val="1820"/>
                        </a:lnSpc>
                        <a:buNone/>
                      </a:pPr>
                      <a:r>
                        <a:rPr lang="en-US" sz="1300" dirty="0">
                          <a:solidFill>
                            <a:srgbClr val="F7F5EF"/>
                          </a:solidFill>
                          <a:latin typeface="Space Grotesk" pitchFamily="34" charset="0"/>
                          <a:ea typeface="Space Grotesk" pitchFamily="34" charset="-122"/>
                          <a:cs typeface="Space Grotesk" pitchFamily="34" charset="-120"/>
                        </a:rPr>
                        <a:t>Celular</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4E5268"/>
                      </a:solidFill>
                      <a:prstDash val="solid"/>
                      <a:round/>
                      <a:headEnd type="none" w="med" len="med"/>
                      <a:tailEnd type="none" w="med" len="med"/>
                    </a:lnR>
                    <a:lnT w="12700" cap="flat" cmpd="sng" algn="ctr">
                      <a:solidFill>
                        <a:srgbClr val="585D74"/>
                      </a:solidFill>
                      <a:prstDash val="solid"/>
                      <a:round/>
                      <a:headEnd type="none" w="med" len="med"/>
                      <a:tailEnd type="none" w="med" len="med"/>
                    </a:lnT>
                    <a:lnB w="12700" cap="flat" cmpd="sng" algn="ctr">
                      <a:solidFill>
                        <a:srgbClr val="4E5268"/>
                      </a:solidFill>
                      <a:prstDash val="solid"/>
                      <a:round/>
                      <a:headEnd type="none" w="med" len="med"/>
                      <a:tailEnd type="none" w="med" len="med"/>
                    </a:lnB>
                    <a:solidFill>
                      <a:srgbClr val="1E2340"/>
                    </a:solidFill>
                  </a:tcPr>
                </a:tc>
                <a:tc>
                  <a:txBody>
                    <a:bodyPr/>
                    <a:lstStyle/>
                    <a:p>
                      <a:pPr indent="0" marL="0">
                        <a:lnSpc>
                          <a:spcPts val="1820"/>
                        </a:lnSpc>
                        <a:buNone/>
                      </a:pPr>
                      <a:r>
                        <a:rPr lang="en-US" sz="1300" dirty="0">
                          <a:solidFill>
                            <a:srgbClr val="F7F5EF"/>
                          </a:solidFill>
                          <a:latin typeface="Space Grotesk" pitchFamily="34" charset="0"/>
                          <a:ea typeface="Space Grotesk" pitchFamily="34" charset="-122"/>
                          <a:cs typeface="Space Grotesk" pitchFamily="34" charset="-120"/>
                        </a:rPr>
                        <a:t>300 123 4567</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4E5268"/>
                      </a:solidFill>
                      <a:prstDash val="solid"/>
                      <a:round/>
                      <a:headEnd type="none" w="med" len="med"/>
                      <a:tailEnd type="none" w="med" len="med"/>
                    </a:lnL>
                    <a:lnR w="12700" cap="flat" cmpd="sng" algn="ctr">
                      <a:solidFill>
                        <a:srgbClr val="4E5268"/>
                      </a:solidFill>
                      <a:prstDash val="solid"/>
                      <a:round/>
                      <a:headEnd type="none" w="med" len="med"/>
                      <a:tailEnd type="none" w="med" len="med"/>
                    </a:lnR>
                    <a:lnT w="12700" cap="flat" cmpd="sng" algn="ctr">
                      <a:solidFill>
                        <a:srgbClr val="585D74"/>
                      </a:solidFill>
                      <a:prstDash val="solid"/>
                      <a:round/>
                      <a:headEnd type="none" w="med" len="med"/>
                      <a:tailEnd type="none" w="med" len="med"/>
                    </a:lnT>
                    <a:lnB w="12700" cap="flat" cmpd="sng" algn="ctr">
                      <a:solidFill>
                        <a:srgbClr val="4E5268"/>
                      </a:solidFill>
                      <a:prstDash val="solid"/>
                      <a:round/>
                      <a:headEnd type="none" w="med" len="med"/>
                      <a:tailEnd type="none" w="med" len="med"/>
                    </a:lnB>
                    <a:solidFill>
                      <a:srgbClr val="1E2340"/>
                    </a:solidFill>
                  </a:tcPr>
                </a:tc>
                <a:tc>
                  <a:txBody>
                    <a:bodyPr/>
                    <a:lstStyle/>
                    <a:p>
                      <a:pPr indent="0" marL="0">
                        <a:lnSpc>
                          <a:spcPts val="1820"/>
                        </a:lnSpc>
                        <a:buNone/>
                      </a:pPr>
                      <a:r>
                        <a:rPr lang="en-US" sz="1300" dirty="0">
                          <a:solidFill>
                            <a:srgbClr val="F7F5EF"/>
                          </a:solidFill>
                          <a:latin typeface="Space Grotesk" pitchFamily="34" charset="0"/>
                          <a:ea typeface="Space Grotesk" pitchFamily="34" charset="-122"/>
                          <a:cs typeface="Space Grotesk" pitchFamily="34" charset="-120"/>
                        </a:rPr>
                        <a:t>No deja enviar</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4E5268"/>
                      </a:solidFill>
                      <a:prstDash val="solid"/>
                      <a:round/>
                      <a:headEnd type="none" w="med" len="med"/>
                      <a:tailEnd type="none" w="med" len="med"/>
                    </a:lnL>
                    <a:lnR w="12700" cap="flat" cmpd="sng" algn="ctr">
                      <a:solidFill>
                        <a:srgbClr val="4E5268"/>
                      </a:solidFill>
                      <a:prstDash val="solid"/>
                      <a:round/>
                      <a:headEnd type="none" w="med" len="med"/>
                      <a:tailEnd type="none" w="med" len="med"/>
                    </a:lnR>
                    <a:lnT w="12700" cap="flat" cmpd="sng" algn="ctr">
                      <a:solidFill>
                        <a:srgbClr val="585D74"/>
                      </a:solidFill>
                      <a:prstDash val="solid"/>
                      <a:round/>
                      <a:headEnd type="none" w="med" len="med"/>
                      <a:tailEnd type="none" w="med" len="med"/>
                    </a:lnT>
                    <a:lnB w="12700" cap="flat" cmpd="sng" algn="ctr">
                      <a:solidFill>
                        <a:srgbClr val="4E5268"/>
                      </a:solidFill>
                      <a:prstDash val="solid"/>
                      <a:round/>
                      <a:headEnd type="none" w="med" len="med"/>
                      <a:tailEnd type="none" w="med" len="med"/>
                    </a:lnB>
                    <a:solidFill>
                      <a:srgbClr val="1E2340"/>
                    </a:solidFill>
                  </a:tcPr>
                </a:tc>
                <a:tc>
                  <a:txBody>
                    <a:bodyPr/>
                    <a:lstStyle/>
                    <a:p>
                      <a:pPr indent="0" marL="0">
                        <a:lnSpc>
                          <a:spcPts val="1820"/>
                        </a:lnSpc>
                        <a:buNone/>
                      </a:pPr>
                      <a:r>
                        <a:rPr lang="en-US" sz="1300" dirty="0">
                          <a:solidFill>
                            <a:srgbClr val="F7F5EF"/>
                          </a:solidFill>
                          <a:latin typeface="Space Grotesk" pitchFamily="34" charset="0"/>
                          <a:ea typeface="Space Grotesk" pitchFamily="34" charset="-122"/>
                          <a:cs typeface="Space Grotesk" pitchFamily="34" charset="-120"/>
                        </a:rPr>
                        <a:t>No dejó enviar</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4E5268"/>
                      </a:solidFill>
                      <a:prstDash val="solid"/>
                      <a:round/>
                      <a:headEnd type="none" w="med" len="med"/>
                      <a:tailEnd type="none" w="med" len="med"/>
                    </a:lnL>
                    <a:lnR w="12700" cap="flat" cmpd="sng" algn="ctr">
                      <a:solidFill>
                        <a:srgbClr val="4E5268"/>
                      </a:solidFill>
                      <a:prstDash val="solid"/>
                      <a:round/>
                      <a:headEnd type="none" w="med" len="med"/>
                      <a:tailEnd type="none" w="med" len="med"/>
                    </a:lnR>
                    <a:lnT w="12700" cap="flat" cmpd="sng" algn="ctr">
                      <a:solidFill>
                        <a:srgbClr val="585D74"/>
                      </a:solidFill>
                      <a:prstDash val="solid"/>
                      <a:round/>
                      <a:headEnd type="none" w="med" len="med"/>
                      <a:tailEnd type="none" w="med" len="med"/>
                    </a:lnT>
                    <a:lnB w="12700" cap="flat" cmpd="sng" algn="ctr">
                      <a:solidFill>
                        <a:srgbClr val="4E5268"/>
                      </a:solidFill>
                      <a:prstDash val="solid"/>
                      <a:round/>
                      <a:headEnd type="none" w="med" len="med"/>
                      <a:tailEnd type="none" w="med" len="med"/>
                    </a:lnB>
                    <a:solidFill>
                      <a:srgbClr val="1E2340"/>
                    </a:solidFill>
                  </a:tcPr>
                </a:tc>
                <a:tc>
                  <a:txBody>
                    <a:bodyPr/>
                    <a:lstStyle/>
                    <a:p>
                      <a:pPr indent="0" marL="0">
                        <a:lnSpc>
                          <a:spcPts val="1820"/>
                        </a:lnSpc>
                        <a:buNone/>
                      </a:pPr>
                      <a:r>
                        <a:rPr lang="en-US" sz="1300" dirty="0">
                          <a:solidFill>
                            <a:srgbClr val="F7F5EF"/>
                          </a:solidFill>
                          <a:latin typeface="Space Grotesk" pitchFamily="34" charset="0"/>
                          <a:ea typeface="Space Grotesk" pitchFamily="34" charset="-122"/>
                          <a:cs typeface="Space Grotesk" pitchFamily="34" charset="-120"/>
                        </a:rPr>
                        <a:t>Sí</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4E5268"/>
                      </a:solidFill>
                      <a:prstDash val="solid"/>
                      <a:round/>
                      <a:headEnd type="none" w="med" len="med"/>
                      <a:tailEnd type="none" w="med" len="med"/>
                    </a:lnL>
                    <a:lnR w="12700" cap="flat" cmpd="sng" algn="ctr">
                      <a:solidFill>
                        <a:srgbClr val="4E5268"/>
                      </a:solidFill>
                      <a:prstDash val="solid"/>
                      <a:round/>
                      <a:headEnd type="none" w="med" len="med"/>
                      <a:tailEnd type="none" w="med" len="med"/>
                    </a:lnR>
                    <a:lnT w="12700" cap="flat" cmpd="sng" algn="ctr">
                      <a:solidFill>
                        <a:srgbClr val="585D74"/>
                      </a:solidFill>
                      <a:prstDash val="solid"/>
                      <a:round/>
                      <a:headEnd type="none" w="med" len="med"/>
                      <a:tailEnd type="none" w="med" len="med"/>
                    </a:lnT>
                    <a:lnB w="12700" cap="flat" cmpd="sng" algn="ctr">
                      <a:solidFill>
                        <a:srgbClr val="4E5268"/>
                      </a:solidFill>
                      <a:prstDash val="solid"/>
                      <a:round/>
                      <a:headEnd type="none" w="med" len="med"/>
                      <a:tailEnd type="none" w="med" len="med"/>
                    </a:lnB>
                    <a:solidFill>
                      <a:srgbClr val="1E2340"/>
                    </a:solidFill>
                  </a:tcPr>
                </a:tc>
              </a:tr>
            </a:tbl>
          </a:graphicData>
        </a:graphic>
      </p:graphicFrame>
      <p:sp>
        <p:nvSpPr>
          <p:cNvPr id="19" name="Text 1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B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18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A5C"/>
                </a:solidFill>
                <a:latin typeface="JetBrains Mono" pitchFamily="49" charset="0"/>
                <a:ea typeface="JetBrains Mono" pitchFamily="49" charset="-122"/>
                <a:cs typeface="JetBrains Mono" pitchFamily="49" charset="-120"/>
              </a:rPr>
              <a:t>04 · PROYECTO MODULAR</a:t>
            </a:r>
            <a:endParaRPr lang="en-US" sz="1200" dirty="0"/>
          </a:p>
        </p:txBody>
      </p:sp>
      <p:sp>
        <p:nvSpPr>
          <p:cNvPr id="3" name="Text 1"/>
          <p:cNvSpPr/>
          <p:nvPr>
            <p:ph type="title"/>
          </p:nvPr>
        </p:nvSpPr>
        <p:spPr>
          <a:xfrm>
            <a:off x="812800" y="1127758"/>
            <a:ext cx="9810750" cy="103124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7F5EF"/>
                </a:solidFill>
                <a:latin typeface="Space Grotesk" pitchFamily="34" charset="0"/>
                <a:ea typeface="Space Grotesk" pitchFamily="34" charset="-122"/>
                <a:cs typeface="Space Grotesk" pitchFamily="34" charset="-120"/>
              </a:rPr>
              <a:t>Un sitio web multipágina y responsive para un negocio o emprendimiento</a:t>
            </a:r>
            <a:endParaRPr lang="en-US" sz="3600" dirty="0"/>
          </a:p>
        </p:txBody>
      </p:sp>
      <p:sp>
        <p:nvSpPr>
          <p:cNvPr id="4" name="Shape 2"/>
          <p:cNvSpPr/>
          <p:nvPr/>
        </p:nvSpPr>
        <p:spPr>
          <a:xfrm>
            <a:off x="812800" y="2387600"/>
            <a:ext cx="2527300" cy="1709420"/>
          </a:xfrm>
          <a:prstGeom prst="roundRect">
            <a:avLst>
              <a:gd name="adj" fmla="val 5944"/>
            </a:avLst>
          </a:prstGeom>
          <a:solidFill>
            <a:srgbClr val="1E2340"/>
          </a:solidFill>
          <a:ln/>
        </p:spPr>
      </p:sp>
      <p:pic>
        <p:nvPicPr>
          <p:cNvPr id="5" name="Image 0" descr="Home">    </p:cNvPr>
          <p:cNvPicPr>
            <a:picLocks noChangeAspect="1"/>
          </p:cNvPicPr>
          <p:nvPr/>
        </p:nvPicPr>
        <p:blipFill>
          <a:blip r:embed="rId1"/>
          <a:srcRect l="0" r="0" t="0" b="0"/>
          <a:stretch/>
        </p:blipFill>
        <p:spPr>
          <a:xfrm>
            <a:off x="1003300" y="2565400"/>
            <a:ext cx="279400" cy="279400"/>
          </a:xfrm>
          <a:prstGeom prst="rect">
            <a:avLst/>
          </a:prstGeom>
        </p:spPr>
      </p:pic>
      <p:sp>
        <p:nvSpPr>
          <p:cNvPr id="6" name="Text 3"/>
          <p:cNvSpPr/>
          <p:nvPr/>
        </p:nvSpPr>
        <p:spPr>
          <a:xfrm>
            <a:off x="1003300" y="2921000"/>
            <a:ext cx="22106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5EF"/>
                </a:solidFill>
                <a:latin typeface="Space Grotesk" pitchFamily="34" charset="0"/>
                <a:ea typeface="Space Grotesk" pitchFamily="34" charset="-122"/>
                <a:cs typeface="Space Grotesk" pitchFamily="34" charset="-120"/>
              </a:rPr>
              <a:t>Páginas</a:t>
            </a:r>
            <a:endParaRPr lang="en-US" sz="1500" dirty="0"/>
          </a:p>
        </p:txBody>
      </p:sp>
      <p:sp>
        <p:nvSpPr>
          <p:cNvPr id="7" name="Text 4"/>
          <p:cNvSpPr/>
          <p:nvPr/>
        </p:nvSpPr>
        <p:spPr>
          <a:xfrm>
            <a:off x="1003300" y="3225800"/>
            <a:ext cx="221068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1E3EC"/>
                </a:solidFill>
                <a:latin typeface="Space Grotesk" pitchFamily="34" charset="0"/>
                <a:ea typeface="Space Grotesk" pitchFamily="34" charset="-122"/>
                <a:cs typeface="Space Grotesk" pitchFamily="34" charset="-120"/>
              </a:rPr>
              <a:t>Inicio, servicios o catálogo, y contacto con formulario.</a:t>
            </a:r>
            <a:endParaRPr lang="en-US" sz="1300" dirty="0"/>
          </a:p>
        </p:txBody>
      </p:sp>
      <p:sp>
        <p:nvSpPr>
          <p:cNvPr id="8" name="Shape 5"/>
          <p:cNvSpPr/>
          <p:nvPr/>
        </p:nvSpPr>
        <p:spPr>
          <a:xfrm>
            <a:off x="3492500" y="2387600"/>
            <a:ext cx="2527300" cy="1709420"/>
          </a:xfrm>
          <a:prstGeom prst="roundRect">
            <a:avLst>
              <a:gd name="adj" fmla="val 5944"/>
            </a:avLst>
          </a:prstGeom>
          <a:solidFill>
            <a:srgbClr val="1E2340"/>
          </a:solidFill>
          <a:ln/>
        </p:spPr>
      </p:sp>
      <p:pic>
        <p:nvPicPr>
          <p:cNvPr id="9" name="Image 1" descr="Code">    </p:cNvPr>
          <p:cNvPicPr>
            <a:picLocks noChangeAspect="1"/>
          </p:cNvPicPr>
          <p:nvPr/>
        </p:nvPicPr>
        <p:blipFill>
          <a:blip r:embed="rId2"/>
          <a:srcRect l="0" r="0" t="0" b="0"/>
          <a:stretch/>
        </p:blipFill>
        <p:spPr>
          <a:xfrm>
            <a:off x="3683000" y="2565400"/>
            <a:ext cx="279400" cy="279400"/>
          </a:xfrm>
          <a:prstGeom prst="rect">
            <a:avLst/>
          </a:prstGeom>
        </p:spPr>
      </p:pic>
      <p:sp>
        <p:nvSpPr>
          <p:cNvPr id="10" name="Text 6"/>
          <p:cNvSpPr/>
          <p:nvPr/>
        </p:nvSpPr>
        <p:spPr>
          <a:xfrm>
            <a:off x="3683000" y="2921000"/>
            <a:ext cx="22106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5EF"/>
                </a:solidFill>
                <a:latin typeface="Space Grotesk" pitchFamily="34" charset="0"/>
                <a:ea typeface="Space Grotesk" pitchFamily="34" charset="-122"/>
                <a:cs typeface="Space Grotesk" pitchFamily="34" charset="-120"/>
              </a:rPr>
              <a:t>Tecnología</a:t>
            </a:r>
            <a:endParaRPr lang="en-US" sz="1500" dirty="0"/>
          </a:p>
        </p:txBody>
      </p:sp>
      <p:sp>
        <p:nvSpPr>
          <p:cNvPr id="11" name="Text 7"/>
          <p:cNvSpPr/>
          <p:nvPr/>
        </p:nvSpPr>
        <p:spPr>
          <a:xfrm>
            <a:off x="3683000" y="3225800"/>
            <a:ext cx="221068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1E3EC"/>
                </a:solidFill>
                <a:latin typeface="Space Grotesk" pitchFamily="34" charset="0"/>
                <a:ea typeface="Space Grotesk" pitchFamily="34" charset="-122"/>
                <a:cs typeface="Space Grotesk" pitchFamily="34" charset="-120"/>
              </a:rPr>
              <a:t>HTML semántico y Bootstrap o Tailwind: tú eliges y justificas.</a:t>
            </a:r>
            <a:endParaRPr lang="en-US" sz="1300" dirty="0"/>
          </a:p>
        </p:txBody>
      </p:sp>
      <p:sp>
        <p:nvSpPr>
          <p:cNvPr id="12" name="Shape 8"/>
          <p:cNvSpPr/>
          <p:nvPr/>
        </p:nvSpPr>
        <p:spPr>
          <a:xfrm>
            <a:off x="6172200" y="2387600"/>
            <a:ext cx="2527300" cy="1709420"/>
          </a:xfrm>
          <a:prstGeom prst="roundRect">
            <a:avLst>
              <a:gd name="adj" fmla="val 5944"/>
            </a:avLst>
          </a:prstGeom>
          <a:solidFill>
            <a:srgbClr val="1E2340"/>
          </a:solidFill>
          <a:ln/>
        </p:spPr>
      </p:sp>
      <p:pic>
        <p:nvPicPr>
          <p:cNvPr id="13" name="Image 2" descr="Cloud">    </p:cNvPr>
          <p:cNvPicPr>
            <a:picLocks noChangeAspect="1"/>
          </p:cNvPicPr>
          <p:nvPr/>
        </p:nvPicPr>
        <p:blipFill>
          <a:blip r:embed="rId3"/>
          <a:srcRect l="0" r="0" t="0" b="0"/>
          <a:stretch/>
        </p:blipFill>
        <p:spPr>
          <a:xfrm>
            <a:off x="6362700" y="2565400"/>
            <a:ext cx="279400" cy="279400"/>
          </a:xfrm>
          <a:prstGeom prst="rect">
            <a:avLst/>
          </a:prstGeom>
        </p:spPr>
      </p:pic>
      <p:sp>
        <p:nvSpPr>
          <p:cNvPr id="14" name="Text 9"/>
          <p:cNvSpPr/>
          <p:nvPr/>
        </p:nvSpPr>
        <p:spPr>
          <a:xfrm>
            <a:off x="6362700" y="2921000"/>
            <a:ext cx="22106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5EF"/>
                </a:solidFill>
                <a:latin typeface="Space Grotesk" pitchFamily="34" charset="0"/>
                <a:ea typeface="Space Grotesk" pitchFamily="34" charset="-122"/>
                <a:cs typeface="Space Grotesk" pitchFamily="34" charset="-120"/>
              </a:rPr>
              <a:t>Publicación</a:t>
            </a:r>
            <a:endParaRPr lang="en-US" sz="1500" dirty="0"/>
          </a:p>
        </p:txBody>
      </p:sp>
      <p:sp>
        <p:nvSpPr>
          <p:cNvPr id="15" name="Text 10"/>
          <p:cNvSpPr/>
          <p:nvPr/>
        </p:nvSpPr>
        <p:spPr>
          <a:xfrm>
            <a:off x="6362700" y="3225800"/>
            <a:ext cx="221068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1E3EC"/>
                </a:solidFill>
                <a:latin typeface="Space Grotesk" pitchFamily="34" charset="0"/>
                <a:ea typeface="Space Grotesk" pitchFamily="34" charset="-122"/>
                <a:cs typeface="Space Grotesk" pitchFamily="34" charset="-120"/>
              </a:rPr>
              <a:t>Repositorio en GitHub y sitio en GitHub Pages.</a:t>
            </a:r>
            <a:endParaRPr lang="en-US" sz="1300" dirty="0"/>
          </a:p>
        </p:txBody>
      </p:sp>
      <p:sp>
        <p:nvSpPr>
          <p:cNvPr id="16" name="Shape 11"/>
          <p:cNvSpPr/>
          <p:nvPr/>
        </p:nvSpPr>
        <p:spPr>
          <a:xfrm>
            <a:off x="8851900" y="2387600"/>
            <a:ext cx="2527300" cy="1709420"/>
          </a:xfrm>
          <a:prstGeom prst="roundRect">
            <a:avLst>
              <a:gd name="adj" fmla="val 5944"/>
            </a:avLst>
          </a:prstGeom>
          <a:solidFill>
            <a:srgbClr val="1E2340"/>
          </a:solidFill>
          <a:ln/>
        </p:spPr>
      </p:sp>
      <p:pic>
        <p:nvPicPr>
          <p:cNvPr id="17" name="Image 3" descr="Users">    </p:cNvPr>
          <p:cNvPicPr>
            <a:picLocks noChangeAspect="1"/>
          </p:cNvPicPr>
          <p:nvPr/>
        </p:nvPicPr>
        <p:blipFill>
          <a:blip r:embed="rId4"/>
          <a:srcRect l="0" r="0" t="0" b="0"/>
          <a:stretch/>
        </p:blipFill>
        <p:spPr>
          <a:xfrm>
            <a:off x="9042400" y="2565400"/>
            <a:ext cx="279400" cy="279400"/>
          </a:xfrm>
          <a:prstGeom prst="rect">
            <a:avLst/>
          </a:prstGeom>
        </p:spPr>
      </p:pic>
      <p:sp>
        <p:nvSpPr>
          <p:cNvPr id="18" name="Text 12"/>
          <p:cNvSpPr/>
          <p:nvPr/>
        </p:nvSpPr>
        <p:spPr>
          <a:xfrm>
            <a:off x="9042400" y="2921000"/>
            <a:ext cx="22106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5EF"/>
                </a:solidFill>
                <a:latin typeface="Space Grotesk" pitchFamily="34" charset="0"/>
                <a:ea typeface="Space Grotesk" pitchFamily="34" charset="-122"/>
                <a:cs typeface="Space Grotesk" pitchFamily="34" charset="-120"/>
              </a:rPr>
              <a:t>Sustentación</a:t>
            </a:r>
            <a:endParaRPr lang="en-US" sz="1500" dirty="0"/>
          </a:p>
        </p:txBody>
      </p:sp>
      <p:sp>
        <p:nvSpPr>
          <p:cNvPr id="19" name="Text 13"/>
          <p:cNvSpPr/>
          <p:nvPr/>
        </p:nvSpPr>
        <p:spPr>
          <a:xfrm>
            <a:off x="9042400" y="3225800"/>
            <a:ext cx="221068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1E3EC"/>
                </a:solidFill>
                <a:latin typeface="Space Grotesk" pitchFamily="34" charset="0"/>
                <a:ea typeface="Space Grotesk" pitchFamily="34" charset="-122"/>
                <a:cs typeface="Space Grotesk" pitchFamily="34" charset="-120"/>
              </a:rPr>
              <a:t>En la sesión 9 presentas tu sitio y explicas tus decisiones.</a:t>
            </a:r>
            <a:endParaRPr lang="en-US" sz="1300" dirty="0"/>
          </a:p>
        </p:txBody>
      </p:sp>
      <p:sp>
        <p:nvSpPr>
          <p:cNvPr id="20" name="Text 14"/>
          <p:cNvSpPr/>
          <p:nvPr/>
        </p:nvSpPr>
        <p:spPr>
          <a:xfrm>
            <a:off x="812800" y="4351027"/>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CD8"/>
                </a:solidFill>
                <a:latin typeface="Space Grotesk" pitchFamily="34" charset="0"/>
                <a:ea typeface="Space Grotesk" pitchFamily="34" charset="-122"/>
                <a:cs typeface="Space Grotesk" pitchFamily="34" charset="-120"/>
              </a:rPr>
              <a:t>Negocio ficticio, o real con permiso de su dueño. Es individual: cada coder tiene su propio negocio.</a:t>
            </a:r>
            <a:endParaRPr lang="en-US" sz="1400" dirty="0"/>
          </a:p>
        </p:txBody>
      </p:sp>
      <p:sp>
        <p:nvSpPr>
          <p:cNvPr id="21"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B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04 · PROYECTO MODULAR</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Cómo avanza tu proyecto</a:t>
            </a:r>
            <a:endParaRPr lang="en-US" sz="3600" dirty="0"/>
          </a:p>
        </p:txBody>
      </p:sp>
      <p:sp>
        <p:nvSpPr>
          <p:cNvPr id="4" name="Shape 2"/>
          <p:cNvSpPr/>
          <p:nvPr/>
        </p:nvSpPr>
        <p:spPr>
          <a:xfrm>
            <a:off x="812800" y="1884685"/>
            <a:ext cx="2527300" cy="1323975"/>
          </a:xfrm>
          <a:prstGeom prst="roundRect">
            <a:avLst>
              <a:gd name="adj" fmla="val 7674"/>
            </a:avLst>
          </a:prstGeom>
          <a:solidFill>
            <a:srgbClr val="14182B"/>
          </a:solidFill>
          <a:ln/>
        </p:spPr>
      </p:sp>
      <p:sp>
        <p:nvSpPr>
          <p:cNvPr id="5" name="Text 3"/>
          <p:cNvSpPr/>
          <p:nvPr/>
        </p:nvSpPr>
        <p:spPr>
          <a:xfrm>
            <a:off x="990600" y="2037085"/>
            <a:ext cx="1457960" cy="264160"/>
          </a:xfrm>
          <a:custGeom>
            <a:avLst/>
            <a:gdLst/>
            <a:ahLst/>
            <a:cxnLst/>
            <a:rect l="l" t="t" r="r" b="b"/>
            <a:pathLst>
              <a:path w="1457960" h="264160">
                <a:moveTo>
                  <a:pt x="132080" y="0"/>
                </a:moveTo>
                <a:lnTo>
                  <a:pt x="1325880" y="0"/>
                </a:lnTo>
                <a:arcTo hR="132080" wR="132080" stAng="16200000" swAng="5400000"/>
                <a:lnTo>
                  <a:pt x="1457960" y="132080"/>
                </a:lnTo>
                <a:arcTo hR="132080" wR="132080" stAng="0" swAng="5400000"/>
                <a:lnTo>
                  <a:pt x="132080" y="264160"/>
                </a:lnTo>
                <a:arcTo hR="132080" wR="132080" stAng="5400000" swAng="5400000"/>
                <a:lnTo>
                  <a:pt x="0" y="132080"/>
                </a:lnTo>
                <a:arcTo hR="132080" wR="132080" stAng="10800000" swAng="5400000"/>
                <a:close/>
              </a:path>
            </a:pathLst>
          </a:custGeom>
          <a:solidFill>
            <a:srgbClr val="FF8A5C"/>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Sesión 2 · hoy</a:t>
            </a:r>
            <a:endParaRPr lang="en-US" sz="1200" dirty="0"/>
          </a:p>
        </p:txBody>
      </p:sp>
      <p:sp>
        <p:nvSpPr>
          <p:cNvPr id="6" name="Text 4"/>
          <p:cNvSpPr/>
          <p:nvPr/>
        </p:nvSpPr>
        <p:spPr>
          <a:xfrm>
            <a:off x="990600" y="2377455"/>
            <a:ext cx="2236851"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7F5EF"/>
                </a:solidFill>
                <a:latin typeface="Space Grotesk" pitchFamily="34" charset="0"/>
                <a:ea typeface="Space Grotesk" pitchFamily="34" charset="-122"/>
                <a:cs typeface="Space Grotesk" pitchFamily="34" charset="-120"/>
              </a:rPr>
              <a:t>Estructura semántica de 3 páginas y formulario, publicada</a:t>
            </a:r>
            <a:endParaRPr lang="en-US" sz="1300" dirty="0"/>
          </a:p>
        </p:txBody>
      </p:sp>
      <p:sp>
        <p:nvSpPr>
          <p:cNvPr id="7" name="Shape 5"/>
          <p:cNvSpPr/>
          <p:nvPr/>
        </p:nvSpPr>
        <p:spPr>
          <a:xfrm>
            <a:off x="3495675" y="1887860"/>
            <a:ext cx="2520950" cy="1317625"/>
          </a:xfrm>
          <a:prstGeom prst="roundRect">
            <a:avLst>
              <a:gd name="adj" fmla="val 7470"/>
            </a:avLst>
          </a:prstGeom>
          <a:solidFill>
            <a:srgbClr val="FFFDF8"/>
          </a:solidFill>
          <a:ln w="6350">
            <a:solidFill>
              <a:srgbClr val="E4DFD3"/>
            </a:solidFill>
            <a:prstDash val="solid"/>
          </a:ln>
        </p:spPr>
      </p:sp>
      <p:sp>
        <p:nvSpPr>
          <p:cNvPr id="8" name="Text 6"/>
          <p:cNvSpPr/>
          <p:nvPr/>
        </p:nvSpPr>
        <p:spPr>
          <a:xfrm>
            <a:off x="3675380" y="2042158"/>
            <a:ext cx="909320" cy="264160"/>
          </a:xfrm>
          <a:custGeom>
            <a:avLst/>
            <a:gdLst/>
            <a:ahLst/>
            <a:cxnLst/>
            <a:rect l="l" t="t" r="r" b="b"/>
            <a:pathLst>
              <a:path w="909320" h="264160">
                <a:moveTo>
                  <a:pt x="132080" y="0"/>
                </a:moveTo>
                <a:lnTo>
                  <a:pt x="777240" y="0"/>
                </a:lnTo>
                <a:arcTo hR="132080" wR="132080" stAng="16200000" swAng="5400000"/>
                <a:lnTo>
                  <a:pt x="909320" y="132080"/>
                </a:lnTo>
                <a:arcTo hR="132080" wR="132080" stAng="0" swAng="5400000"/>
                <a:lnTo>
                  <a:pt x="132080" y="264160"/>
                </a:lnTo>
                <a:arcTo hR="132080" wR="132080" stAng="5400000" swAng="5400000"/>
                <a:lnTo>
                  <a:pt x="0" y="132080"/>
                </a:lnTo>
                <a:arcTo hR="132080" wR="132080" stAng="10800000" swAng="5400000"/>
                <a:close/>
              </a:path>
            </a:pathLst>
          </a:custGeom>
          <a:solidFill>
            <a:srgbClr val="EDE9DF"/>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Sesión 3</a:t>
            </a:r>
            <a:endParaRPr lang="en-US" sz="1200" dirty="0"/>
          </a:p>
        </p:txBody>
      </p:sp>
      <p:sp>
        <p:nvSpPr>
          <p:cNvPr id="9" name="Text 7"/>
          <p:cNvSpPr/>
          <p:nvPr/>
        </p:nvSpPr>
        <p:spPr>
          <a:xfrm>
            <a:off x="3675380" y="2382515"/>
            <a:ext cx="2226386"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Hoja de estilos externa con variables y espaciados en rem</a:t>
            </a:r>
            <a:endParaRPr lang="en-US" sz="1300" dirty="0"/>
          </a:p>
        </p:txBody>
      </p:sp>
      <p:sp>
        <p:nvSpPr>
          <p:cNvPr id="10" name="Shape 8"/>
          <p:cNvSpPr/>
          <p:nvPr/>
        </p:nvSpPr>
        <p:spPr>
          <a:xfrm>
            <a:off x="6175375" y="1887860"/>
            <a:ext cx="2520950" cy="1317625"/>
          </a:xfrm>
          <a:prstGeom prst="roundRect">
            <a:avLst>
              <a:gd name="adj" fmla="val 7470"/>
            </a:avLst>
          </a:prstGeom>
          <a:solidFill>
            <a:srgbClr val="FFFDF8"/>
          </a:solidFill>
          <a:ln w="6350">
            <a:solidFill>
              <a:srgbClr val="E4DFD3"/>
            </a:solidFill>
            <a:prstDash val="solid"/>
          </a:ln>
        </p:spPr>
      </p:sp>
      <p:sp>
        <p:nvSpPr>
          <p:cNvPr id="11" name="Text 9"/>
          <p:cNvSpPr/>
          <p:nvPr/>
        </p:nvSpPr>
        <p:spPr>
          <a:xfrm>
            <a:off x="6355080" y="2042158"/>
            <a:ext cx="909320" cy="264160"/>
          </a:xfrm>
          <a:custGeom>
            <a:avLst/>
            <a:gdLst/>
            <a:ahLst/>
            <a:cxnLst/>
            <a:rect l="l" t="t" r="r" b="b"/>
            <a:pathLst>
              <a:path w="909320" h="264160">
                <a:moveTo>
                  <a:pt x="132080" y="0"/>
                </a:moveTo>
                <a:lnTo>
                  <a:pt x="777240" y="0"/>
                </a:lnTo>
                <a:arcTo hR="132080" wR="132080" stAng="16200000" swAng="5400000"/>
                <a:lnTo>
                  <a:pt x="909320" y="132080"/>
                </a:lnTo>
                <a:arcTo hR="132080" wR="132080" stAng="0" swAng="5400000"/>
                <a:lnTo>
                  <a:pt x="132080" y="264160"/>
                </a:lnTo>
                <a:arcTo hR="132080" wR="132080" stAng="5400000" swAng="5400000"/>
                <a:lnTo>
                  <a:pt x="0" y="132080"/>
                </a:lnTo>
                <a:arcTo hR="132080" wR="132080" stAng="10800000" swAng="5400000"/>
                <a:close/>
              </a:path>
            </a:pathLst>
          </a:custGeom>
          <a:solidFill>
            <a:srgbClr val="EDE9DF"/>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Sesión 4</a:t>
            </a:r>
            <a:endParaRPr lang="en-US" sz="1200" dirty="0"/>
          </a:p>
        </p:txBody>
      </p:sp>
      <p:sp>
        <p:nvSpPr>
          <p:cNvPr id="12" name="Text 10"/>
          <p:cNvSpPr/>
          <p:nvPr/>
        </p:nvSpPr>
        <p:spPr>
          <a:xfrm>
            <a:off x="6355080" y="2382515"/>
            <a:ext cx="2226386"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Navbar, tarjetas y layout para celular, tablet y escritorio</a:t>
            </a:r>
            <a:endParaRPr lang="en-US" sz="1300" dirty="0"/>
          </a:p>
        </p:txBody>
      </p:sp>
      <p:sp>
        <p:nvSpPr>
          <p:cNvPr id="13" name="Shape 11"/>
          <p:cNvSpPr/>
          <p:nvPr/>
        </p:nvSpPr>
        <p:spPr>
          <a:xfrm>
            <a:off x="8855075" y="1887860"/>
            <a:ext cx="2520950" cy="1317625"/>
          </a:xfrm>
          <a:prstGeom prst="roundRect">
            <a:avLst>
              <a:gd name="adj" fmla="val 7470"/>
            </a:avLst>
          </a:prstGeom>
          <a:solidFill>
            <a:srgbClr val="FFFDF8"/>
          </a:solidFill>
          <a:ln w="6350">
            <a:solidFill>
              <a:srgbClr val="E4DFD3"/>
            </a:solidFill>
            <a:prstDash val="solid"/>
          </a:ln>
        </p:spPr>
      </p:sp>
      <p:sp>
        <p:nvSpPr>
          <p:cNvPr id="14" name="Text 12"/>
          <p:cNvSpPr/>
          <p:nvPr/>
        </p:nvSpPr>
        <p:spPr>
          <a:xfrm>
            <a:off x="9034780" y="2042158"/>
            <a:ext cx="909320" cy="264160"/>
          </a:xfrm>
          <a:custGeom>
            <a:avLst/>
            <a:gdLst/>
            <a:ahLst/>
            <a:cxnLst/>
            <a:rect l="l" t="t" r="r" b="b"/>
            <a:pathLst>
              <a:path w="909320" h="264160">
                <a:moveTo>
                  <a:pt x="132080" y="0"/>
                </a:moveTo>
                <a:lnTo>
                  <a:pt x="777240" y="0"/>
                </a:lnTo>
                <a:arcTo hR="132080" wR="132080" stAng="16200000" swAng="5400000"/>
                <a:lnTo>
                  <a:pt x="909320" y="132080"/>
                </a:lnTo>
                <a:arcTo hR="132080" wR="132080" stAng="0" swAng="5400000"/>
                <a:lnTo>
                  <a:pt x="132080" y="264160"/>
                </a:lnTo>
                <a:arcTo hR="132080" wR="132080" stAng="5400000" swAng="5400000"/>
                <a:lnTo>
                  <a:pt x="0" y="132080"/>
                </a:lnTo>
                <a:arcTo hR="132080" wR="132080" stAng="10800000" swAng="5400000"/>
                <a:close/>
              </a:path>
            </a:pathLst>
          </a:custGeom>
          <a:solidFill>
            <a:srgbClr val="EDE9DF"/>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Sesión 5</a:t>
            </a:r>
            <a:endParaRPr lang="en-US" sz="1200" dirty="0"/>
          </a:p>
        </p:txBody>
      </p:sp>
      <p:sp>
        <p:nvSpPr>
          <p:cNvPr id="15" name="Text 13"/>
          <p:cNvSpPr/>
          <p:nvPr/>
        </p:nvSpPr>
        <p:spPr>
          <a:xfrm>
            <a:off x="9034780" y="2382515"/>
            <a:ext cx="2226386"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Una sección con la grilla y utilidades de Bootstrap</a:t>
            </a:r>
            <a:endParaRPr lang="en-US" sz="1300" dirty="0"/>
          </a:p>
        </p:txBody>
      </p:sp>
      <p:sp>
        <p:nvSpPr>
          <p:cNvPr id="16" name="Shape 14"/>
          <p:cNvSpPr/>
          <p:nvPr/>
        </p:nvSpPr>
        <p:spPr>
          <a:xfrm>
            <a:off x="815975" y="3364235"/>
            <a:ext cx="2520950" cy="1317625"/>
          </a:xfrm>
          <a:prstGeom prst="roundRect">
            <a:avLst>
              <a:gd name="adj" fmla="val 7470"/>
            </a:avLst>
          </a:prstGeom>
          <a:solidFill>
            <a:srgbClr val="FFFDF8"/>
          </a:solidFill>
          <a:ln w="6350">
            <a:solidFill>
              <a:srgbClr val="E4DFD3"/>
            </a:solidFill>
            <a:prstDash val="solid"/>
          </a:ln>
        </p:spPr>
      </p:sp>
      <p:sp>
        <p:nvSpPr>
          <p:cNvPr id="17" name="Text 15"/>
          <p:cNvSpPr/>
          <p:nvPr/>
        </p:nvSpPr>
        <p:spPr>
          <a:xfrm>
            <a:off x="995680" y="3518545"/>
            <a:ext cx="909320" cy="264160"/>
          </a:xfrm>
          <a:custGeom>
            <a:avLst/>
            <a:gdLst/>
            <a:ahLst/>
            <a:cxnLst/>
            <a:rect l="l" t="t" r="r" b="b"/>
            <a:pathLst>
              <a:path w="909320" h="264160">
                <a:moveTo>
                  <a:pt x="132080" y="0"/>
                </a:moveTo>
                <a:lnTo>
                  <a:pt x="777240" y="0"/>
                </a:lnTo>
                <a:arcTo hR="132080" wR="132080" stAng="16200000" swAng="5400000"/>
                <a:lnTo>
                  <a:pt x="909320" y="132080"/>
                </a:lnTo>
                <a:arcTo hR="132080" wR="132080" stAng="0" swAng="5400000"/>
                <a:lnTo>
                  <a:pt x="132080" y="264160"/>
                </a:lnTo>
                <a:arcTo hR="132080" wR="132080" stAng="5400000" swAng="5400000"/>
                <a:lnTo>
                  <a:pt x="0" y="132080"/>
                </a:lnTo>
                <a:arcTo hR="132080" wR="132080" stAng="10800000" swAng="5400000"/>
                <a:close/>
              </a:path>
            </a:pathLst>
          </a:custGeom>
          <a:solidFill>
            <a:srgbClr val="EDE9DF"/>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Sesión 6</a:t>
            </a:r>
            <a:endParaRPr lang="en-US" sz="1200" dirty="0"/>
          </a:p>
        </p:txBody>
      </p:sp>
      <p:sp>
        <p:nvSpPr>
          <p:cNvPr id="18" name="Text 16"/>
          <p:cNvSpPr/>
          <p:nvPr/>
        </p:nvSpPr>
        <p:spPr>
          <a:xfrm>
            <a:off x="995680" y="3858890"/>
            <a:ext cx="2226386"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Landing con componentes de Bootstrap y tu paleta</a:t>
            </a:r>
            <a:endParaRPr lang="en-US" sz="1300" dirty="0"/>
          </a:p>
        </p:txBody>
      </p:sp>
      <p:sp>
        <p:nvSpPr>
          <p:cNvPr id="19" name="Shape 17"/>
          <p:cNvSpPr/>
          <p:nvPr/>
        </p:nvSpPr>
        <p:spPr>
          <a:xfrm>
            <a:off x="3495675" y="3364235"/>
            <a:ext cx="2520950" cy="1317625"/>
          </a:xfrm>
          <a:prstGeom prst="roundRect">
            <a:avLst>
              <a:gd name="adj" fmla="val 7470"/>
            </a:avLst>
          </a:prstGeom>
          <a:solidFill>
            <a:srgbClr val="FFFDF8"/>
          </a:solidFill>
          <a:ln w="6350">
            <a:solidFill>
              <a:srgbClr val="E4DFD3"/>
            </a:solidFill>
            <a:prstDash val="solid"/>
          </a:ln>
        </p:spPr>
      </p:sp>
      <p:sp>
        <p:nvSpPr>
          <p:cNvPr id="20" name="Text 18"/>
          <p:cNvSpPr/>
          <p:nvPr/>
        </p:nvSpPr>
        <p:spPr>
          <a:xfrm>
            <a:off x="3675380" y="3518545"/>
            <a:ext cx="909320" cy="264160"/>
          </a:xfrm>
          <a:custGeom>
            <a:avLst/>
            <a:gdLst/>
            <a:ahLst/>
            <a:cxnLst/>
            <a:rect l="l" t="t" r="r" b="b"/>
            <a:pathLst>
              <a:path w="909320" h="264160">
                <a:moveTo>
                  <a:pt x="132080" y="0"/>
                </a:moveTo>
                <a:lnTo>
                  <a:pt x="777240" y="0"/>
                </a:lnTo>
                <a:arcTo hR="132080" wR="132080" stAng="16200000" swAng="5400000"/>
                <a:lnTo>
                  <a:pt x="909320" y="132080"/>
                </a:lnTo>
                <a:arcTo hR="132080" wR="132080" stAng="0" swAng="5400000"/>
                <a:lnTo>
                  <a:pt x="132080" y="264160"/>
                </a:lnTo>
                <a:arcTo hR="132080" wR="132080" stAng="5400000" swAng="5400000"/>
                <a:lnTo>
                  <a:pt x="0" y="132080"/>
                </a:lnTo>
                <a:arcTo hR="132080" wR="132080" stAng="10800000" swAng="5400000"/>
                <a:close/>
              </a:path>
            </a:pathLst>
          </a:custGeom>
          <a:solidFill>
            <a:srgbClr val="EDE9DF"/>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Sesión 7</a:t>
            </a:r>
            <a:endParaRPr lang="en-US" sz="1200" dirty="0"/>
          </a:p>
        </p:txBody>
      </p:sp>
      <p:sp>
        <p:nvSpPr>
          <p:cNvPr id="21" name="Text 19"/>
          <p:cNvSpPr/>
          <p:nvPr/>
        </p:nvSpPr>
        <p:spPr>
          <a:xfrm>
            <a:off x="3675380" y="3858890"/>
            <a:ext cx="2226386"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Componentes básicos con Tailwind</a:t>
            </a:r>
            <a:endParaRPr lang="en-US" sz="1300" dirty="0"/>
          </a:p>
        </p:txBody>
      </p:sp>
      <p:sp>
        <p:nvSpPr>
          <p:cNvPr id="22" name="Shape 20"/>
          <p:cNvSpPr/>
          <p:nvPr/>
        </p:nvSpPr>
        <p:spPr>
          <a:xfrm>
            <a:off x="6175375" y="3364235"/>
            <a:ext cx="2520950" cy="1317625"/>
          </a:xfrm>
          <a:prstGeom prst="roundRect">
            <a:avLst>
              <a:gd name="adj" fmla="val 7470"/>
            </a:avLst>
          </a:prstGeom>
          <a:solidFill>
            <a:srgbClr val="FFFDF8"/>
          </a:solidFill>
          <a:ln w="6350">
            <a:solidFill>
              <a:srgbClr val="E4DFD3"/>
            </a:solidFill>
            <a:prstDash val="solid"/>
          </a:ln>
        </p:spPr>
      </p:sp>
      <p:sp>
        <p:nvSpPr>
          <p:cNvPr id="23" name="Text 21"/>
          <p:cNvSpPr/>
          <p:nvPr/>
        </p:nvSpPr>
        <p:spPr>
          <a:xfrm>
            <a:off x="6355080" y="3518545"/>
            <a:ext cx="909320" cy="264160"/>
          </a:xfrm>
          <a:custGeom>
            <a:avLst/>
            <a:gdLst/>
            <a:ahLst/>
            <a:cxnLst/>
            <a:rect l="l" t="t" r="r" b="b"/>
            <a:pathLst>
              <a:path w="909320" h="264160">
                <a:moveTo>
                  <a:pt x="132080" y="0"/>
                </a:moveTo>
                <a:lnTo>
                  <a:pt x="777240" y="0"/>
                </a:lnTo>
                <a:arcTo hR="132080" wR="132080" stAng="16200000" swAng="5400000"/>
                <a:lnTo>
                  <a:pt x="909320" y="132080"/>
                </a:lnTo>
                <a:arcTo hR="132080" wR="132080" stAng="0" swAng="5400000"/>
                <a:lnTo>
                  <a:pt x="132080" y="264160"/>
                </a:lnTo>
                <a:arcTo hR="132080" wR="132080" stAng="5400000" swAng="5400000"/>
                <a:lnTo>
                  <a:pt x="0" y="132080"/>
                </a:lnTo>
                <a:arcTo hR="132080" wR="132080" stAng="10800000" swAng="5400000"/>
                <a:close/>
              </a:path>
            </a:pathLst>
          </a:custGeom>
          <a:solidFill>
            <a:srgbClr val="EDE9DF"/>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Sesión 8</a:t>
            </a:r>
            <a:endParaRPr lang="en-US" sz="1200" dirty="0"/>
          </a:p>
        </p:txBody>
      </p:sp>
      <p:sp>
        <p:nvSpPr>
          <p:cNvPr id="24" name="Text 22"/>
          <p:cNvSpPr/>
          <p:nvPr/>
        </p:nvSpPr>
        <p:spPr>
          <a:xfrm>
            <a:off x="6355080" y="3858890"/>
            <a:ext cx="2226386"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Página en Tailwind y justificación del framework elegido</a:t>
            </a:r>
            <a:endParaRPr lang="en-US" sz="1300" dirty="0"/>
          </a:p>
        </p:txBody>
      </p:sp>
      <p:sp>
        <p:nvSpPr>
          <p:cNvPr id="25" name="Shape 23"/>
          <p:cNvSpPr/>
          <p:nvPr/>
        </p:nvSpPr>
        <p:spPr>
          <a:xfrm>
            <a:off x="8858250" y="3367410"/>
            <a:ext cx="2514600" cy="1311275"/>
          </a:xfrm>
          <a:prstGeom prst="roundRect">
            <a:avLst>
              <a:gd name="adj" fmla="val 7264"/>
            </a:avLst>
          </a:prstGeom>
          <a:solidFill>
            <a:srgbClr val="FFFDF8"/>
          </a:solidFill>
          <a:ln w="12700">
            <a:solidFill>
              <a:srgbClr val="E8572A"/>
            </a:solidFill>
            <a:prstDash val="solid"/>
          </a:ln>
        </p:spPr>
      </p:sp>
      <p:sp>
        <p:nvSpPr>
          <p:cNvPr id="26" name="Text 24"/>
          <p:cNvSpPr/>
          <p:nvPr/>
        </p:nvSpPr>
        <p:spPr>
          <a:xfrm>
            <a:off x="9039860" y="3523630"/>
            <a:ext cx="909320" cy="264160"/>
          </a:xfrm>
          <a:custGeom>
            <a:avLst/>
            <a:gdLst/>
            <a:ahLst/>
            <a:cxnLst/>
            <a:rect l="l" t="t" r="r" b="b"/>
            <a:pathLst>
              <a:path w="909320" h="264160">
                <a:moveTo>
                  <a:pt x="132080" y="0"/>
                </a:moveTo>
                <a:lnTo>
                  <a:pt x="777240" y="0"/>
                </a:lnTo>
                <a:arcTo hR="132080" wR="132080" stAng="16200000" swAng="5400000"/>
                <a:lnTo>
                  <a:pt x="909320" y="132080"/>
                </a:lnTo>
                <a:arcTo hR="132080" wR="132080" stAng="0" swAng="5400000"/>
                <a:lnTo>
                  <a:pt x="132080" y="264160"/>
                </a:lnTo>
                <a:arcTo hR="132080" wR="132080" stAng="5400000" swAng="5400000"/>
                <a:lnTo>
                  <a:pt x="0" y="132080"/>
                </a:lnTo>
                <a:arcTo hR="132080" wR="132080" stAng="10800000" swAng="5400000"/>
                <a:close/>
              </a:path>
            </a:pathLst>
          </a:custGeom>
          <a:solidFill>
            <a:srgbClr val="E8572A"/>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Sesión 9</a:t>
            </a:r>
            <a:endParaRPr lang="en-US" sz="1200" dirty="0"/>
          </a:p>
        </p:txBody>
      </p:sp>
      <p:sp>
        <p:nvSpPr>
          <p:cNvPr id="27" name="Text 25"/>
          <p:cNvSpPr/>
          <p:nvPr/>
        </p:nvSpPr>
        <p:spPr>
          <a:xfrm>
            <a:off x="9039860" y="3863975"/>
            <a:ext cx="221592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045"/>
                </a:solidFill>
                <a:latin typeface="Space Grotesk" pitchFamily="34" charset="0"/>
                <a:ea typeface="Space Grotesk" pitchFamily="34" charset="-122"/>
                <a:cs typeface="Space Grotesk" pitchFamily="34" charset="-120"/>
              </a:rPr>
              <a:t>Entrega final y sustentación</a:t>
            </a:r>
            <a:endParaRPr lang="en-US" sz="1300" dirty="0"/>
          </a:p>
        </p:txBody>
      </p:sp>
      <p:sp>
        <p:nvSpPr>
          <p:cNvPr id="28" name="Text 26"/>
          <p:cNvSpPr/>
          <p:nvPr/>
        </p:nvSpPr>
        <p:spPr>
          <a:xfrm>
            <a:off x="812800" y="4939035"/>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475"/>
                </a:solidFill>
                <a:latin typeface="Space Grotesk" pitchFamily="34" charset="0"/>
                <a:ea typeface="Space Grotesk" pitchFamily="34" charset="-122"/>
                <a:cs typeface="Space Grotesk" pitchFamily="34" charset="-120"/>
              </a:rPr>
              <a:t>Prueba cada framework en su propia rama de Git y lleva a main el que elijas.</a:t>
            </a:r>
            <a:endParaRPr lang="en-US" sz="1300" dirty="0"/>
          </a:p>
        </p:txBody>
      </p:sp>
      <p:sp>
        <p:nvSpPr>
          <p:cNvPr id="29" name="Text 27"/>
          <p:cNvSpPr/>
          <p:nvPr/>
        </p:nvSpPr>
        <p:spPr>
          <a:xfrm>
            <a:off x="812800" y="62382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04 · PROYECTO MODULAR</a:t>
            </a:r>
            <a:endParaRPr lang="en-US" sz="1200" dirty="0"/>
          </a:p>
        </p:txBody>
      </p:sp>
      <p:sp>
        <p:nvSpPr>
          <p:cNvPr id="3" name="Text 1"/>
          <p:cNvSpPr/>
          <p:nvPr>
            <p:ph type="title"/>
          </p:nvPr>
        </p:nvSpPr>
        <p:spPr>
          <a:xfrm>
            <a:off x="812800" y="112777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Así se evalúa</a:t>
            </a:r>
            <a:endParaRPr lang="en-US" sz="3600" dirty="0"/>
          </a:p>
        </p:txBody>
      </p:sp>
      <p:sp>
        <p:nvSpPr>
          <p:cNvPr id="4" name="Shape 2"/>
          <p:cNvSpPr/>
          <p:nvPr/>
        </p:nvSpPr>
        <p:spPr>
          <a:xfrm>
            <a:off x="812800" y="1859285"/>
            <a:ext cx="10566400" cy="3227070"/>
          </a:xfrm>
          <a:custGeom>
            <a:avLst/>
            <a:gdLst/>
            <a:ahLst/>
            <a:cxnLst/>
            <a:rect l="l" t="t" r="r" b="b"/>
            <a:pathLst>
              <a:path w="10566400" h="3227070">
                <a:moveTo>
                  <a:pt x="10490200" y="0"/>
                </a:moveTo>
                <a:lnTo>
                  <a:pt x="10490200" y="0"/>
                </a:lnTo>
                <a:arcTo hR="76200" wR="76200" stAng="16200000" swAng="5400000"/>
                <a:lnTo>
                  <a:pt x="10566400" y="3150870"/>
                </a:lnTo>
                <a:arcTo hR="76200" wR="76200" stAng="0" swAng="5400000"/>
                <a:lnTo>
                  <a:pt x="76200" y="3227070"/>
                </a:lnTo>
                <a:arcTo hR="76200" wR="76200" stAng="5400000" swAng="5400000"/>
                <a:lnTo>
                  <a:pt x="0" y="3150870"/>
                </a:lnTo>
                <a:arcTo hR="69850" wR="76200" stAng="10800000" swAng="-5400000"/>
                <a:lnTo>
                  <a:pt x="10490200" y="3220720"/>
                </a:lnTo>
                <a:arcTo hR="69850" wR="69850" stAng="5400000" swAng="-5400000"/>
                <a:lnTo>
                  <a:pt x="10560050" y="76200"/>
                </a:lnTo>
                <a:arcTo hR="76200" wR="69850" stAng="0" swAng="-5400000"/>
                <a:close/>
              </a:path>
            </a:pathLst>
          </a:custGeom>
          <a:solidFill>
            <a:srgbClr val="E4DFD3"/>
          </a:solidFill>
          <a:ln/>
        </p:spPr>
      </p:sp>
      <p:sp>
        <p:nvSpPr>
          <p:cNvPr id="5" name="Shape 3"/>
          <p:cNvSpPr/>
          <p:nvPr/>
        </p:nvSpPr>
        <p:spPr>
          <a:xfrm>
            <a:off x="812800" y="1859285"/>
            <a:ext cx="10566400" cy="3227070"/>
          </a:xfrm>
          <a:custGeom>
            <a:avLst/>
            <a:gdLst/>
            <a:ahLst/>
            <a:cxnLst/>
            <a:rect l="l" t="t" r="r" b="b"/>
            <a:pathLst>
              <a:path w="10566400" h="3227070">
                <a:moveTo>
                  <a:pt x="76200" y="3227070"/>
                </a:moveTo>
                <a:lnTo>
                  <a:pt x="76200" y="3227070"/>
                </a:lnTo>
                <a:arcTo hR="76200" wR="76200" stAng="5400000" swAng="5400000"/>
                <a:lnTo>
                  <a:pt x="0" y="76200"/>
                </a:lnTo>
                <a:arcTo hR="76200" wR="76200" stAng="10800000" swAng="5400000"/>
                <a:lnTo>
                  <a:pt x="10490200" y="0"/>
                </a:lnTo>
                <a:arcTo hR="76200" wR="76200" stAng="16200000" swAng="5400000"/>
                <a:lnTo>
                  <a:pt x="10566400" y="76200"/>
                </a:lnTo>
                <a:arcTo hR="66040" wR="76200" stAng="0" swAng="-5400000"/>
                <a:lnTo>
                  <a:pt x="76200" y="10160"/>
                </a:lnTo>
                <a:arcTo hR="66040" wR="66040" stAng="16200000" swAng="-5400000"/>
                <a:lnTo>
                  <a:pt x="10160" y="3150870"/>
                </a:lnTo>
                <a:arcTo hR="76200" wR="6604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69445"/>
          <a:ext cx="10551160" cy="3211830"/>
        </p:xfrm>
        <a:graphic>
          <a:graphicData uri="http://schemas.openxmlformats.org/drawingml/2006/table">
            <a:tbl>
              <a:tblPr/>
              <a:tblGrid>
                <a:gridCol w="3165348"/>
                <a:gridCol w="6119673"/>
                <a:gridCol w="1266139"/>
              </a:tblGrid>
              <a:tr h="356870">
                <a:tc>
                  <a:txBody>
                    <a:bodyPr/>
                    <a:lstStyle/>
                    <a:p>
                      <a:pPr indent="0" marL="0">
                        <a:lnSpc>
                          <a:spcPts val="1820"/>
                        </a:lnSpc>
                        <a:buNone/>
                      </a:pPr>
                      <a:r>
                        <a:rPr lang="en-US" sz="1300" b="1" dirty="0">
                          <a:solidFill>
                            <a:srgbClr val="F7F5EF"/>
                          </a:solidFill>
                          <a:latin typeface="Space Grotesk" pitchFamily="34" charset="0"/>
                          <a:ea typeface="Space Grotesk" pitchFamily="34" charset="-122"/>
                          <a:cs typeface="Space Grotesk" pitchFamily="34" charset="-120"/>
                        </a:rPr>
                        <a:t>Criterio</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c>
                  <a:txBody>
                    <a:bodyPr/>
                    <a:lstStyle/>
                    <a:p>
                      <a:pPr indent="0" marL="0">
                        <a:lnSpc>
                          <a:spcPts val="1820"/>
                        </a:lnSpc>
                        <a:buNone/>
                      </a:pPr>
                      <a:r>
                        <a:rPr lang="en-US" sz="1300" b="1" dirty="0">
                          <a:solidFill>
                            <a:srgbClr val="F7F5EF"/>
                          </a:solidFill>
                          <a:latin typeface="Space Grotesk" pitchFamily="34" charset="0"/>
                          <a:ea typeface="Space Grotesk" pitchFamily="34" charset="-122"/>
                          <a:cs typeface="Space Grotesk" pitchFamily="34" charset="-120"/>
                        </a:rPr>
                        <a:t>Qué se revisa</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141726"/>
                      </a:solidFill>
                      <a:prstDash val="solid"/>
                      <a:round/>
                      <a:headEnd type="none" w="med" len="med"/>
                      <a:tailEnd type="none" w="med" len="med"/>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c>
                  <a:txBody>
                    <a:bodyPr/>
                    <a:lstStyle/>
                    <a:p>
                      <a:pPr algn="r" indent="0" marL="0">
                        <a:lnSpc>
                          <a:spcPts val="1820"/>
                        </a:lnSpc>
                        <a:buNone/>
                      </a:pPr>
                      <a:r>
                        <a:rPr lang="en-US" sz="1300" b="1" dirty="0">
                          <a:solidFill>
                            <a:srgbClr val="F7F5EF"/>
                          </a:solidFill>
                          <a:latin typeface="Space Grotesk" pitchFamily="34" charset="0"/>
                          <a:ea typeface="Space Grotesk" pitchFamily="34" charset="-122"/>
                          <a:cs typeface="Space Grotesk" pitchFamily="34" charset="-120"/>
                        </a:rPr>
                        <a:t>Peso</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141726"/>
                      </a:solidFill>
                      <a:prstDash val="solid"/>
                      <a:round/>
                      <a:headEnd type="none" w="med" len="med"/>
                      <a:tailEnd type="none" w="med" len="med"/>
                    </a:lnL>
                    <a:lnR w="12700" cap="flat" cmpd="sng" algn="ctr">
                      <a:solidFill>
                        <a:srgbClr val="141726"/>
                      </a:solidFill>
                      <a:prstDash val="solid"/>
                      <a:round/>
                      <a:headEnd type="none" w="med" len="med"/>
                      <a:tailEnd type="none" w="med" len="med"/>
                    </a:lnR>
                    <a:lnT w="0" cap="flat" cmpd="sng" algn="ctr">
                      <a:noFill/>
                    </a:lnT>
                    <a:lnB w="12700" cap="flat" cmpd="sng" algn="ctr">
                      <a:solidFill>
                        <a:srgbClr val="141726"/>
                      </a:solidFill>
                      <a:prstDash val="solid"/>
                      <a:round/>
                      <a:headEnd type="none" w="med" len="med"/>
                      <a:tailEnd type="none" w="med" len="med"/>
                    </a:lnB>
                    <a:solidFill>
                      <a:srgbClr val="14182B"/>
                    </a:solidFill>
                  </a:tcPr>
                </a:tc>
              </a:tr>
              <a:tr h="356870">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HTML semántico y válido</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Landmarks, encabezados sin saltos, 0 errores en el validador</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15 %</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26"/>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6870">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Accesibilidad</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alt, contraste AA, teclado, labels; Lighthouse de 90 o más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algn="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15 %</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r h="356870">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Formulario de contacto</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Controles adecuados, labels, validación y autorización de datos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10 %</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6870">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Responsive</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Celular, tablet y escritorio sin desplazamiento horizontal</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algn="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15 %</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r h="356870">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Uso del framework</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Bootstrap o Tailwind bien usado y personalizado</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15 %</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6870">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Identidad visual</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Paleta, tipografía y espaciados consistentes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algn="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10 %</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r h="356870">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Git, Pages y README</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Commits claros, sitio publicado, README completo</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10 %</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6870">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Sustentación</a:t>
                      </a:r>
                      <a:endParaRPr lang="en-US" sz="1300" dirty="0">
                        <a:latin typeface="Space Grotesk" charset="0"/>
                        <a:ea typeface="Space Grotesk" charset="0"/>
                        <a:cs typeface="Space Grotesk" charset="0"/>
                      </a:endParaRPr>
                    </a:p>
                  </a:txBody>
                  <a:tcPr marL="57785" marR="57785" marT="57785" marB="57785" anchor="t">
                    <a:lnL w="0" cap="flat" cmpd="sng" algn="ctr">
                      <a:noFill/>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Explicas tus decisiones de estructura, framework y responsive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c>
                  <a:txBody>
                    <a:bodyPr/>
                    <a:lstStyle/>
                    <a:p>
                      <a:pPr algn="r"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10 %</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0BDB5"/>
                      </a:solidFill>
                      <a:prstDash val="solid"/>
                      <a:round/>
                      <a:headEnd type="none" w="med" len="med"/>
                      <a:tailEnd type="none" w="med" len="med"/>
                    </a:lnL>
                    <a:lnR w="12700" cap="flat" cmpd="sng" algn="ctr">
                      <a:solidFill>
                        <a:srgbClr val="C0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DB5"/>
                      </a:solidFill>
                      <a:prstDash val="solid"/>
                      <a:round/>
                      <a:headEnd type="none" w="med" len="med"/>
                      <a:tailEnd type="none" w="med" len="med"/>
                    </a:lnB>
                    <a:solidFill>
                      <a:srgbClr val="F1EDE3"/>
                    </a:solidFill>
                  </a:tcPr>
                </a:tc>
              </a:tr>
            </a:tbl>
          </a:graphicData>
        </a:graphic>
      </p:graphicFrame>
      <p:sp>
        <p:nvSpPr>
          <p:cNvPr id="7" name="Text 4"/>
          <p:cNvSpPr/>
          <p:nvPr/>
        </p:nvSpPr>
        <p:spPr>
          <a:xfrm>
            <a:off x="812800" y="5314950"/>
            <a:ext cx="108833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475"/>
                </a:solidFill>
                <a:latin typeface="Space Grotesk" pitchFamily="34" charset="0"/>
                <a:ea typeface="Space Grotesk" pitchFamily="34" charset="-122"/>
                <a:cs typeface="Space Grotesk" pitchFamily="34" charset="-120"/>
              </a:rPr>
              <a:t>Cada criterio tiene cuatro niveles: destacado, cumple, en proceso y no cumple. El detalle está en el documento del proyecto modular.</a:t>
            </a:r>
            <a:endParaRPr lang="en-US" sz="1300" dirty="0"/>
          </a:p>
        </p:txBody>
      </p:sp>
      <p:sp>
        <p:nvSpPr>
          <p:cNvPr id="8" name="Text 5"/>
          <p:cNvSpPr/>
          <p:nvPr/>
        </p:nvSpPr>
        <p:spPr>
          <a:xfrm>
            <a:off x="812800" y="62382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04 · PROYECTO MODULAR</a:t>
            </a:r>
            <a:endParaRPr lang="en-US" sz="1200" dirty="0"/>
          </a:p>
        </p:txBody>
      </p:sp>
      <p:sp>
        <p:nvSpPr>
          <p:cNvPr id="3" name="Text 1"/>
          <p:cNvSpPr/>
          <p:nvPr>
            <p:ph type="title"/>
          </p:nvPr>
        </p:nvSpPr>
        <p:spPr>
          <a:xfrm>
            <a:off x="812800" y="112777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2B"/>
                </a:solidFill>
                <a:latin typeface="Space Grotesk" pitchFamily="34" charset="0"/>
                <a:ea typeface="Space Grotesk" pitchFamily="34" charset="-122"/>
                <a:cs typeface="Space Grotesk" pitchFamily="34" charset="-120"/>
              </a:rPr>
              <a:t>Antes del código: el plan</a:t>
            </a:r>
            <a:endParaRPr lang="en-US" sz="3600" dirty="0"/>
          </a:p>
        </p:txBody>
      </p:sp>
      <p:sp>
        <p:nvSpPr>
          <p:cNvPr id="4" name="Shape 2"/>
          <p:cNvSpPr/>
          <p:nvPr/>
        </p:nvSpPr>
        <p:spPr>
          <a:xfrm>
            <a:off x="815975" y="1938660"/>
            <a:ext cx="3397250" cy="2244090"/>
          </a:xfrm>
          <a:prstGeom prst="roundRect">
            <a:avLst>
              <a:gd name="adj" fmla="val 4386"/>
            </a:avLst>
          </a:prstGeom>
          <a:solidFill>
            <a:srgbClr val="FFFDF8"/>
          </a:solidFill>
          <a:ln w="6350">
            <a:solidFill>
              <a:srgbClr val="E4DFD3"/>
            </a:solidFill>
            <a:prstDash val="solid"/>
          </a:ln>
        </p:spPr>
      </p:sp>
      <p:sp>
        <p:nvSpPr>
          <p:cNvPr id="5" name="Text 3"/>
          <p:cNvSpPr/>
          <p:nvPr/>
        </p:nvSpPr>
        <p:spPr>
          <a:xfrm>
            <a:off x="1021080" y="2143770"/>
            <a:ext cx="284480" cy="299720"/>
          </a:xfrm>
          <a:prstGeom prst="roundRect">
            <a:avLst>
              <a:gd name="adj" fmla="val 17857"/>
            </a:avLst>
          </a:prstGeom>
          <a:solidFill>
            <a:srgbClr val="E8572A"/>
          </a:solidFill>
          <a:ln/>
        </p:spPr>
        <p:txBody>
          <a:bodyPr wrap="none" lIns="0" tIns="0" rIns="0" bIns="0" rtlCol="0" anchor="ctr">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1</a:t>
            </a:r>
            <a:endParaRPr lang="en-US" sz="1400" dirty="0"/>
          </a:p>
        </p:txBody>
      </p:sp>
      <p:sp>
        <p:nvSpPr>
          <p:cNvPr id="6" name="Text 4"/>
          <p:cNvSpPr/>
          <p:nvPr/>
        </p:nvSpPr>
        <p:spPr>
          <a:xfrm>
            <a:off x="1021080" y="2532385"/>
            <a:ext cx="307665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Ficha del negocio</a:t>
            </a:r>
            <a:endParaRPr lang="en-US" sz="1600" dirty="0"/>
          </a:p>
        </p:txBody>
      </p:sp>
      <p:sp>
        <p:nvSpPr>
          <p:cNvPr id="7" name="Text 5"/>
          <p:cNvSpPr/>
          <p:nvPr/>
        </p:nvSpPr>
        <p:spPr>
          <a:xfrm>
            <a:off x="1021080" y="2865115"/>
            <a:ext cx="307665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045"/>
                </a:solidFill>
                <a:latin typeface="Space Grotesk" pitchFamily="34" charset="0"/>
                <a:ea typeface="Space Grotesk" pitchFamily="34" charset="-122"/>
                <a:cs typeface="Space Grotesk" pitchFamily="34" charset="-120"/>
              </a:rPr>
              <a:t>Nombre, qué vende, a quién y con qué tono le habla.</a:t>
            </a:r>
            <a:endParaRPr lang="en-US" sz="1300" dirty="0"/>
          </a:p>
        </p:txBody>
      </p:sp>
      <p:sp>
        <p:nvSpPr>
          <p:cNvPr id="8" name="Shape 6"/>
          <p:cNvSpPr/>
          <p:nvPr/>
        </p:nvSpPr>
        <p:spPr>
          <a:xfrm>
            <a:off x="4397375" y="1938660"/>
            <a:ext cx="3397250" cy="2244090"/>
          </a:xfrm>
          <a:prstGeom prst="roundRect">
            <a:avLst>
              <a:gd name="adj" fmla="val 4386"/>
            </a:avLst>
          </a:prstGeom>
          <a:solidFill>
            <a:srgbClr val="FFFDF8"/>
          </a:solidFill>
          <a:ln w="6350">
            <a:solidFill>
              <a:srgbClr val="E4DFD3"/>
            </a:solidFill>
            <a:prstDash val="solid"/>
          </a:ln>
        </p:spPr>
      </p:sp>
      <p:sp>
        <p:nvSpPr>
          <p:cNvPr id="9" name="Text 7"/>
          <p:cNvSpPr/>
          <p:nvPr/>
        </p:nvSpPr>
        <p:spPr>
          <a:xfrm>
            <a:off x="4602480" y="2143770"/>
            <a:ext cx="284480" cy="299720"/>
          </a:xfrm>
          <a:prstGeom prst="roundRect">
            <a:avLst>
              <a:gd name="adj" fmla="val 17857"/>
            </a:avLst>
          </a:prstGeom>
          <a:solidFill>
            <a:srgbClr val="E8572A"/>
          </a:solidFill>
          <a:ln/>
        </p:spPr>
        <p:txBody>
          <a:bodyPr wrap="none" lIns="0" tIns="0" rIns="0" bIns="0" rtlCol="0" anchor="ctr">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2</a:t>
            </a:r>
            <a:endParaRPr lang="en-US" sz="1400" dirty="0"/>
          </a:p>
        </p:txBody>
      </p:sp>
      <p:sp>
        <p:nvSpPr>
          <p:cNvPr id="10" name="Text 8"/>
          <p:cNvSpPr/>
          <p:nvPr/>
        </p:nvSpPr>
        <p:spPr>
          <a:xfrm>
            <a:off x="4602480" y="2532385"/>
            <a:ext cx="307665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Mapa del sitio</a:t>
            </a:r>
            <a:endParaRPr lang="en-US" sz="1600" dirty="0"/>
          </a:p>
        </p:txBody>
      </p:sp>
      <p:sp>
        <p:nvSpPr>
          <p:cNvPr id="11" name="Text 9"/>
          <p:cNvSpPr/>
          <p:nvPr/>
        </p:nvSpPr>
        <p:spPr>
          <a:xfrm>
            <a:off x="4602480" y="2865115"/>
            <a:ext cx="2987040" cy="1112520"/>
          </a:xfrm>
          <a:prstGeom prst="roundRect">
            <a:avLst>
              <a:gd name="adj" fmla="val 6849"/>
            </a:avLst>
          </a:prstGeom>
          <a:solidFill>
            <a:srgbClr val="1C2137"/>
          </a:solidFill>
          <a:ln/>
        </p:spPr>
        <p:txBody>
          <a:bodyPr wrap="square" lIns="117382" tIns="91982" rIns="36153" bIns="66582" rtlCol="0" anchor="t">
            <a:normAutofit/>
          </a:bodyPr>
          <a:lstStyle/>
          <a:p>
            <a:pPr algn="l" indent="0" marL="0">
              <a:lnSpc>
                <a:spcPts val="1740"/>
              </a:lnSpc>
              <a:buNone/>
            </a:pPr>
            <a:r>
              <a:rPr lang="en-US" sz="1200" dirty="0">
                <a:solidFill>
                  <a:srgbClr val="E8E6E1"/>
                </a:solidFill>
                <a:latin typeface="JetBrains Mono" pitchFamily="49" charset="0"/>
                <a:ea typeface="JetBrains Mono" pitchFamily="49" charset="-122"/>
                <a:cs typeface="JetBrains Mono" pitchFamily="49" charset="-120"/>
              </a:rPr>
              <a:t>index.html</a:t>
            </a:r>
            <a:endParaRPr lang="en-US" sz="1200" dirty="0"/>
          </a:p>
          <a:p>
            <a:pPr algn="l" indent="0" marL="0">
              <a:lnSpc>
                <a:spcPts val="1740"/>
              </a:lnSpc>
              <a:buNone/>
            </a:pPr>
            <a:r>
              <a:rPr lang="en-US" sz="1200" dirty="0">
                <a:solidFill>
                  <a:srgbClr val="9AA3B8"/>
                </a:solidFill>
                <a:latin typeface="JetBrains Mono" pitchFamily="49" charset="0"/>
                <a:ea typeface="JetBrains Mono" pitchFamily="49" charset="-122"/>
                <a:cs typeface="JetBrains Mono" pitchFamily="49" charset="-120"/>
              </a:rPr>
              <a:t>├──</a:t>
            </a:r>
            <a:r>
              <a:rPr lang="en-US" sz="1200" dirty="0">
                <a:solidFill>
                  <a:srgbClr val="E8E6E1"/>
                </a:solidFill>
                <a:latin typeface="JetBrains Mono" pitchFamily="49" charset="0"/>
                <a:ea typeface="JetBrains Mono" pitchFamily="49" charset="-122"/>
                <a:cs typeface="JetBrains Mono" pitchFamily="49" charset="-120"/>
              </a:rPr>
              <a:t> servicios.html</a:t>
            </a:r>
            <a:endParaRPr lang="en-US" sz="1200" dirty="0"/>
          </a:p>
          <a:p>
            <a:pPr algn="l" indent="0" marL="0">
              <a:lnSpc>
                <a:spcPts val="1740"/>
              </a:lnSpc>
              <a:buNone/>
            </a:pPr>
            <a:r>
              <a:rPr lang="en-US" sz="1200" dirty="0">
                <a:solidFill>
                  <a:srgbClr val="9AA3B8"/>
                </a:solidFill>
                <a:latin typeface="JetBrains Mono" pitchFamily="49" charset="0"/>
                <a:ea typeface="JetBrains Mono" pitchFamily="49" charset="-122"/>
                <a:cs typeface="JetBrains Mono" pitchFamily="49" charset="-120"/>
              </a:rPr>
              <a:t>└──</a:t>
            </a:r>
            <a:r>
              <a:rPr lang="en-US" sz="1200" dirty="0">
                <a:solidFill>
                  <a:srgbClr val="E8E6E1"/>
                </a:solidFill>
                <a:latin typeface="JetBrains Mono" pitchFamily="49" charset="0"/>
                <a:ea typeface="JetBrains Mono" pitchFamily="49" charset="-122"/>
                <a:cs typeface="JetBrains Mono" pitchFamily="49" charset="-120"/>
              </a:rPr>
              <a:t> contacto.html</a:t>
            </a:r>
            <a:endParaRPr lang="en-US" sz="1200" dirty="0"/>
          </a:p>
          <a:p>
            <a:pPr algn="l" indent="0" marL="0">
              <a:lnSpc>
                <a:spcPts val="1740"/>
              </a:lnSpc>
              <a:buNone/>
            </a:pPr>
            <a:r>
              <a:rPr lang="en-US" sz="1200" dirty="0">
                <a:solidFill>
                  <a:srgbClr val="E8E6E1"/>
                </a:solidFill>
                <a:latin typeface="JetBrains Mono" pitchFamily="49" charset="0"/>
                <a:ea typeface="JetBrains Mono" pitchFamily="49" charset="-122"/>
                <a:cs typeface="JetBrains Mono" pitchFamily="49" charset="-120"/>
              </a:rPr>
              <a:t>    </a:t>
            </a:r>
            <a:r>
              <a:rPr lang="en-US" sz="1200" dirty="0">
                <a:solidFill>
                  <a:srgbClr val="9AA3B8"/>
                </a:solidFill>
                <a:latin typeface="JetBrains Mono" pitchFamily="49" charset="0"/>
                <a:ea typeface="JetBrains Mono" pitchFamily="49" charset="-122"/>
                <a:cs typeface="JetBrains Mono" pitchFamily="49" charset="-120"/>
              </a:rPr>
              <a:t>└──</a:t>
            </a:r>
            <a:r>
              <a:rPr lang="en-US" sz="1200" dirty="0">
                <a:solidFill>
                  <a:srgbClr val="E8E6E1"/>
                </a:solidFill>
                <a:latin typeface="JetBrains Mono" pitchFamily="49" charset="0"/>
                <a:ea typeface="JetBrains Mono" pitchFamily="49" charset="-122"/>
                <a:cs typeface="JetBrains Mono" pitchFamily="49" charset="-120"/>
              </a:rPr>
              <a:t> gracias.html</a:t>
            </a:r>
            <a:endParaRPr lang="en-US" sz="1200" dirty="0"/>
          </a:p>
        </p:txBody>
      </p:sp>
      <p:sp>
        <p:nvSpPr>
          <p:cNvPr id="12" name="Shape 10"/>
          <p:cNvSpPr/>
          <p:nvPr/>
        </p:nvSpPr>
        <p:spPr>
          <a:xfrm>
            <a:off x="7978775" y="1938660"/>
            <a:ext cx="3397250" cy="2244090"/>
          </a:xfrm>
          <a:prstGeom prst="roundRect">
            <a:avLst>
              <a:gd name="adj" fmla="val 4386"/>
            </a:avLst>
          </a:prstGeom>
          <a:solidFill>
            <a:srgbClr val="FFFDF8"/>
          </a:solidFill>
          <a:ln w="6350">
            <a:solidFill>
              <a:srgbClr val="E4DFD3"/>
            </a:solidFill>
            <a:prstDash val="solid"/>
          </a:ln>
        </p:spPr>
      </p:sp>
      <p:sp>
        <p:nvSpPr>
          <p:cNvPr id="13" name="Text 11"/>
          <p:cNvSpPr/>
          <p:nvPr/>
        </p:nvSpPr>
        <p:spPr>
          <a:xfrm>
            <a:off x="8183880" y="2143770"/>
            <a:ext cx="284480" cy="299720"/>
          </a:xfrm>
          <a:prstGeom prst="roundRect">
            <a:avLst>
              <a:gd name="adj" fmla="val 17857"/>
            </a:avLst>
          </a:prstGeom>
          <a:solidFill>
            <a:srgbClr val="E8572A"/>
          </a:solidFill>
          <a:ln/>
        </p:spPr>
        <p:txBody>
          <a:bodyPr wrap="none" lIns="0" tIns="0" rIns="0" bIns="0" rtlCol="0" anchor="ctr">
            <a:normAutofit/>
          </a:bodyPr>
          <a:lstStyle/>
          <a:p>
            <a:pPr algn="ctr" indent="0" marL="0">
              <a:lnSpc>
                <a:spcPts val="1960"/>
              </a:lnSpc>
              <a:buNone/>
            </a:pPr>
            <a:r>
              <a:rPr lang="en-US" sz="1400" b="1" dirty="0">
                <a:solidFill>
                  <a:srgbClr val="14182B"/>
                </a:solidFill>
                <a:latin typeface="JetBrains Mono" pitchFamily="49" charset="0"/>
                <a:ea typeface="JetBrains Mono" pitchFamily="49" charset="-122"/>
                <a:cs typeface="JetBrains Mono" pitchFamily="49" charset="-120"/>
              </a:rPr>
              <a:t>3</a:t>
            </a:r>
            <a:endParaRPr lang="en-US" sz="1400" dirty="0"/>
          </a:p>
        </p:txBody>
      </p:sp>
      <p:sp>
        <p:nvSpPr>
          <p:cNvPr id="14" name="Text 12"/>
          <p:cNvSpPr/>
          <p:nvPr/>
        </p:nvSpPr>
        <p:spPr>
          <a:xfrm>
            <a:off x="8183880" y="2532385"/>
            <a:ext cx="307665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2B"/>
                </a:solidFill>
                <a:latin typeface="Space Grotesk" pitchFamily="34" charset="0"/>
                <a:ea typeface="Space Grotesk" pitchFamily="34" charset="-122"/>
                <a:cs typeface="Space Grotesk" pitchFamily="34" charset="-120"/>
              </a:rPr>
              <a:t>Boceto con landmarks</a:t>
            </a:r>
            <a:endParaRPr lang="en-US" sz="1600" dirty="0"/>
          </a:p>
        </p:txBody>
      </p:sp>
      <p:sp>
        <p:nvSpPr>
          <p:cNvPr id="15" name="Text 13"/>
          <p:cNvSpPr/>
          <p:nvPr/>
        </p:nvSpPr>
        <p:spPr>
          <a:xfrm>
            <a:off x="8183880" y="2865115"/>
            <a:ext cx="3076651"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045"/>
                </a:solidFill>
                <a:latin typeface="Space Grotesk" pitchFamily="34" charset="0"/>
                <a:ea typeface="Space Grotesk" pitchFamily="34" charset="-122"/>
                <a:cs typeface="Space Grotesk" pitchFamily="34" charset="-120"/>
              </a:rPr>
              <a:t>Dibuja cada página en papel y marca header, nav, main, section, article y footer.</a:t>
            </a:r>
            <a:endParaRPr lang="en-US" sz="1300" dirty="0"/>
          </a:p>
        </p:txBody>
      </p:sp>
      <p:sp>
        <p:nvSpPr>
          <p:cNvPr id="16" name="Shape 14"/>
          <p:cNvSpPr/>
          <p:nvPr/>
        </p:nvSpPr>
        <p:spPr>
          <a:xfrm>
            <a:off x="812800" y="4490715"/>
            <a:ext cx="10566400" cy="660400"/>
          </a:xfrm>
          <a:prstGeom prst="roundRect">
            <a:avLst>
              <a:gd name="adj" fmla="val 15385"/>
            </a:avLst>
          </a:prstGeom>
          <a:solidFill>
            <a:srgbClr val="14182B"/>
          </a:solidFill>
          <a:ln/>
        </p:spPr>
      </p:sp>
      <p:pic>
        <p:nvPicPr>
          <p:cNvPr id="17" name="Image 0" descr="Lightbulb">    </p:cNvPr>
          <p:cNvPicPr>
            <a:picLocks noChangeAspect="1"/>
          </p:cNvPicPr>
          <p:nvPr/>
        </p:nvPicPr>
        <p:blipFill>
          <a:blip r:embed="rId1"/>
          <a:srcRect l="0" r="0" t="0" b="0"/>
          <a:stretch/>
        </p:blipFill>
        <p:spPr>
          <a:xfrm>
            <a:off x="1041400" y="4668515"/>
            <a:ext cx="304800" cy="304800"/>
          </a:xfrm>
          <a:prstGeom prst="rect">
            <a:avLst/>
          </a:prstGeom>
        </p:spPr>
      </p:pic>
      <p:sp>
        <p:nvSpPr>
          <p:cNvPr id="18" name="Text 15"/>
          <p:cNvSpPr/>
          <p:nvPr/>
        </p:nvSpPr>
        <p:spPr>
          <a:xfrm>
            <a:off x="1498600" y="4696470"/>
            <a:ext cx="93206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5EF"/>
                </a:solidFill>
                <a:latin typeface="Space Grotesk" pitchFamily="34" charset="0"/>
                <a:ea typeface="Space Grotesk" pitchFamily="34" charset="-122"/>
                <a:cs typeface="Space Grotesk" pitchFamily="34" charset="-120"/>
              </a:rPr>
              <a:t>La ficha y el mapa van en tu README. Toma una foto del boceto y súbela a la carpeta docs.</a:t>
            </a:r>
            <a:endParaRPr lang="en-US" sz="1400" dirty="0"/>
          </a:p>
        </p:txBody>
      </p:sp>
      <p:sp>
        <p:nvSpPr>
          <p:cNvPr id="19" name="Text 16"/>
          <p:cNvSpPr/>
          <p:nvPr/>
        </p:nvSpPr>
        <p:spPr>
          <a:xfrm>
            <a:off x="812800" y="62382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7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418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A5C"/>
                </a:solidFill>
                <a:latin typeface="JetBrains Mono" pitchFamily="49" charset="0"/>
                <a:ea typeface="JetBrains Mono" pitchFamily="49" charset="-122"/>
                <a:cs typeface="JetBrains Mono" pitchFamily="49" charset="-120"/>
              </a:rPr>
              <a:t>RETO DE LA SESIÓN</a:t>
            </a:r>
            <a:endParaRPr lang="en-US" sz="1200" dirty="0"/>
          </a:p>
        </p:txBody>
      </p:sp>
      <p:sp>
        <p:nvSpPr>
          <p:cNvPr id="3" name="Text 1"/>
          <p:cNvSpPr/>
          <p:nvPr>
            <p:ph type="title"/>
          </p:nvPr>
        </p:nvSpPr>
        <p:spPr>
          <a:xfrm>
            <a:off x="812800" y="112777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7F5EF"/>
                </a:solidFill>
                <a:latin typeface="Space Grotesk" pitchFamily="34" charset="0"/>
                <a:ea typeface="Space Grotesk" pitchFamily="34" charset="-122"/>
                <a:cs typeface="Space Grotesk" pitchFamily="34" charset="-120"/>
              </a:rPr>
              <a:t>Arranca tu proyecto modular</a:t>
            </a:r>
            <a:endParaRPr lang="en-US" sz="3600" dirty="0"/>
          </a:p>
        </p:txBody>
      </p:sp>
      <p:sp>
        <p:nvSpPr>
          <p:cNvPr id="4" name="Text 2"/>
          <p:cNvSpPr/>
          <p:nvPr/>
        </p:nvSpPr>
        <p:spPr>
          <a:xfrm>
            <a:off x="812800" y="1859285"/>
            <a:ext cx="309880" cy="238760"/>
          </a:xfrm>
          <a:prstGeom prst="roundRect">
            <a:avLst>
              <a:gd name="adj" fmla="val 21277"/>
            </a:avLst>
          </a:prstGeom>
          <a:solidFill>
            <a:srgbClr val="FF8A5C"/>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01</a:t>
            </a:r>
            <a:endParaRPr lang="en-US" sz="1200" dirty="0"/>
          </a:p>
        </p:txBody>
      </p:sp>
      <p:sp>
        <p:nvSpPr>
          <p:cNvPr id="5" name="Text 3"/>
          <p:cNvSpPr/>
          <p:nvPr/>
        </p:nvSpPr>
        <p:spPr>
          <a:xfrm>
            <a:off x="1224280" y="1859285"/>
            <a:ext cx="4860900"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1E3EC"/>
                </a:solidFill>
                <a:latin typeface="Space Grotesk" pitchFamily="34" charset="0"/>
                <a:ea typeface="Space Grotesk" pitchFamily="34" charset="-122"/>
                <a:cs typeface="Space Grotesk" pitchFamily="34" charset="-120"/>
              </a:rPr>
              <a:t>Repositorio público nuevo con el nombre de tu negocio.</a:t>
            </a:r>
            <a:endParaRPr lang="en-US" sz="1300" dirty="0"/>
          </a:p>
        </p:txBody>
      </p:sp>
      <p:sp>
        <p:nvSpPr>
          <p:cNvPr id="6" name="Text 4"/>
          <p:cNvSpPr/>
          <p:nvPr/>
        </p:nvSpPr>
        <p:spPr>
          <a:xfrm>
            <a:off x="6248400" y="1859285"/>
            <a:ext cx="309880" cy="238760"/>
          </a:xfrm>
          <a:prstGeom prst="roundRect">
            <a:avLst>
              <a:gd name="adj" fmla="val 21277"/>
            </a:avLst>
          </a:prstGeom>
          <a:solidFill>
            <a:srgbClr val="FF8A5C"/>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06</a:t>
            </a:r>
            <a:endParaRPr lang="en-US" sz="1200" dirty="0"/>
          </a:p>
        </p:txBody>
      </p:sp>
      <p:sp>
        <p:nvSpPr>
          <p:cNvPr id="7" name="Text 5"/>
          <p:cNvSpPr/>
          <p:nvPr/>
        </p:nvSpPr>
        <p:spPr>
          <a:xfrm>
            <a:off x="6659880" y="1859285"/>
            <a:ext cx="486090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1E3EC"/>
                </a:solidFill>
                <a:latin typeface="Space Grotesk" pitchFamily="34" charset="0"/>
                <a:ea typeface="Space Grotesk" pitchFamily="34" charset="-122"/>
                <a:cs typeface="Space Grotesk" pitchFamily="34" charset="-120"/>
              </a:rPr>
              <a:t>Servicios o productos como article, cada uno con su imagen y alt.</a:t>
            </a:r>
            <a:endParaRPr lang="en-US" sz="1300" dirty="0"/>
          </a:p>
        </p:txBody>
      </p:sp>
      <p:sp>
        <p:nvSpPr>
          <p:cNvPr id="8" name="Text 6"/>
          <p:cNvSpPr/>
          <p:nvPr/>
        </p:nvSpPr>
        <p:spPr>
          <a:xfrm>
            <a:off x="812800" y="2419350"/>
            <a:ext cx="309880" cy="238760"/>
          </a:xfrm>
          <a:prstGeom prst="roundRect">
            <a:avLst>
              <a:gd name="adj" fmla="val 21277"/>
            </a:avLst>
          </a:prstGeom>
          <a:solidFill>
            <a:srgbClr val="FF8A5C"/>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02</a:t>
            </a:r>
            <a:endParaRPr lang="en-US" sz="1200" dirty="0"/>
          </a:p>
        </p:txBody>
      </p:sp>
      <p:sp>
        <p:nvSpPr>
          <p:cNvPr id="9" name="Text 7"/>
          <p:cNvSpPr/>
          <p:nvPr/>
        </p:nvSpPr>
        <p:spPr>
          <a:xfrm>
            <a:off x="1224280" y="2419350"/>
            <a:ext cx="5024120"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1E3EC"/>
                </a:solidFill>
                <a:latin typeface="Space Grotesk" pitchFamily="34" charset="0"/>
                <a:ea typeface="Space Grotesk" pitchFamily="34" charset="-122"/>
                <a:cs typeface="Space Grotesk" pitchFamily="34" charset="-120"/>
              </a:rPr>
              <a:t>README con la ficha del negocio, el mapa del sitio y la URL.</a:t>
            </a:r>
            <a:endParaRPr lang="en-US" sz="1300" dirty="0"/>
          </a:p>
        </p:txBody>
      </p:sp>
      <p:sp>
        <p:nvSpPr>
          <p:cNvPr id="10" name="Text 8"/>
          <p:cNvSpPr/>
          <p:nvPr/>
        </p:nvSpPr>
        <p:spPr>
          <a:xfrm>
            <a:off x="6248400" y="2419350"/>
            <a:ext cx="309880" cy="238760"/>
          </a:xfrm>
          <a:prstGeom prst="roundRect">
            <a:avLst>
              <a:gd name="adj" fmla="val 21277"/>
            </a:avLst>
          </a:prstGeom>
          <a:solidFill>
            <a:srgbClr val="FF8A5C"/>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07</a:t>
            </a:r>
            <a:endParaRPr lang="en-US" sz="1200" dirty="0"/>
          </a:p>
        </p:txBody>
      </p:sp>
      <p:sp>
        <p:nvSpPr>
          <p:cNvPr id="11" name="Text 9"/>
          <p:cNvSpPr/>
          <p:nvPr/>
        </p:nvSpPr>
        <p:spPr>
          <a:xfrm>
            <a:off x="6659880" y="2419350"/>
            <a:ext cx="486090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1E3EC"/>
                </a:solidFill>
                <a:latin typeface="Space Grotesk" pitchFamily="34" charset="0"/>
                <a:ea typeface="Space Grotesk" pitchFamily="34" charset="-122"/>
                <a:cs typeface="Space Grotesk" pitchFamily="34" charset="-120"/>
              </a:rPr>
              <a:t>Formulario de contacto: 6 campos o más, de al menos 4 tipos, con label y validación.</a:t>
            </a:r>
            <a:endParaRPr lang="en-US" sz="1300" dirty="0"/>
          </a:p>
        </p:txBody>
      </p:sp>
      <p:sp>
        <p:nvSpPr>
          <p:cNvPr id="12" name="Text 10"/>
          <p:cNvSpPr/>
          <p:nvPr/>
        </p:nvSpPr>
        <p:spPr>
          <a:xfrm>
            <a:off x="812800" y="2979415"/>
            <a:ext cx="309880" cy="238760"/>
          </a:xfrm>
          <a:prstGeom prst="roundRect">
            <a:avLst>
              <a:gd name="adj" fmla="val 21277"/>
            </a:avLst>
          </a:prstGeom>
          <a:solidFill>
            <a:srgbClr val="FF8A5C"/>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03</a:t>
            </a:r>
            <a:endParaRPr lang="en-US" sz="1200" dirty="0"/>
          </a:p>
        </p:txBody>
      </p:sp>
      <p:sp>
        <p:nvSpPr>
          <p:cNvPr id="13" name="Text 11"/>
          <p:cNvSpPr/>
          <p:nvPr/>
        </p:nvSpPr>
        <p:spPr>
          <a:xfrm>
            <a:off x="1224280" y="2979415"/>
            <a:ext cx="486090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1E3EC"/>
                </a:solidFill>
                <a:latin typeface="Space Grotesk" pitchFamily="34" charset="0"/>
                <a:ea typeface="Space Grotesk" pitchFamily="34" charset="-122"/>
                <a:cs typeface="Space Grotesk" pitchFamily="34" charset="-120"/>
              </a:rPr>
              <a:t>index.html, servicios.html (o catalogo.html), contacto.html y gracias.html.</a:t>
            </a:r>
            <a:endParaRPr lang="en-US" sz="1300" dirty="0"/>
          </a:p>
        </p:txBody>
      </p:sp>
      <p:sp>
        <p:nvSpPr>
          <p:cNvPr id="14" name="Text 12"/>
          <p:cNvSpPr/>
          <p:nvPr/>
        </p:nvSpPr>
        <p:spPr>
          <a:xfrm>
            <a:off x="6248400" y="2979415"/>
            <a:ext cx="309880" cy="238760"/>
          </a:xfrm>
          <a:prstGeom prst="roundRect">
            <a:avLst>
              <a:gd name="adj" fmla="val 21277"/>
            </a:avLst>
          </a:prstGeom>
          <a:solidFill>
            <a:srgbClr val="FF8A5C"/>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08</a:t>
            </a:r>
            <a:endParaRPr lang="en-US" sz="1200" dirty="0"/>
          </a:p>
        </p:txBody>
      </p:sp>
      <p:sp>
        <p:nvSpPr>
          <p:cNvPr id="15" name="Text 13"/>
          <p:cNvSpPr/>
          <p:nvPr/>
        </p:nvSpPr>
        <p:spPr>
          <a:xfrm>
            <a:off x="6659880" y="2979415"/>
            <a:ext cx="486090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1E3EC"/>
                </a:solidFill>
                <a:latin typeface="Space Grotesk" pitchFamily="34" charset="0"/>
                <a:ea typeface="Space Grotesk" pitchFamily="34" charset="-122"/>
                <a:cs typeface="Space Grotesk" pitchFamily="34" charset="-120"/>
              </a:rPr>
              <a:t>Autorización de datos obligatoria y envío por GET a gracias.html.</a:t>
            </a:r>
            <a:endParaRPr lang="en-US" sz="1300" dirty="0"/>
          </a:p>
        </p:txBody>
      </p:sp>
      <p:sp>
        <p:nvSpPr>
          <p:cNvPr id="16" name="Text 14"/>
          <p:cNvSpPr/>
          <p:nvPr/>
        </p:nvSpPr>
        <p:spPr>
          <a:xfrm>
            <a:off x="812800" y="3539505"/>
            <a:ext cx="309880" cy="238760"/>
          </a:xfrm>
          <a:prstGeom prst="roundRect">
            <a:avLst>
              <a:gd name="adj" fmla="val 21277"/>
            </a:avLst>
          </a:prstGeom>
          <a:solidFill>
            <a:srgbClr val="FF8A5C"/>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04</a:t>
            </a:r>
            <a:endParaRPr lang="en-US" sz="1200" dirty="0"/>
          </a:p>
        </p:txBody>
      </p:sp>
      <p:sp>
        <p:nvSpPr>
          <p:cNvPr id="17" name="Text 15"/>
          <p:cNvSpPr/>
          <p:nvPr/>
        </p:nvSpPr>
        <p:spPr>
          <a:xfrm>
            <a:off x="1224280" y="3539505"/>
            <a:ext cx="486090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1E3EC"/>
                </a:solidFill>
                <a:latin typeface="Space Grotesk" pitchFamily="34" charset="0"/>
                <a:ea typeface="Space Grotesk" pitchFamily="34" charset="-122"/>
                <a:cs typeface="Space Grotesk" pitchFamily="34" charset="-120"/>
              </a:rPr>
              <a:t>Plantilla común: saltar al contenido, header, nav con aria-current, main y footer.</a:t>
            </a:r>
            <a:endParaRPr lang="en-US" sz="1300" dirty="0"/>
          </a:p>
        </p:txBody>
      </p:sp>
      <p:sp>
        <p:nvSpPr>
          <p:cNvPr id="18" name="Text 16"/>
          <p:cNvSpPr/>
          <p:nvPr/>
        </p:nvSpPr>
        <p:spPr>
          <a:xfrm>
            <a:off x="6248400" y="3539505"/>
            <a:ext cx="309880" cy="238760"/>
          </a:xfrm>
          <a:prstGeom prst="roundRect">
            <a:avLst>
              <a:gd name="adj" fmla="val 21277"/>
            </a:avLst>
          </a:prstGeom>
          <a:solidFill>
            <a:srgbClr val="FF8A5C"/>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09</a:t>
            </a:r>
            <a:endParaRPr lang="en-US" sz="1200" dirty="0"/>
          </a:p>
        </p:txBody>
      </p:sp>
      <p:sp>
        <p:nvSpPr>
          <p:cNvPr id="19" name="Text 17"/>
          <p:cNvSpPr/>
          <p:nvPr/>
        </p:nvSpPr>
        <p:spPr>
          <a:xfrm>
            <a:off x="6659880" y="3539505"/>
            <a:ext cx="486090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1E3EC"/>
                </a:solidFill>
                <a:latin typeface="Space Grotesk" pitchFamily="34" charset="0"/>
                <a:ea typeface="Space Grotesk" pitchFamily="34" charset="-122"/>
                <a:cs typeface="Space Grotesk" pitchFamily="34" charset="-120"/>
              </a:rPr>
              <a:t>0 errores en el validador y Lighthouse de accesibilidad de 90 o más.</a:t>
            </a:r>
            <a:endParaRPr lang="en-US" sz="1300" dirty="0"/>
          </a:p>
        </p:txBody>
      </p:sp>
      <p:sp>
        <p:nvSpPr>
          <p:cNvPr id="20" name="Text 18"/>
          <p:cNvSpPr/>
          <p:nvPr/>
        </p:nvSpPr>
        <p:spPr>
          <a:xfrm>
            <a:off x="812800" y="4099570"/>
            <a:ext cx="309880" cy="238760"/>
          </a:xfrm>
          <a:prstGeom prst="roundRect">
            <a:avLst>
              <a:gd name="adj" fmla="val 21277"/>
            </a:avLst>
          </a:prstGeom>
          <a:solidFill>
            <a:srgbClr val="FF8A5C"/>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05</a:t>
            </a:r>
            <a:endParaRPr lang="en-US" sz="1200" dirty="0"/>
          </a:p>
        </p:txBody>
      </p:sp>
      <p:sp>
        <p:nvSpPr>
          <p:cNvPr id="21" name="Text 19"/>
          <p:cNvSpPr/>
          <p:nvPr/>
        </p:nvSpPr>
        <p:spPr>
          <a:xfrm>
            <a:off x="1224280" y="4099570"/>
            <a:ext cx="486090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1E3EC"/>
                </a:solidFill>
                <a:latin typeface="Space Grotesk" pitchFamily="34" charset="0"/>
                <a:ea typeface="Space Grotesk" pitchFamily="34" charset="-122"/>
                <a:cs typeface="Space Grotesk" pitchFamily="34" charset="-120"/>
              </a:rPr>
              <a:t>title y meta description propios, un solo h1 y encabezados sin saltos.</a:t>
            </a:r>
            <a:endParaRPr lang="en-US" sz="1300" dirty="0"/>
          </a:p>
        </p:txBody>
      </p:sp>
      <p:sp>
        <p:nvSpPr>
          <p:cNvPr id="22" name="Text 20"/>
          <p:cNvSpPr/>
          <p:nvPr/>
        </p:nvSpPr>
        <p:spPr>
          <a:xfrm>
            <a:off x="6248400" y="4099570"/>
            <a:ext cx="309880" cy="238760"/>
          </a:xfrm>
          <a:prstGeom prst="roundRect">
            <a:avLst>
              <a:gd name="adj" fmla="val 21277"/>
            </a:avLst>
          </a:prstGeom>
          <a:solidFill>
            <a:srgbClr val="FF8A5C"/>
          </a:solidFill>
          <a:ln/>
        </p:spPr>
        <p:txBody>
          <a:bodyPr wrap="none" lIns="0" tIns="0" rIns="0" bIns="0" rtlCol="0" anchor="ctr">
            <a:normAutofit/>
          </a:bodyPr>
          <a:lstStyle/>
          <a:p>
            <a:pPr algn="ctr" indent="0" marL="0">
              <a:lnSpc>
                <a:spcPts val="1680"/>
              </a:lnSpc>
              <a:buNone/>
            </a:pPr>
            <a:r>
              <a:rPr lang="en-US" sz="1200" b="1" dirty="0">
                <a:solidFill>
                  <a:srgbClr val="14182B"/>
                </a:solidFill>
                <a:latin typeface="JetBrains Mono" pitchFamily="49" charset="0"/>
                <a:ea typeface="JetBrains Mono" pitchFamily="49" charset="-122"/>
                <a:cs typeface="JetBrains Mono" pitchFamily="49" charset="-120"/>
              </a:rPr>
              <a:t>10</a:t>
            </a:r>
            <a:endParaRPr lang="en-US" sz="1200" dirty="0"/>
          </a:p>
        </p:txBody>
      </p:sp>
      <p:sp>
        <p:nvSpPr>
          <p:cNvPr id="23" name="Text 21"/>
          <p:cNvSpPr/>
          <p:nvPr/>
        </p:nvSpPr>
        <p:spPr>
          <a:xfrm>
            <a:off x="6659880" y="4099570"/>
            <a:ext cx="486090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1E3EC"/>
                </a:solidFill>
                <a:latin typeface="Space Grotesk" pitchFamily="34" charset="0"/>
                <a:ea typeface="Space Grotesk" pitchFamily="34" charset="-122"/>
                <a:cs typeface="Space Grotesk" pitchFamily="34" charset="-120"/>
              </a:rPr>
              <a:t>Publicado en GitHub Pages. Todavía sin CSS: llega en la sesión 3.</a:t>
            </a:r>
            <a:endParaRPr lang="en-US" sz="1300" dirty="0"/>
          </a:p>
        </p:txBody>
      </p:sp>
      <p:sp>
        <p:nvSpPr>
          <p:cNvPr id="24" name="Shape 22"/>
          <p:cNvSpPr/>
          <p:nvPr/>
        </p:nvSpPr>
        <p:spPr>
          <a:xfrm>
            <a:off x="812800" y="4773935"/>
            <a:ext cx="10566400" cy="457200"/>
          </a:xfrm>
          <a:prstGeom prst="roundRect">
            <a:avLst>
              <a:gd name="adj" fmla="val 16667"/>
            </a:avLst>
          </a:prstGeom>
          <a:solidFill>
            <a:srgbClr val="1E2340"/>
          </a:solidFill>
          <a:ln/>
        </p:spPr>
      </p:sp>
      <p:pic>
        <p:nvPicPr>
          <p:cNvPr id="25" name="Image 0" descr="Book">    </p:cNvPr>
          <p:cNvPicPr>
            <a:picLocks noChangeAspect="1"/>
          </p:cNvPicPr>
          <p:nvPr/>
        </p:nvPicPr>
        <p:blipFill>
          <a:blip r:embed="rId1"/>
          <a:srcRect l="0" r="0" t="0" b="0"/>
          <a:stretch/>
        </p:blipFill>
        <p:spPr>
          <a:xfrm>
            <a:off x="965200" y="4888235"/>
            <a:ext cx="228600" cy="228600"/>
          </a:xfrm>
          <a:prstGeom prst="rect">
            <a:avLst/>
          </a:prstGeom>
        </p:spPr>
      </p:pic>
      <p:sp>
        <p:nvSpPr>
          <p:cNvPr id="26" name="Text 23"/>
          <p:cNvSpPr/>
          <p:nvPr/>
        </p:nvSpPr>
        <p:spPr>
          <a:xfrm>
            <a:off x="1308100" y="4891088"/>
            <a:ext cx="7682484"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1E3EC"/>
                </a:solidFill>
                <a:latin typeface="Space Grotesk" pitchFamily="34" charset="0"/>
                <a:ea typeface="Space Grotesk" pitchFamily="34" charset="-122"/>
                <a:cs typeface="Space Grotesk" pitchFamily="34" charset="-120"/>
              </a:rPr>
              <a:t>Lo que no termines en clase queda como trabajo autónomo antes de la sesión 3.</a:t>
            </a:r>
            <a:endParaRPr lang="en-US" sz="1300" dirty="0"/>
          </a:p>
        </p:txBody>
      </p:sp>
      <p:sp>
        <p:nvSpPr>
          <p:cNvPr id="27" name="Text 24"/>
          <p:cNvSpPr/>
          <p:nvPr/>
        </p:nvSpPr>
        <p:spPr>
          <a:xfrm>
            <a:off x="812800" y="62382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B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18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A5C"/>
                </a:solidFill>
                <a:latin typeface="JetBrains Mono" pitchFamily="49" charset="0"/>
                <a:ea typeface="JetBrains Mono" pitchFamily="49" charset="-122"/>
                <a:cs typeface="JetBrains Mono" pitchFamily="49" charset="-120"/>
              </a:rPr>
              <a:t>CIERRE</a:t>
            </a:r>
            <a:endParaRPr lang="en-US" sz="1200" dirty="0"/>
          </a:p>
        </p:txBody>
      </p:sp>
      <p:sp>
        <p:nvSpPr>
          <p:cNvPr id="3" name="Text 1"/>
          <p:cNvSpPr/>
          <p:nvPr>
            <p:ph type="title"/>
          </p:nvPr>
        </p:nvSpPr>
        <p:spPr>
          <a:xfrm>
            <a:off x="812800" y="112777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7F5EF"/>
                </a:solidFill>
                <a:latin typeface="Space Grotesk" pitchFamily="34" charset="0"/>
                <a:ea typeface="Space Grotesk" pitchFamily="34" charset="-122"/>
                <a:cs typeface="Space Grotesk" pitchFamily="34" charset="-120"/>
              </a:rPr>
              <a:t>Antes de irte</a:t>
            </a:r>
            <a:endParaRPr lang="en-US" sz="3600" dirty="0"/>
          </a:p>
        </p:txBody>
      </p:sp>
      <p:sp>
        <p:nvSpPr>
          <p:cNvPr id="4" name="Shape 2"/>
          <p:cNvSpPr/>
          <p:nvPr/>
        </p:nvSpPr>
        <p:spPr>
          <a:xfrm>
            <a:off x="812800" y="1935485"/>
            <a:ext cx="5715000" cy="2468880"/>
          </a:xfrm>
          <a:prstGeom prst="roundRect">
            <a:avLst>
              <a:gd name="adj" fmla="val 4115"/>
            </a:avLst>
          </a:prstGeom>
          <a:solidFill>
            <a:srgbClr val="1E2340"/>
          </a:solidFill>
          <a:ln/>
        </p:spPr>
      </p:sp>
      <p:pic>
        <p:nvPicPr>
          <p:cNvPr id="5" name="Image 0" descr="Chat">    </p:cNvPr>
          <p:cNvPicPr>
            <a:picLocks noChangeAspect="1"/>
          </p:cNvPicPr>
          <p:nvPr/>
        </p:nvPicPr>
        <p:blipFill>
          <a:blip r:embed="rId1"/>
          <a:srcRect l="0" r="0" t="0" b="0"/>
          <a:stretch/>
        </p:blipFill>
        <p:spPr>
          <a:xfrm>
            <a:off x="1066800" y="2189485"/>
            <a:ext cx="279400" cy="279400"/>
          </a:xfrm>
          <a:prstGeom prst="rect">
            <a:avLst/>
          </a:prstGeom>
        </p:spPr>
      </p:pic>
      <p:sp>
        <p:nvSpPr>
          <p:cNvPr id="6" name="Text 3"/>
          <p:cNvSpPr/>
          <p:nvPr/>
        </p:nvSpPr>
        <p:spPr>
          <a:xfrm>
            <a:off x="1447800" y="2207270"/>
            <a:ext cx="184051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EF"/>
                </a:solidFill>
                <a:latin typeface="Space Grotesk" pitchFamily="34" charset="0"/>
                <a:ea typeface="Space Grotesk" pitchFamily="34" charset="-122"/>
                <a:cs typeface="Space Grotesk" pitchFamily="34" charset="-120"/>
              </a:rPr>
              <a:t>Ticket de salida</a:t>
            </a:r>
            <a:endParaRPr lang="en-US" sz="1600" dirty="0"/>
          </a:p>
        </p:txBody>
      </p:sp>
      <p:sp>
        <p:nvSpPr>
          <p:cNvPr id="7" name="Text 4"/>
          <p:cNvSpPr/>
          <p:nvPr/>
        </p:nvSpPr>
        <p:spPr>
          <a:xfrm>
            <a:off x="1125696" y="2595885"/>
            <a:ext cx="5296694" cy="1403350"/>
          </a:xfrm>
          <a:prstGeom prst="rect">
            <a:avLst/>
          </a:prstGeom>
          <a:noFill/>
          <a:ln/>
        </p:spPr>
        <p:txBody>
          <a:bodyPr wrap="square" lIns="0" tIns="0" rIns="0" bIns="0" rtlCol="0" anchor="t">
            <a:normAutofit/>
          </a:bodyPr>
          <a:lstStyle/>
          <a:p>
            <a:pPr algn="l" marL="195104" indent="-195104">
              <a:lnSpc>
                <a:spcPts val="2170"/>
              </a:lnSpc>
              <a:buSzPct val="100000"/>
              <a:buFontTx/>
              <a:buAutoNum type="arabicPeriod" startAt="1"/>
            </a:pPr>
            <a:r>
              <a:rPr lang="en-US" sz="1400" dirty="0">
                <a:solidFill>
                  <a:srgbClr val="E1E3EC"/>
                </a:solidFill>
                <a:latin typeface="Space Grotesk" pitchFamily="34" charset="0"/>
                <a:ea typeface="Space Grotesk" pitchFamily="34" charset="-122"/>
                <a:cs typeface="Space Grotesk" pitchFamily="34" charset="-120"/>
              </a:rPr>
              <a:t>¿Cuándo usarías article y cuándo section?</a:t>
            </a:r>
            <a:endParaRPr lang="en-US" sz="1400" dirty="0"/>
          </a:p>
          <a:p>
            <a:pPr algn="l" marL="195104" indent="-195104">
              <a:lnSpc>
                <a:spcPts val="2170"/>
              </a:lnSpc>
              <a:buSzPct val="100000"/>
              <a:buFontTx/>
              <a:buAutoNum type="arabicPeriod" startAt="1"/>
            </a:pPr>
            <a:r>
              <a:rPr lang="en-US" sz="1400" dirty="0">
                <a:solidFill>
                  <a:srgbClr val="E1E3EC"/>
                </a:solidFill>
                <a:latin typeface="Space Grotesk" pitchFamily="34" charset="0"/>
                <a:ea typeface="Space Grotesk" pitchFamily="34" charset="-122"/>
                <a:cs typeface="Space Grotesk" pitchFamily="34" charset="-120"/>
              </a:rPr>
              <a:t>Nombra dos barreras de accesibilidad que Lighthouse no detecta.</a:t>
            </a:r>
            <a:endParaRPr lang="en-US" sz="1400" dirty="0"/>
          </a:p>
          <a:p>
            <a:pPr algn="l" marL="195104" indent="-195104">
              <a:lnSpc>
                <a:spcPts val="2170"/>
              </a:lnSpc>
              <a:buSzPct val="100000"/>
              <a:buFontTx/>
              <a:buAutoNum type="arabicPeriod" startAt="1"/>
            </a:pPr>
            <a:r>
              <a:rPr lang="en-US" sz="1400" dirty="0">
                <a:solidFill>
                  <a:srgbClr val="E1E3EC"/>
                </a:solidFill>
                <a:latin typeface="Space Grotesk" pitchFamily="34" charset="0"/>
                <a:ea typeface="Space Grotesk" pitchFamily="34" charset="-122"/>
                <a:cs typeface="Space Grotesk" pitchFamily="34" charset="-120"/>
              </a:rPr>
              <a:t>¿Por qué la validación del navegador no reemplaza la del servidor?</a:t>
            </a:r>
            <a:endParaRPr lang="en-US" sz="1400" dirty="0"/>
          </a:p>
        </p:txBody>
      </p:sp>
      <p:sp>
        <p:nvSpPr>
          <p:cNvPr id="8" name="Shape 5"/>
          <p:cNvSpPr/>
          <p:nvPr/>
        </p:nvSpPr>
        <p:spPr>
          <a:xfrm>
            <a:off x="6832600" y="1935485"/>
            <a:ext cx="4546600" cy="1145540"/>
          </a:xfrm>
          <a:prstGeom prst="roundRect">
            <a:avLst>
              <a:gd name="adj" fmla="val 8869"/>
            </a:avLst>
          </a:prstGeom>
          <a:solidFill>
            <a:srgbClr val="F7F5EF"/>
          </a:solidFill>
          <a:ln/>
        </p:spPr>
      </p:sp>
      <p:sp>
        <p:nvSpPr>
          <p:cNvPr id="9" name="Text 6"/>
          <p:cNvSpPr/>
          <p:nvPr/>
        </p:nvSpPr>
        <p:spPr>
          <a:xfrm>
            <a:off x="7035800" y="2138685"/>
            <a:ext cx="4264406"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PRÓXIMA SESIÓN</a:t>
            </a:r>
            <a:endParaRPr lang="en-US" sz="1200" dirty="0"/>
          </a:p>
        </p:txBody>
      </p:sp>
      <p:sp>
        <p:nvSpPr>
          <p:cNvPr id="10" name="Text 7"/>
          <p:cNvSpPr/>
          <p:nvPr/>
        </p:nvSpPr>
        <p:spPr>
          <a:xfrm>
            <a:off x="7035800" y="2415555"/>
            <a:ext cx="4264406"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82B"/>
                </a:solidFill>
                <a:latin typeface="Space Grotesk" pitchFamily="34" charset="0"/>
                <a:ea typeface="Space Grotesk" pitchFamily="34" charset="-122"/>
                <a:cs typeface="Space Grotesk" pitchFamily="34" charset="-120"/>
              </a:rPr>
              <a:t>Fundamentos de CSS y box model.</a:t>
            </a:r>
            <a:r>
              <a:rPr lang="en-US" sz="1300" dirty="0">
                <a:solidFill>
                  <a:srgbClr val="14182B"/>
                </a:solidFill>
                <a:latin typeface="Space Grotesk" pitchFamily="34" charset="0"/>
                <a:ea typeface="Space Grotesk" pitchFamily="34" charset="-122"/>
                <a:cs typeface="Space Grotesk" pitchFamily="34" charset="-120"/>
              </a:rPr>
              <a:t> Tu proyecto recibe su hoja de estilos.</a:t>
            </a:r>
            <a:endParaRPr lang="en-US" sz="1300" dirty="0"/>
          </a:p>
        </p:txBody>
      </p:sp>
      <p:sp>
        <p:nvSpPr>
          <p:cNvPr id="11" name="Shape 8"/>
          <p:cNvSpPr/>
          <p:nvPr/>
        </p:nvSpPr>
        <p:spPr>
          <a:xfrm>
            <a:off x="6832600" y="3258815"/>
            <a:ext cx="4546600" cy="1145540"/>
          </a:xfrm>
          <a:prstGeom prst="roundRect">
            <a:avLst>
              <a:gd name="adj" fmla="val 8869"/>
            </a:avLst>
          </a:prstGeom>
          <a:solidFill>
            <a:srgbClr val="E8572A"/>
          </a:solidFill>
          <a:ln/>
        </p:spPr>
      </p:sp>
      <p:sp>
        <p:nvSpPr>
          <p:cNvPr id="12" name="Text 9"/>
          <p:cNvSpPr/>
          <p:nvPr/>
        </p:nvSpPr>
        <p:spPr>
          <a:xfrm>
            <a:off x="7035800" y="3462015"/>
            <a:ext cx="426440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182B"/>
                </a:solidFill>
                <a:latin typeface="JetBrains Mono" pitchFamily="49" charset="0"/>
                <a:ea typeface="JetBrains Mono" pitchFamily="49" charset="-122"/>
                <a:cs typeface="JetBrains Mono" pitchFamily="49" charset="-120"/>
              </a:rPr>
              <a:t>TRABAJO AUTÓNOMO</a:t>
            </a:r>
            <a:endParaRPr lang="en-US" sz="1200" dirty="0"/>
          </a:p>
        </p:txBody>
      </p:sp>
      <p:sp>
        <p:nvSpPr>
          <p:cNvPr id="13" name="Text 10"/>
          <p:cNvSpPr/>
          <p:nvPr/>
        </p:nvSpPr>
        <p:spPr>
          <a:xfrm>
            <a:off x="7035800" y="3738885"/>
            <a:ext cx="426440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82B"/>
                </a:solidFill>
                <a:latin typeface="Space Grotesk" pitchFamily="34" charset="0"/>
                <a:ea typeface="Space Grotesk" pitchFamily="34" charset="-122"/>
                <a:cs typeface="Space Grotesk" pitchFamily="34" charset="-120"/>
              </a:rPr>
              <a:t>Termina la estructura de tu proyecto, valídala y publícala. Trae la URL.</a:t>
            </a:r>
            <a:endParaRPr lang="en-US" sz="1300" dirty="0"/>
          </a:p>
        </p:txBody>
      </p:sp>
      <p:sp>
        <p:nvSpPr>
          <p:cNvPr id="14" name="Text 11"/>
          <p:cNvSpPr/>
          <p:nvPr/>
        </p:nvSpPr>
        <p:spPr>
          <a:xfrm>
            <a:off x="812800" y="62382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B5"/>
                </a:solidFill>
                <a:latin typeface="JetBrains Mono" pitchFamily="49" charset="0"/>
                <a:ea typeface="JetBrains Mono" pitchFamily="49" charset="-122"/>
                <a:cs typeface="JetBrains Mono" pitchFamily="49" charset="-120"/>
              </a:rPr>
              <a:t>Módulo 1 · HTML y CSS — Sesión 2</a:t>
            </a:r>
            <a:endParaRPr lang="en-US" sz="1200" dirty="0"/>
          </a:p>
        </p:txBody>
      </p:sp>
    </p:spTree>
  </p:cSld>
  <p:clrMapOvr>
    <a:masterClrMapping/>
  </p:clrMapOvr>
</p:sld>
</file>

<file path=ppt/theme/theme1.xml><?xml version="1.0" encoding="utf-8"?>
<a:theme xmlns:a="http://schemas.openxmlformats.org/drawingml/2006/main" name="HTML y CSS · Sesión 2">
  <a:themeElements>
    <a:clrScheme name="HTML y CSS · Sesión 2">
      <a:dk1>
        <a:srgbClr val="14182B"/>
      </a:dk1>
      <a:lt1>
        <a:srgbClr val="F7F5EF"/>
      </a:lt1>
      <a:dk2>
        <a:srgbClr val="4D4F5C"/>
      </a:dk2>
      <a:lt2>
        <a:srgbClr val="E0DFDB"/>
      </a:lt2>
      <a:accent1>
        <a:srgbClr val="C2410C"/>
      </a:accent1>
      <a:accent2>
        <a:srgbClr val="FF8A5C"/>
      </a:accent2>
      <a:accent3>
        <a:srgbClr val="E8572A"/>
      </a:accent3>
      <a:accent4>
        <a:srgbClr val="F2D27A"/>
      </a:accent4>
      <a:accent5>
        <a:srgbClr val="2B3045"/>
      </a:accent5>
      <a:accent6>
        <a:srgbClr val="5F6475"/>
      </a:accent6>
      <a:hlink>
        <a:srgbClr val="0563C1"/>
      </a:hlink>
      <a:folHlink>
        <a:srgbClr val="954F72"/>
      </a:folHlink>
    </a:clrScheme>
    <a:fontScheme name="HTML y CSS · Sesión 2">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y CSS · Sesión 2</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2026-10-22T00:52:43Z</dcterms:created>
  <dcterms:modified xsi:type="dcterms:W3CDTF">2026-10-22T00:52:43Z</dcterms:modified>
</cp:coreProperties>
</file>